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79" r:id="rId5"/>
    <p:sldId id="256" r:id="rId6"/>
    <p:sldId id="278" r:id="rId7"/>
    <p:sldId id="260" r:id="rId8"/>
    <p:sldId id="259" r:id="rId9"/>
    <p:sldId id="275" r:id="rId10"/>
    <p:sldId id="261" r:id="rId11"/>
    <p:sldId id="262" r:id="rId12"/>
    <p:sldId id="276" r:id="rId13"/>
    <p:sldId id="263" r:id="rId14"/>
    <p:sldId id="280" r:id="rId15"/>
    <p:sldId id="277" r:id="rId16"/>
    <p:sldId id="268" r:id="rId17"/>
    <p:sldId id="274" r:id="rId18"/>
    <p:sldId id="269"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630F"/>
    <a:srgbClr val="FFFFFF"/>
    <a:srgbClr val="F243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C7B77F-60F9-4607-833F-CADE58D49B30}" v="2" dt="2026-10-23T07:03:34.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2"/>
  </p:normalViewPr>
  <p:slideViewPr>
    <p:cSldViewPr snapToGrid="0">
      <p:cViewPr varScale="1">
        <p:scale>
          <a:sx n="104" d="100"/>
          <a:sy n="104" d="100"/>
        </p:scale>
        <p:origin x="8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E96298-55F2-4C15-8F45-4067AE8A716A}" type="datetimeFigureOut">
              <a:rPr lang="en-NZ" smtClean="0"/>
              <a:t>29/10/2026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D6E0EE-54D9-47C2-BC33-B731E19B362B}" type="slidenum">
              <a:rPr lang="en-NZ" smtClean="0"/>
              <a:t>‹#›</a:t>
            </a:fld>
            <a:endParaRPr lang="en-NZ"/>
          </a:p>
        </p:txBody>
      </p:sp>
    </p:spTree>
    <p:extLst>
      <p:ext uri="{BB962C8B-B14F-4D97-AF65-F5344CB8AC3E}">
        <p14:creationId xmlns:p14="http://schemas.microsoft.com/office/powerpoint/2010/main" val="3304046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6FD6E0EE-54D9-47C2-BC33-B731E19B362B}" type="slidenum">
              <a:rPr lang="en-NZ" smtClean="0"/>
              <a:t>1</a:t>
            </a:fld>
            <a:endParaRPr lang="en-NZ"/>
          </a:p>
        </p:txBody>
      </p:sp>
    </p:spTree>
    <p:extLst>
      <p:ext uri="{BB962C8B-B14F-4D97-AF65-F5344CB8AC3E}">
        <p14:creationId xmlns:p14="http://schemas.microsoft.com/office/powerpoint/2010/main" val="387032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6FD6E0EE-54D9-47C2-BC33-B731E19B362B}" type="slidenum">
              <a:rPr lang="en-NZ" smtClean="0"/>
              <a:t>2</a:t>
            </a:fld>
            <a:endParaRPr lang="en-NZ"/>
          </a:p>
        </p:txBody>
      </p:sp>
    </p:spTree>
    <p:extLst>
      <p:ext uri="{BB962C8B-B14F-4D97-AF65-F5344CB8AC3E}">
        <p14:creationId xmlns:p14="http://schemas.microsoft.com/office/powerpoint/2010/main" val="4116778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The initial calibration algorithm was developed using a single </a:t>
            </a:r>
            <a:r>
              <a:rPr lang="en-NZ" err="1"/>
              <a:t>bladeRF</a:t>
            </a:r>
            <a:r>
              <a:rPr lang="en-NZ"/>
              <a:t> in loopback, allowing the known transmitted signal to be compared against the received signal.</a:t>
            </a:r>
          </a:p>
          <a:p>
            <a:r>
              <a:rPr lang="en-NZ"/>
              <a:t>First, cross-correlation was used to identify the integer-sample delay, taking the highest correlation peak.</a:t>
            </a:r>
          </a:p>
          <a:p>
            <a:r>
              <a:rPr lang="en-NZ"/>
              <a:t>The remaining fractional delay was then estimated in the frequency domain. Since time delay produces a linear phase slope, the phase was unwrapped to remove the (2\pi) discontinuities before fitting a straight line across a fixed frequency range.</a:t>
            </a:r>
          </a:p>
          <a:p>
            <a:r>
              <a:rPr lang="en-NZ"/>
              <a:t>Once the signals were aligned in time, least-squares complex gain estimation was used to determine the remaining amplitude and phase offsets.</a:t>
            </a:r>
          </a:p>
          <a:p>
            <a:r>
              <a:rPr lang="en-NZ"/>
              <a:t>These corrections were then applied to reconstruct the transmitted signal. The hardware results on the right show good agreement between the original and reconstructed waveforms, for both the real and imaginary components, despite the noise introduced by the hardware.</a:t>
            </a:r>
          </a:p>
          <a:p>
            <a:endParaRPr lang="en-NZ"/>
          </a:p>
        </p:txBody>
      </p:sp>
      <p:sp>
        <p:nvSpPr>
          <p:cNvPr id="4" name="Slide Number Placeholder 3"/>
          <p:cNvSpPr>
            <a:spLocks noGrp="1"/>
          </p:cNvSpPr>
          <p:nvPr>
            <p:ph type="sldNum" sz="quarter" idx="5"/>
          </p:nvPr>
        </p:nvSpPr>
        <p:spPr/>
        <p:txBody>
          <a:bodyPr/>
          <a:lstStyle/>
          <a:p>
            <a:fld id="{6FD6E0EE-54D9-47C2-BC33-B731E19B362B}" type="slidenum">
              <a:rPr lang="en-NZ" smtClean="0"/>
              <a:t>5</a:t>
            </a:fld>
            <a:endParaRPr lang="en-NZ"/>
          </a:p>
        </p:txBody>
      </p:sp>
    </p:spTree>
    <p:extLst>
      <p:ext uri="{BB962C8B-B14F-4D97-AF65-F5344CB8AC3E}">
        <p14:creationId xmlns:p14="http://schemas.microsoft.com/office/powerpoint/2010/main" val="431078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6FD6E0EE-54D9-47C2-BC33-B731E19B362B}" type="slidenum">
              <a:rPr lang="en-NZ" smtClean="0"/>
              <a:t>6</a:t>
            </a:fld>
            <a:endParaRPr lang="en-NZ"/>
          </a:p>
        </p:txBody>
      </p:sp>
    </p:spTree>
    <p:extLst>
      <p:ext uri="{BB962C8B-B14F-4D97-AF65-F5344CB8AC3E}">
        <p14:creationId xmlns:p14="http://schemas.microsoft.com/office/powerpoint/2010/main" val="1794892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The next step was extending the calibration to two independent </a:t>
            </a:r>
            <a:r>
              <a:rPr lang="en-NZ" err="1"/>
              <a:t>bladeRF</a:t>
            </a:r>
            <a:r>
              <a:rPr lang="en-NZ"/>
              <a:t> receivers, both receiving the same signal through an RF splitter.</a:t>
            </a:r>
          </a:p>
          <a:p>
            <a:r>
              <a:rPr lang="en-NZ"/>
              <a:t>The master provides a shared 38.4 MHz clock reference to the slave, preventing their frequency references from drifting independently. However, the receivers still start acquiring at different times, so their samples aren't automatically aligned.</a:t>
            </a:r>
          </a:p>
          <a:p>
            <a:r>
              <a:rPr lang="en-NZ"/>
              <a:t>The calibration algorithm developed previously estimates this offset. The integer delay is applied to align the streams, while a 65-tap FIR filter corrects the fractional delay. Amplitude and phase corrections are then applied using the estimated complex gain, with the filter state preserved between consecutive processing windows.</a:t>
            </a:r>
          </a:p>
          <a:p>
            <a:r>
              <a:rPr lang="en-NZ"/>
              <a:t>Initial testing achieved a corrected correlation of 0.9988 with no residual integer-sample errors. The 20-minute stability test shown here demonstrated that the calibration could be maintained throughout continuous acquisition, although a gradual phase drift of approximately 0.3 degrees was observed.</a:t>
            </a:r>
          </a:p>
          <a:p>
            <a:endParaRPr lang="en-NZ"/>
          </a:p>
        </p:txBody>
      </p:sp>
      <p:sp>
        <p:nvSpPr>
          <p:cNvPr id="4" name="Slide Number Placeholder 3"/>
          <p:cNvSpPr>
            <a:spLocks noGrp="1"/>
          </p:cNvSpPr>
          <p:nvPr>
            <p:ph type="sldNum" sz="quarter" idx="5"/>
          </p:nvPr>
        </p:nvSpPr>
        <p:spPr/>
        <p:txBody>
          <a:bodyPr/>
          <a:lstStyle/>
          <a:p>
            <a:fld id="{6FD6E0EE-54D9-47C2-BC33-B731E19B362B}" type="slidenum">
              <a:rPr lang="en-NZ" smtClean="0"/>
              <a:t>7</a:t>
            </a:fld>
            <a:endParaRPr lang="en-NZ"/>
          </a:p>
        </p:txBody>
      </p:sp>
    </p:spTree>
    <p:extLst>
      <p:ext uri="{BB962C8B-B14F-4D97-AF65-F5344CB8AC3E}">
        <p14:creationId xmlns:p14="http://schemas.microsoft.com/office/powerpoint/2010/main" val="3776936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1F37C-23D7-246E-7398-867CE17D5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0901B-4AAB-0578-B5EB-F37737441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00CAE0-8DBD-3865-491A-D9DA2D657DD7}"/>
              </a:ext>
            </a:extLst>
          </p:cNvPr>
          <p:cNvSpPr>
            <a:spLocks noGrp="1"/>
          </p:cNvSpPr>
          <p:nvPr>
            <p:ph type="body" idx="1"/>
          </p:nvPr>
        </p:nvSpPr>
        <p:spPr/>
        <p:txBody>
          <a:bodyPr/>
          <a:lstStyle/>
          <a:p>
            <a:endParaRPr lang="en-NZ"/>
          </a:p>
        </p:txBody>
      </p:sp>
      <p:sp>
        <p:nvSpPr>
          <p:cNvPr id="4" name="Slide Number Placeholder 3">
            <a:extLst>
              <a:ext uri="{FF2B5EF4-FFF2-40B4-BE49-F238E27FC236}">
                <a16:creationId xmlns:a16="http://schemas.microsoft.com/office/drawing/2014/main" id="{80DBCD3B-1350-C4A8-645A-8D30FC7019DE}"/>
              </a:ext>
            </a:extLst>
          </p:cNvPr>
          <p:cNvSpPr>
            <a:spLocks noGrp="1"/>
          </p:cNvSpPr>
          <p:nvPr>
            <p:ph type="sldNum" sz="quarter" idx="5"/>
          </p:nvPr>
        </p:nvSpPr>
        <p:spPr/>
        <p:txBody>
          <a:bodyPr/>
          <a:lstStyle/>
          <a:p>
            <a:fld id="{6FD6E0EE-54D9-47C2-BC33-B731E19B362B}" type="slidenum">
              <a:rPr lang="en-NZ" smtClean="0"/>
              <a:t>9</a:t>
            </a:fld>
            <a:endParaRPr lang="en-NZ"/>
          </a:p>
        </p:txBody>
      </p:sp>
    </p:spTree>
    <p:extLst>
      <p:ext uri="{BB962C8B-B14F-4D97-AF65-F5344CB8AC3E}">
        <p14:creationId xmlns:p14="http://schemas.microsoft.com/office/powerpoint/2010/main" val="419751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After validating the individual RF paths, I integrated the switching board with both SDRs and confirmed that calibration worked through its NOISE path.</a:t>
            </a:r>
          </a:p>
          <a:p>
            <a:r>
              <a:rPr lang="en-NZ"/>
              <a:t>I then tested whether the calibration remained effective during switching. Across ten switching cycles, correlation remained approximately 0.999, with a phase change of 0.31 degrees. A separate test without switching showed a similar gradual drift of 0.20 degrees.</a:t>
            </a:r>
          </a:p>
          <a:p>
            <a:r>
              <a:rPr lang="en-NZ"/>
              <a:t>However, when I repeated the experiment across ten independent system starts, I found something more concerning. Despite maintaining high correlation, the residual phase offset between the NOISE and ANTENNA paths varied by over 15 degrees between runs.</a:t>
            </a:r>
          </a:p>
          <a:p>
            <a:r>
              <a:rPr lang="en-NZ"/>
              <a:t>This suggested that while calibration remained relatively stable within individual runs, its transfer to the antenna paths was not consistently repeatable between starts.</a:t>
            </a:r>
          </a:p>
          <a:p>
            <a:endParaRPr lang="en-NZ"/>
          </a:p>
        </p:txBody>
      </p:sp>
      <p:sp>
        <p:nvSpPr>
          <p:cNvPr id="4" name="Slide Number Placeholder 3"/>
          <p:cNvSpPr>
            <a:spLocks noGrp="1"/>
          </p:cNvSpPr>
          <p:nvPr>
            <p:ph type="sldNum" sz="quarter" idx="5"/>
          </p:nvPr>
        </p:nvSpPr>
        <p:spPr/>
        <p:txBody>
          <a:bodyPr/>
          <a:lstStyle/>
          <a:p>
            <a:fld id="{6FD6E0EE-54D9-47C2-BC33-B731E19B362B}" type="slidenum">
              <a:rPr lang="en-NZ" smtClean="0"/>
              <a:t>10</a:t>
            </a:fld>
            <a:endParaRPr lang="en-NZ"/>
          </a:p>
        </p:txBody>
      </p:sp>
    </p:spTree>
    <p:extLst>
      <p:ext uri="{BB962C8B-B14F-4D97-AF65-F5344CB8AC3E}">
        <p14:creationId xmlns:p14="http://schemas.microsoft.com/office/powerpoint/2010/main" val="1925074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B511F-414D-1F2A-FDA8-160529658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A2A3D-2965-9513-2E31-744E782CA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6E2A15-7C3A-2B75-04B2-D86890A0C94F}"/>
              </a:ext>
            </a:extLst>
          </p:cNvPr>
          <p:cNvSpPr>
            <a:spLocks noGrp="1"/>
          </p:cNvSpPr>
          <p:nvPr>
            <p:ph type="body" idx="1"/>
          </p:nvPr>
        </p:nvSpPr>
        <p:spPr/>
        <p:txBody>
          <a:bodyPr/>
          <a:lstStyle/>
          <a:p>
            <a:endParaRPr lang="en-NZ"/>
          </a:p>
        </p:txBody>
      </p:sp>
      <p:sp>
        <p:nvSpPr>
          <p:cNvPr id="4" name="Slide Number Placeholder 3">
            <a:extLst>
              <a:ext uri="{FF2B5EF4-FFF2-40B4-BE49-F238E27FC236}">
                <a16:creationId xmlns:a16="http://schemas.microsoft.com/office/drawing/2014/main" id="{F1677221-D282-2E85-8119-03978B1B6436}"/>
              </a:ext>
            </a:extLst>
          </p:cNvPr>
          <p:cNvSpPr>
            <a:spLocks noGrp="1"/>
          </p:cNvSpPr>
          <p:nvPr>
            <p:ph type="sldNum" sz="quarter" idx="5"/>
          </p:nvPr>
        </p:nvSpPr>
        <p:spPr/>
        <p:txBody>
          <a:bodyPr/>
          <a:lstStyle/>
          <a:p>
            <a:fld id="{6FD6E0EE-54D9-47C2-BC33-B731E19B362B}" type="slidenum">
              <a:rPr lang="en-NZ" smtClean="0"/>
              <a:t>12</a:t>
            </a:fld>
            <a:endParaRPr lang="en-NZ"/>
          </a:p>
        </p:txBody>
      </p:sp>
    </p:spTree>
    <p:extLst>
      <p:ext uri="{BB962C8B-B14F-4D97-AF65-F5344CB8AC3E}">
        <p14:creationId xmlns:p14="http://schemas.microsoft.com/office/powerpoint/2010/main" val="4180128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6FD6E0EE-54D9-47C2-BC33-B731E19B362B}" type="slidenum">
              <a:rPr lang="en-NZ" smtClean="0"/>
              <a:t>13</a:t>
            </a:fld>
            <a:endParaRPr lang="en-NZ"/>
          </a:p>
        </p:txBody>
      </p:sp>
    </p:spTree>
    <p:extLst>
      <p:ext uri="{BB962C8B-B14F-4D97-AF65-F5344CB8AC3E}">
        <p14:creationId xmlns:p14="http://schemas.microsoft.com/office/powerpoint/2010/main" val="402273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9937-16D8-E37E-85F9-9AD2F82DD0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CCF4B739-B0D9-C92A-3BE9-1F14434DF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4EE1B49A-BA6C-49B8-3CD6-577849D374AC}"/>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5" name="Footer Placeholder 4">
            <a:extLst>
              <a:ext uri="{FF2B5EF4-FFF2-40B4-BE49-F238E27FC236}">
                <a16:creationId xmlns:a16="http://schemas.microsoft.com/office/drawing/2014/main" id="{6E6B63FA-A067-F897-D8BD-495CEEF8847E}"/>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27D9028-75FB-9FE1-CAF9-BF6C4B3772BA}"/>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3123410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826DA-B605-423E-E944-B613CF4A6F95}"/>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2D42ACCA-48A2-9DB4-FF15-4D676C3D06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26AD93DB-D8DD-327A-7DD2-5C345C62C4AD}"/>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5" name="Footer Placeholder 4">
            <a:extLst>
              <a:ext uri="{FF2B5EF4-FFF2-40B4-BE49-F238E27FC236}">
                <a16:creationId xmlns:a16="http://schemas.microsoft.com/office/drawing/2014/main" id="{56783310-A775-1DAB-B017-B2D435E563C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5547D48-D9FA-4989-13CE-F88FEADB9CCB}"/>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539626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CE40-92CF-F4B1-A193-E596A1B779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F304BCD7-8749-B1B2-51A6-6C4A92FE5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09B7FA-BF22-3C4E-6B2E-54073FC8BF90}"/>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5" name="Footer Placeholder 4">
            <a:extLst>
              <a:ext uri="{FF2B5EF4-FFF2-40B4-BE49-F238E27FC236}">
                <a16:creationId xmlns:a16="http://schemas.microsoft.com/office/drawing/2014/main" id="{4D90C344-13D7-4E66-6EC4-946E6A73CB8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2638404-83F1-C84B-37E3-621152ABEAE8}"/>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1328448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997D-0C33-9E78-D021-6D1311A6FFD7}"/>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EF2A2F30-18EE-2FAD-5E21-ED87FC12B8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AF26CA26-7CB8-C1CA-4532-5390256BA8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65E73D9D-A860-F8F6-835A-69202E739337}"/>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6" name="Footer Placeholder 5">
            <a:extLst>
              <a:ext uri="{FF2B5EF4-FFF2-40B4-BE49-F238E27FC236}">
                <a16:creationId xmlns:a16="http://schemas.microsoft.com/office/drawing/2014/main" id="{915164EC-9295-C745-6AEF-7501F4AA200C}"/>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D003FE1F-DF29-5919-AB31-8DC712E5E76C}"/>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1949251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B55A-34BF-FCBB-5DBA-76D36D0A8C83}"/>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1FCCBA-C7BC-8E86-34CC-6C597FB232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A5FBE1-927B-8103-96A0-AD86C32AF9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76533E2D-2BE3-7553-D967-E604FACAA8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E77C1D-130C-67B5-16BD-B205EA73FD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193CE843-37C6-2F20-A199-FBB54BAF26C6}"/>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8" name="Footer Placeholder 7">
            <a:extLst>
              <a:ext uri="{FF2B5EF4-FFF2-40B4-BE49-F238E27FC236}">
                <a16:creationId xmlns:a16="http://schemas.microsoft.com/office/drawing/2014/main" id="{3CE4700C-F296-9A1A-39D3-D050E2C6CB79}"/>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52A8953C-139D-233A-E688-3046F00A16CF}"/>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3499585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C7AB3-0EE0-2420-0EA2-E45AE50C1E36}"/>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7165ECD0-0D2C-D3BF-5001-AE5A74D8A6B2}"/>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4" name="Footer Placeholder 3">
            <a:extLst>
              <a:ext uri="{FF2B5EF4-FFF2-40B4-BE49-F238E27FC236}">
                <a16:creationId xmlns:a16="http://schemas.microsoft.com/office/drawing/2014/main" id="{7FB0B7C0-3CBE-CF75-6B81-E858DE8947DE}"/>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8827F918-B827-BE60-E45B-8C41C796AF9E}"/>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3480974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923665-8A79-4B16-326A-729E3104A664}"/>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3" name="Footer Placeholder 2">
            <a:extLst>
              <a:ext uri="{FF2B5EF4-FFF2-40B4-BE49-F238E27FC236}">
                <a16:creationId xmlns:a16="http://schemas.microsoft.com/office/drawing/2014/main" id="{8ACBC2A7-D38D-35E2-9E96-134BE439D943}"/>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BE7DE893-E744-2389-0BA7-DBE2890C540C}"/>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2369583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F207-2485-AF42-D2CE-A2C72535C7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31B0EC36-9DBE-7A45-29C0-AE3BEC445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5F9BE35E-96C4-C18B-BF43-CD043F1160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95E94F-9C10-8E53-9F17-B0EB8F5277C6}"/>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6" name="Footer Placeholder 5">
            <a:extLst>
              <a:ext uri="{FF2B5EF4-FFF2-40B4-BE49-F238E27FC236}">
                <a16:creationId xmlns:a16="http://schemas.microsoft.com/office/drawing/2014/main" id="{54A43A53-2F6F-7F98-66FC-313F9FB7D8E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796A3D0-AE3A-5C13-E5E4-AC853C3155B6}"/>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1134332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EA465-0718-9894-B98A-111719404A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CEBF1265-5823-E497-90C4-9BC49D5248A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2E7CEB55-0790-12FA-53AC-26F4AD62A0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8C0503-542D-2EF6-EA4C-2D6C5AF76EAA}"/>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6" name="Footer Placeholder 5">
            <a:extLst>
              <a:ext uri="{FF2B5EF4-FFF2-40B4-BE49-F238E27FC236}">
                <a16:creationId xmlns:a16="http://schemas.microsoft.com/office/drawing/2014/main" id="{6D1E1BEE-E21D-FA55-DDAA-F65A7A5B47D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F50D4A4-8B79-8669-CA94-22550F1AAFE5}"/>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979343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B76BA-C61F-D3EB-7AD8-EB87CF35681F}"/>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26E61F0C-EB59-EB16-05F0-F885318C0C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ADE2894-681E-188B-4C0E-4D22009D2C21}"/>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5" name="Footer Placeholder 4">
            <a:extLst>
              <a:ext uri="{FF2B5EF4-FFF2-40B4-BE49-F238E27FC236}">
                <a16:creationId xmlns:a16="http://schemas.microsoft.com/office/drawing/2014/main" id="{E387B962-7053-373A-2C0B-D55EB01DF5D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A8DDAF4-CC56-7A3B-F50D-033C9E81C71E}"/>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747626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4906D4-3658-5ACD-CB7A-C7B6A73920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833C90EE-1D83-6054-BE43-95095959FF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2E93EB3B-99D2-4AC6-AD28-AEA2BA0BE745}"/>
              </a:ext>
            </a:extLst>
          </p:cNvPr>
          <p:cNvSpPr>
            <a:spLocks noGrp="1"/>
          </p:cNvSpPr>
          <p:nvPr>
            <p:ph type="dt" sz="half" idx="10"/>
          </p:nvPr>
        </p:nvSpPr>
        <p:spPr/>
        <p:txBody>
          <a:bodyPr/>
          <a:lstStyle/>
          <a:p>
            <a:fld id="{2266FC99-F6CE-4F37-AC2A-D432D72E0BC8}" type="datetimeFigureOut">
              <a:rPr lang="en-NZ" smtClean="0"/>
              <a:t>29/10/2026</a:t>
            </a:fld>
            <a:endParaRPr lang="en-NZ"/>
          </a:p>
        </p:txBody>
      </p:sp>
      <p:sp>
        <p:nvSpPr>
          <p:cNvPr id="5" name="Footer Placeholder 4">
            <a:extLst>
              <a:ext uri="{FF2B5EF4-FFF2-40B4-BE49-F238E27FC236}">
                <a16:creationId xmlns:a16="http://schemas.microsoft.com/office/drawing/2014/main" id="{79A75369-1099-477A-8443-AA80D23E866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9D24F67-A56E-1706-DB01-50BF6B982394}"/>
              </a:ext>
            </a:extLst>
          </p:cNvPr>
          <p:cNvSpPr>
            <a:spLocks noGrp="1"/>
          </p:cNvSpPr>
          <p:nvPr>
            <p:ph type="sldNum" sz="quarter" idx="12"/>
          </p:nvPr>
        </p:nvSpPr>
        <p:spPr/>
        <p:txBody>
          <a:bodyPr/>
          <a:lstStyle/>
          <a:p>
            <a:fld id="{5DD144DC-6342-4DFC-A19E-8E799C9D4E07}" type="slidenum">
              <a:rPr lang="en-NZ" smtClean="0"/>
              <a:t>‹#›</a:t>
            </a:fld>
            <a:endParaRPr lang="en-NZ"/>
          </a:p>
        </p:txBody>
      </p:sp>
    </p:spTree>
    <p:extLst>
      <p:ext uri="{BB962C8B-B14F-4D97-AF65-F5344CB8AC3E}">
        <p14:creationId xmlns:p14="http://schemas.microsoft.com/office/powerpoint/2010/main" val="2022030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A282BD-79F8-8B89-E7C3-6951BCEF83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9972CB50-22DA-F803-C9C6-5D48FE6152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6001194D-DDCE-1831-356A-027E6E0572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66FC99-F6CE-4F37-AC2A-D432D72E0BC8}" type="datetimeFigureOut">
              <a:rPr lang="en-NZ" smtClean="0"/>
              <a:t>29/10/2026</a:t>
            </a:fld>
            <a:endParaRPr lang="en-NZ"/>
          </a:p>
        </p:txBody>
      </p:sp>
      <p:sp>
        <p:nvSpPr>
          <p:cNvPr id="5" name="Footer Placeholder 4">
            <a:extLst>
              <a:ext uri="{FF2B5EF4-FFF2-40B4-BE49-F238E27FC236}">
                <a16:creationId xmlns:a16="http://schemas.microsoft.com/office/drawing/2014/main" id="{42C34881-3F03-6F78-1922-DDCBCD582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CC770654-CADB-B49F-750C-816C84F172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D144DC-6342-4DFC-A19E-8E799C9D4E07}" type="slidenum">
              <a:rPr lang="en-NZ" smtClean="0"/>
              <a:t>‹#›</a:t>
            </a:fld>
            <a:endParaRPr lang="en-NZ"/>
          </a:p>
        </p:txBody>
      </p:sp>
    </p:spTree>
    <p:extLst>
      <p:ext uri="{BB962C8B-B14F-4D97-AF65-F5344CB8AC3E}">
        <p14:creationId xmlns:p14="http://schemas.microsoft.com/office/powerpoint/2010/main" val="513848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6944DDF-7E1E-57DE-0026-1F91F03E6C65}"/>
              </a:ext>
            </a:extLst>
          </p:cNvPr>
          <p:cNvSpPr txBox="1">
            <a:spLocks/>
          </p:cNvSpPr>
          <p:nvPr/>
        </p:nvSpPr>
        <p:spPr>
          <a:xfrm>
            <a:off x="435103" y="193444"/>
            <a:ext cx="11155680" cy="90383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a:t>Angle of Arrival Estimation using Two SDRs</a:t>
            </a:r>
            <a:endParaRPr lang="en-NZ"/>
          </a:p>
        </p:txBody>
      </p:sp>
      <p:sp>
        <p:nvSpPr>
          <p:cNvPr id="7" name="TextBox 6">
            <a:extLst>
              <a:ext uri="{FF2B5EF4-FFF2-40B4-BE49-F238E27FC236}">
                <a16:creationId xmlns:a16="http://schemas.microsoft.com/office/drawing/2014/main" id="{88025AC7-AE6B-92E5-A5EC-E547178D3D71}"/>
              </a:ext>
            </a:extLst>
          </p:cNvPr>
          <p:cNvSpPr txBox="1"/>
          <p:nvPr/>
        </p:nvSpPr>
        <p:spPr>
          <a:xfrm>
            <a:off x="5007430" y="1566828"/>
            <a:ext cx="6870440" cy="2000548"/>
          </a:xfrm>
          <a:prstGeom prst="rect">
            <a:avLst/>
          </a:prstGeom>
          <a:noFill/>
        </p:spPr>
        <p:txBody>
          <a:bodyPr wrap="square" rtlCol="0">
            <a:spAutoFit/>
          </a:bodyPr>
          <a:lstStyle/>
          <a:p>
            <a:pPr>
              <a:spcAft>
                <a:spcPts val="1200"/>
              </a:spcAft>
            </a:pPr>
            <a:r>
              <a:rPr lang="en-GB" sz="2400" b="1">
                <a:solidFill>
                  <a:schemeClr val="tx2">
                    <a:lumMod val="90000"/>
                    <a:lumOff val="10000"/>
                  </a:schemeClr>
                </a:solidFill>
              </a:rPr>
              <a:t>Motivation</a:t>
            </a:r>
            <a:endParaRPr lang="en-GB" sz="2000" b="1">
              <a:solidFill>
                <a:schemeClr val="tx2">
                  <a:lumMod val="90000"/>
                  <a:lumOff val="10000"/>
                </a:schemeClr>
              </a:solidFill>
            </a:endParaRPr>
          </a:p>
          <a:p>
            <a:r>
              <a:rPr lang="en-GB" b="1"/>
              <a:t>Rocket localisation: </a:t>
            </a:r>
            <a:r>
              <a:rPr lang="en-GB"/>
              <a:t>Develop direction-finding capabilities to support rocket tracking.</a:t>
            </a:r>
          </a:p>
          <a:p>
            <a:endParaRPr lang="en-GB"/>
          </a:p>
          <a:p>
            <a:r>
              <a:rPr lang="en-GB" b="1"/>
              <a:t>UC Rocketry: </a:t>
            </a:r>
            <a:r>
              <a:rPr lang="en-GB"/>
              <a:t>Make use of existing </a:t>
            </a:r>
            <a:r>
              <a:rPr lang="en-GB" err="1"/>
              <a:t>bladeRF</a:t>
            </a:r>
            <a:r>
              <a:rPr lang="en-GB"/>
              <a:t> hardware to create a system that can be modified and expanded.</a:t>
            </a:r>
            <a:endParaRPr lang="en-NZ"/>
          </a:p>
        </p:txBody>
      </p:sp>
      <p:cxnSp>
        <p:nvCxnSpPr>
          <p:cNvPr id="10" name="Straight Connector 9">
            <a:extLst>
              <a:ext uri="{FF2B5EF4-FFF2-40B4-BE49-F238E27FC236}">
                <a16:creationId xmlns:a16="http://schemas.microsoft.com/office/drawing/2014/main" id="{2E61EEDE-28B8-AFD1-4039-76A24A85133C}"/>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27745ED-7860-9A0B-6FC3-DE28116A272C}"/>
              </a:ext>
            </a:extLst>
          </p:cNvPr>
          <p:cNvSpPr txBox="1"/>
          <p:nvPr/>
        </p:nvSpPr>
        <p:spPr>
          <a:xfrm>
            <a:off x="5007430" y="3935372"/>
            <a:ext cx="6870440" cy="1169551"/>
          </a:xfrm>
          <a:prstGeom prst="rect">
            <a:avLst/>
          </a:prstGeom>
          <a:noFill/>
        </p:spPr>
        <p:txBody>
          <a:bodyPr wrap="square" rtlCol="0">
            <a:spAutoFit/>
          </a:bodyPr>
          <a:lstStyle/>
          <a:p>
            <a:pPr>
              <a:spcAft>
                <a:spcPts val="1200"/>
              </a:spcAft>
            </a:pPr>
            <a:r>
              <a:rPr lang="en-GB" sz="2400" b="1">
                <a:solidFill>
                  <a:schemeClr val="tx2">
                    <a:lumMod val="90000"/>
                    <a:lumOff val="10000"/>
                  </a:schemeClr>
                </a:solidFill>
              </a:rPr>
              <a:t>Project Aim</a:t>
            </a:r>
            <a:endParaRPr lang="en-GB" sz="2000" b="1">
              <a:solidFill>
                <a:schemeClr val="tx2">
                  <a:lumMod val="90000"/>
                  <a:lumOff val="10000"/>
                </a:schemeClr>
              </a:solidFill>
            </a:endParaRPr>
          </a:p>
          <a:p>
            <a:r>
              <a:rPr lang="en-GB"/>
              <a:t>Develop and validate a dual-SDR system capable of synchronised, calibrated phase measurements for </a:t>
            </a:r>
            <a:r>
              <a:rPr lang="en-GB" err="1"/>
              <a:t>AoA</a:t>
            </a:r>
            <a:r>
              <a:rPr lang="en-GB"/>
              <a:t> estimation. </a:t>
            </a:r>
            <a:endParaRPr lang="en-NZ"/>
          </a:p>
        </p:txBody>
      </p:sp>
      <p:sp>
        <p:nvSpPr>
          <p:cNvPr id="14" name="TextBox 13">
            <a:extLst>
              <a:ext uri="{FF2B5EF4-FFF2-40B4-BE49-F238E27FC236}">
                <a16:creationId xmlns:a16="http://schemas.microsoft.com/office/drawing/2014/main" id="{64893A59-4291-203C-D1ED-CD1BFE70A617}"/>
              </a:ext>
            </a:extLst>
          </p:cNvPr>
          <p:cNvSpPr txBox="1"/>
          <p:nvPr/>
        </p:nvSpPr>
        <p:spPr>
          <a:xfrm>
            <a:off x="5091405" y="5804672"/>
            <a:ext cx="6702489" cy="400110"/>
          </a:xfrm>
          <a:prstGeom prst="rect">
            <a:avLst/>
          </a:prstGeom>
          <a:noFill/>
        </p:spPr>
        <p:txBody>
          <a:bodyPr wrap="square" rtlCol="0">
            <a:spAutoFit/>
          </a:bodyPr>
          <a:lstStyle/>
          <a:p>
            <a:r>
              <a:rPr lang="en-GB" sz="2000" b="1"/>
              <a:t>Chanelle Duffy                                        </a:t>
            </a:r>
            <a:r>
              <a:rPr lang="en-GB" sz="2000"/>
              <a:t>Supervisor: Chris Hann</a:t>
            </a:r>
            <a:endParaRPr lang="en-NZ"/>
          </a:p>
        </p:txBody>
      </p:sp>
      <p:sp>
        <p:nvSpPr>
          <p:cNvPr id="19" name="Rectangle: Rounded Corners 18">
            <a:extLst>
              <a:ext uri="{FF2B5EF4-FFF2-40B4-BE49-F238E27FC236}">
                <a16:creationId xmlns:a16="http://schemas.microsoft.com/office/drawing/2014/main" id="{CDAE6C6A-9E12-1FFD-C01E-966E8D899FCF}"/>
              </a:ext>
            </a:extLst>
          </p:cNvPr>
          <p:cNvSpPr/>
          <p:nvPr/>
        </p:nvSpPr>
        <p:spPr>
          <a:xfrm>
            <a:off x="765110" y="1415883"/>
            <a:ext cx="3769568" cy="4788899"/>
          </a:xfrm>
          <a:prstGeom prst="roundRect">
            <a:avLst/>
          </a:prstGeom>
          <a:blipFill dpi="0" rotWithShape="1">
            <a:blip r:embed="rId3"/>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3" name="Straight Connector 22">
            <a:extLst>
              <a:ext uri="{FF2B5EF4-FFF2-40B4-BE49-F238E27FC236}">
                <a16:creationId xmlns:a16="http://schemas.microsoft.com/office/drawing/2014/main" id="{5146E0F6-0595-2634-C0D3-5BF9DA675589}"/>
              </a:ext>
            </a:extLst>
          </p:cNvPr>
          <p:cNvCxnSpPr/>
          <p:nvPr/>
        </p:nvCxnSpPr>
        <p:spPr>
          <a:xfrm>
            <a:off x="5159829" y="3741575"/>
            <a:ext cx="6354147"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16BB914-8BCC-F9FF-A86A-087254E1FFD2}"/>
              </a:ext>
            </a:extLst>
          </p:cNvPr>
          <p:cNvCxnSpPr/>
          <p:nvPr/>
        </p:nvCxnSpPr>
        <p:spPr>
          <a:xfrm>
            <a:off x="5159829" y="5396204"/>
            <a:ext cx="6354147"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6312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90C47EC-2404-B9BE-E5D8-79B363BD7073}"/>
              </a:ext>
            </a:extLst>
          </p:cNvPr>
          <p:cNvSpPr txBox="1">
            <a:spLocks/>
          </p:cNvSpPr>
          <p:nvPr/>
        </p:nvSpPr>
        <p:spPr>
          <a:xfrm>
            <a:off x="435103" y="193444"/>
            <a:ext cx="11155680" cy="90383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a:t>Angle of Arrival Estimation Using Two SDRs</a:t>
            </a:r>
            <a:endParaRPr lang="en-NZ"/>
          </a:p>
        </p:txBody>
      </p:sp>
      <p:cxnSp>
        <p:nvCxnSpPr>
          <p:cNvPr id="7" name="Straight Connector 6">
            <a:extLst>
              <a:ext uri="{FF2B5EF4-FFF2-40B4-BE49-F238E27FC236}">
                <a16:creationId xmlns:a16="http://schemas.microsoft.com/office/drawing/2014/main" id="{625E7DDF-E871-B3A2-382A-7241C6A82194}"/>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35C41F7E-465C-9AAB-3C39-9E43423DADAD}"/>
              </a:ext>
            </a:extLst>
          </p:cNvPr>
          <p:cNvSpPr txBox="1"/>
          <p:nvPr/>
        </p:nvSpPr>
        <p:spPr>
          <a:xfrm>
            <a:off x="770236" y="5760655"/>
            <a:ext cx="4583520" cy="369332"/>
          </a:xfrm>
          <a:prstGeom prst="rect">
            <a:avLst/>
          </a:prstGeom>
          <a:noFill/>
        </p:spPr>
        <p:txBody>
          <a:bodyPr wrap="square" rtlCol="0">
            <a:spAutoFit/>
          </a:bodyPr>
          <a:lstStyle/>
          <a:p>
            <a:r>
              <a:rPr lang="en-GB" b="1"/>
              <a:t>Incoming wavefront reaches RX1 first</a:t>
            </a:r>
            <a:endParaRPr lang="en-NZ" b="1"/>
          </a:p>
        </p:txBody>
      </p:sp>
      <p:pic>
        <p:nvPicPr>
          <p:cNvPr id="53" name="Picture 52">
            <a:extLst>
              <a:ext uri="{FF2B5EF4-FFF2-40B4-BE49-F238E27FC236}">
                <a16:creationId xmlns:a16="http://schemas.microsoft.com/office/drawing/2014/main" id="{A3B20E51-B73C-18A0-7073-872263EC7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943" y="2493844"/>
            <a:ext cx="6002718" cy="2251019"/>
          </a:xfrm>
          <a:prstGeom prst="rect">
            <a:avLst/>
          </a:prstGeom>
        </p:spPr>
      </p:pic>
      <p:sp>
        <p:nvSpPr>
          <p:cNvPr id="55" name="TextBox 54">
            <a:extLst>
              <a:ext uri="{FF2B5EF4-FFF2-40B4-BE49-F238E27FC236}">
                <a16:creationId xmlns:a16="http://schemas.microsoft.com/office/drawing/2014/main" id="{24E579AC-27E9-3F4A-D03E-109582B9D875}"/>
              </a:ext>
            </a:extLst>
          </p:cNvPr>
          <p:cNvSpPr txBox="1"/>
          <p:nvPr/>
        </p:nvSpPr>
        <p:spPr>
          <a:xfrm>
            <a:off x="7109927" y="5760655"/>
            <a:ext cx="3965510" cy="369332"/>
          </a:xfrm>
          <a:prstGeom prst="rect">
            <a:avLst/>
          </a:prstGeom>
          <a:noFill/>
        </p:spPr>
        <p:txBody>
          <a:bodyPr wrap="square" rtlCol="0">
            <a:spAutoFit/>
          </a:bodyPr>
          <a:lstStyle/>
          <a:p>
            <a:r>
              <a:rPr lang="en-GB" b="1"/>
              <a:t>Received Signals are Phase Shifted</a:t>
            </a:r>
            <a:endParaRPr lang="en-NZ" b="1"/>
          </a:p>
        </p:txBody>
      </p:sp>
      <p:sp>
        <p:nvSpPr>
          <p:cNvPr id="59" name="TextBox 58">
            <a:extLst>
              <a:ext uri="{FF2B5EF4-FFF2-40B4-BE49-F238E27FC236}">
                <a16:creationId xmlns:a16="http://schemas.microsoft.com/office/drawing/2014/main" id="{38116EAB-6E61-F1BB-D045-FBA977175FD7}"/>
              </a:ext>
            </a:extLst>
          </p:cNvPr>
          <p:cNvSpPr txBox="1"/>
          <p:nvPr/>
        </p:nvSpPr>
        <p:spPr>
          <a:xfrm>
            <a:off x="8516339" y="2309177"/>
            <a:ext cx="706015" cy="369332"/>
          </a:xfrm>
          <a:prstGeom prst="rect">
            <a:avLst/>
          </a:prstGeom>
          <a:noFill/>
        </p:spPr>
        <p:txBody>
          <a:bodyPr wrap="square" rtlCol="0">
            <a:spAutoFit/>
          </a:bodyPr>
          <a:lstStyle/>
          <a:p>
            <a:r>
              <a:rPr lang="en-GB"/>
              <a:t>RX2</a:t>
            </a:r>
            <a:endParaRPr lang="en-NZ"/>
          </a:p>
        </p:txBody>
      </p:sp>
      <p:sp>
        <p:nvSpPr>
          <p:cNvPr id="61" name="TextBox 60">
            <a:extLst>
              <a:ext uri="{FF2B5EF4-FFF2-40B4-BE49-F238E27FC236}">
                <a16:creationId xmlns:a16="http://schemas.microsoft.com/office/drawing/2014/main" id="{3354CD7E-7F92-D0AD-AA5E-DFD17B0C54BC}"/>
              </a:ext>
            </a:extLst>
          </p:cNvPr>
          <p:cNvSpPr txBox="1"/>
          <p:nvPr/>
        </p:nvSpPr>
        <p:spPr>
          <a:xfrm>
            <a:off x="6971388" y="2317781"/>
            <a:ext cx="706015" cy="369332"/>
          </a:xfrm>
          <a:prstGeom prst="rect">
            <a:avLst/>
          </a:prstGeom>
          <a:noFill/>
        </p:spPr>
        <p:txBody>
          <a:bodyPr wrap="square" rtlCol="0">
            <a:spAutoFit/>
          </a:bodyPr>
          <a:lstStyle/>
          <a:p>
            <a:r>
              <a:rPr lang="en-GB"/>
              <a:t>RX1</a:t>
            </a:r>
            <a:endParaRPr lang="en-NZ"/>
          </a:p>
        </p:txBody>
      </p:sp>
      <p:cxnSp>
        <p:nvCxnSpPr>
          <p:cNvPr id="63" name="Straight Arrow Connector 62">
            <a:extLst>
              <a:ext uri="{FF2B5EF4-FFF2-40B4-BE49-F238E27FC236}">
                <a16:creationId xmlns:a16="http://schemas.microsoft.com/office/drawing/2014/main" id="{4FB41CAD-2AE7-AABD-7722-AA64143EEA32}"/>
              </a:ext>
            </a:extLst>
          </p:cNvPr>
          <p:cNvCxnSpPr>
            <a:cxnSpLocks/>
          </p:cNvCxnSpPr>
          <p:nvPr/>
        </p:nvCxnSpPr>
        <p:spPr>
          <a:xfrm>
            <a:off x="7324396" y="2635558"/>
            <a:ext cx="187802" cy="325658"/>
          </a:xfrm>
          <a:prstGeom prst="straightConnector1">
            <a:avLst/>
          </a:prstGeom>
          <a:ln w="28575">
            <a:solidFill>
              <a:schemeClr val="accent4">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F003ECD-0BF5-426E-EA7B-490AC0C63D7A}"/>
              </a:ext>
            </a:extLst>
          </p:cNvPr>
          <p:cNvCxnSpPr>
            <a:cxnSpLocks/>
          </p:cNvCxnSpPr>
          <p:nvPr/>
        </p:nvCxnSpPr>
        <p:spPr>
          <a:xfrm flipH="1">
            <a:off x="8628951" y="2602553"/>
            <a:ext cx="126577" cy="358663"/>
          </a:xfrm>
          <a:prstGeom prst="straightConnector1">
            <a:avLst/>
          </a:prstGeom>
          <a:ln w="28575">
            <a:solidFill>
              <a:srgbClr val="F9630F"/>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C85BAB5-228C-AD85-B89A-D4B7CC0A0FA8}"/>
              </a:ext>
            </a:extLst>
          </p:cNvPr>
          <p:cNvCxnSpPr>
            <a:cxnSpLocks/>
          </p:cNvCxnSpPr>
          <p:nvPr/>
        </p:nvCxnSpPr>
        <p:spPr>
          <a:xfrm>
            <a:off x="7658694" y="2812045"/>
            <a:ext cx="0" cy="2065929"/>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EEC60976-466F-E144-E987-8AEE6BBE11EE}"/>
              </a:ext>
            </a:extLst>
          </p:cNvPr>
          <p:cNvCxnSpPr>
            <a:cxnSpLocks/>
          </p:cNvCxnSpPr>
          <p:nvPr/>
        </p:nvCxnSpPr>
        <p:spPr>
          <a:xfrm>
            <a:off x="8501682" y="2812045"/>
            <a:ext cx="0" cy="2065929"/>
          </a:xfrm>
          <a:prstGeom prst="line">
            <a:avLst/>
          </a:prstGeom>
          <a:ln w="28575">
            <a:solidFill>
              <a:srgbClr val="F9630F"/>
            </a:solidFill>
            <a:prstDash val="dash"/>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0AAB86BA-B636-02B9-8BB4-A0B933E9D583}"/>
              </a:ext>
            </a:extLst>
          </p:cNvPr>
          <p:cNvCxnSpPr/>
          <p:nvPr/>
        </p:nvCxnSpPr>
        <p:spPr>
          <a:xfrm>
            <a:off x="7658694" y="4877974"/>
            <a:ext cx="85764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C693CD0D-245E-F25C-F440-E1B342720A46}"/>
                  </a:ext>
                </a:extLst>
              </p:cNvPr>
              <p:cNvSpPr txBox="1"/>
              <p:nvPr/>
            </p:nvSpPr>
            <p:spPr>
              <a:xfrm>
                <a:off x="7734508" y="4877974"/>
                <a:ext cx="706015" cy="461665"/>
              </a:xfrm>
              <a:prstGeom prst="rect">
                <a:avLst/>
              </a:prstGeom>
              <a:noFill/>
            </p:spPr>
            <p:txBody>
              <a:bodyPr wrap="square" rtlCol="0">
                <a:spAutoFit/>
              </a:bodyPr>
              <a:lstStyle/>
              <a:p>
                <a:pPr/>
                <a14:m>
                  <m:oMathPara xmlns:m="http://schemas.openxmlformats.org/officeDocument/2006/math">
                    <m:oMath>
                      <m:r>
                        <m:rPr>
                          <m:sty m:val="p"/>
                        </m:rPr>
                        <a:rPr lang="el-GR" sz="2400" i="1" smtClean="0">
                          <a:latin typeface="Cambria Math" panose="02040503050406030204" pitchFamily="18" charset="0"/>
                          <a:ea typeface="Cambria Math" panose="02040503050406030204" pitchFamily="18" charset="0"/>
                        </a:rPr>
                        <m:t>Δ</m:t>
                      </m:r>
                      <m:r>
                        <m:rPr>
                          <m:sty m:val="p"/>
                        </m:rPr>
                        <a:rPr lang="en-GB" sz="2400" b="0" i="1" smtClean="0">
                          <a:latin typeface="Cambria Math" panose="02040503050406030204" pitchFamily="18" charset="0"/>
                          <a:ea typeface="Cambria Math" panose="02040503050406030204" pitchFamily="18" charset="0"/>
                        </a:rPr>
                        <m:t>t</m:t>
                      </m:r>
                    </m:oMath>
                  </m:oMathPara>
                </a14:m>
                <a:endParaRPr lang="en-NZ" sz="2400"/>
              </a:p>
            </p:txBody>
          </p:sp>
        </mc:Choice>
        <mc:Fallback xmlns="">
          <p:sp>
            <p:nvSpPr>
              <p:cNvPr id="78" name="TextBox 77">
                <a:extLst>
                  <a:ext uri="{FF2B5EF4-FFF2-40B4-BE49-F238E27FC236}">
                    <a16:creationId xmlns:a16="http://schemas.microsoft.com/office/drawing/2014/main" id="{C693CD0D-245E-F25C-F440-E1B342720A46}"/>
                  </a:ext>
                </a:extLst>
              </p:cNvPr>
              <p:cNvSpPr txBox="1">
                <a:spLocks noRot="1" noChangeAspect="1" noMove="1" noResize="1" noEditPoints="1" noAdjustHandles="1" noChangeArrowheads="1" noChangeShapeType="1" noTextEdit="1"/>
              </p:cNvSpPr>
              <p:nvPr/>
            </p:nvSpPr>
            <p:spPr>
              <a:xfrm>
                <a:off x="7734508" y="4877974"/>
                <a:ext cx="706015" cy="461665"/>
              </a:xfrm>
              <a:prstGeom prst="rect">
                <a:avLst/>
              </a:prstGeom>
              <a:blipFill>
                <a:blip r:embed="rId6"/>
                <a:stretch>
                  <a:fillRect/>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7E1AD5A5-7A9A-EA13-0C4A-621A5FC1B09C}"/>
              </a:ext>
            </a:extLst>
          </p:cNvPr>
          <p:cNvGrpSpPr/>
          <p:nvPr/>
        </p:nvGrpSpPr>
        <p:grpSpPr>
          <a:xfrm>
            <a:off x="235559" y="1772834"/>
            <a:ext cx="5277096" cy="3353722"/>
            <a:chOff x="235559" y="1772834"/>
            <a:chExt cx="5277096" cy="3353722"/>
          </a:xfrm>
        </p:grpSpPr>
        <p:cxnSp>
          <p:nvCxnSpPr>
            <p:cNvPr id="11" name="Straight Connector 10">
              <a:extLst>
                <a:ext uri="{FF2B5EF4-FFF2-40B4-BE49-F238E27FC236}">
                  <a16:creationId xmlns:a16="http://schemas.microsoft.com/office/drawing/2014/main" id="{48DDE75F-6E72-BF35-6EB9-C4BE9F49121E}"/>
                </a:ext>
              </a:extLst>
            </p:cNvPr>
            <p:cNvCxnSpPr>
              <a:cxnSpLocks/>
              <a:stCxn id="12" idx="2"/>
              <a:endCxn id="14" idx="6"/>
            </p:cNvCxnSpPr>
            <p:nvPr/>
          </p:nvCxnSpPr>
          <p:spPr>
            <a:xfrm>
              <a:off x="1052622" y="4340923"/>
              <a:ext cx="3589178" cy="0"/>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F875C7D5-3E54-B044-718A-DE4D791D564B}"/>
                </a:ext>
              </a:extLst>
            </p:cNvPr>
            <p:cNvSpPr/>
            <p:nvPr/>
          </p:nvSpPr>
          <p:spPr>
            <a:xfrm>
              <a:off x="1052622" y="4228958"/>
              <a:ext cx="223934" cy="2239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4" name="Oval 13">
              <a:extLst>
                <a:ext uri="{FF2B5EF4-FFF2-40B4-BE49-F238E27FC236}">
                  <a16:creationId xmlns:a16="http://schemas.microsoft.com/office/drawing/2014/main" id="{6558E3DC-B97D-3CBE-4B0F-DC9B462E8610}"/>
                </a:ext>
              </a:extLst>
            </p:cNvPr>
            <p:cNvSpPr/>
            <p:nvPr/>
          </p:nvSpPr>
          <p:spPr>
            <a:xfrm>
              <a:off x="4417866" y="4228958"/>
              <a:ext cx="223934" cy="223929"/>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Z"/>
            </a:p>
          </p:txBody>
        </p:sp>
        <p:cxnSp>
          <p:nvCxnSpPr>
            <p:cNvPr id="16" name="Straight Connector 15">
              <a:extLst>
                <a:ext uri="{FF2B5EF4-FFF2-40B4-BE49-F238E27FC236}">
                  <a16:creationId xmlns:a16="http://schemas.microsoft.com/office/drawing/2014/main" id="{79731C3C-1F2B-EB2B-BF36-9EE6E9ED4B2B}"/>
                </a:ext>
              </a:extLst>
            </p:cNvPr>
            <p:cNvCxnSpPr>
              <a:endCxn id="12" idx="0"/>
            </p:cNvCxnSpPr>
            <p:nvPr/>
          </p:nvCxnSpPr>
          <p:spPr>
            <a:xfrm>
              <a:off x="1164589" y="3883724"/>
              <a:ext cx="0" cy="345234"/>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D7FB150-8386-0AFE-AB3E-DCEDA239C821}"/>
                </a:ext>
              </a:extLst>
            </p:cNvPr>
            <p:cNvCxnSpPr>
              <a:cxnSpLocks/>
            </p:cNvCxnSpPr>
            <p:nvPr/>
          </p:nvCxnSpPr>
          <p:spPr>
            <a:xfrm>
              <a:off x="937544" y="3619355"/>
              <a:ext cx="227045" cy="264369"/>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0AFAC11-B653-07D3-1687-ED49FA91271D}"/>
                </a:ext>
              </a:extLst>
            </p:cNvPr>
            <p:cNvCxnSpPr>
              <a:cxnSpLocks/>
            </p:cNvCxnSpPr>
            <p:nvPr/>
          </p:nvCxnSpPr>
          <p:spPr>
            <a:xfrm flipH="1">
              <a:off x="1164588" y="3619354"/>
              <a:ext cx="205275" cy="248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D7BD5EA-19A8-6937-F574-D52E57FE48DA}"/>
                </a:ext>
              </a:extLst>
            </p:cNvPr>
            <p:cNvCxnSpPr/>
            <p:nvPr/>
          </p:nvCxnSpPr>
          <p:spPr>
            <a:xfrm>
              <a:off x="4529832" y="3883724"/>
              <a:ext cx="0" cy="345234"/>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B851D411-E7D8-7855-AFF4-272DA766D07E}"/>
                </a:ext>
              </a:extLst>
            </p:cNvPr>
            <p:cNvCxnSpPr>
              <a:cxnSpLocks/>
            </p:cNvCxnSpPr>
            <p:nvPr/>
          </p:nvCxnSpPr>
          <p:spPr>
            <a:xfrm>
              <a:off x="4302787" y="3619355"/>
              <a:ext cx="227045" cy="264369"/>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7D5A9CE9-995C-306A-E66C-E0510F0C4ED7}"/>
                </a:ext>
              </a:extLst>
            </p:cNvPr>
            <p:cNvCxnSpPr>
              <a:cxnSpLocks/>
            </p:cNvCxnSpPr>
            <p:nvPr/>
          </p:nvCxnSpPr>
          <p:spPr>
            <a:xfrm flipH="1">
              <a:off x="4529831" y="3619354"/>
              <a:ext cx="205275" cy="24882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D068459F-E77E-FBFE-AFC5-2CE7D9D90620}"/>
                </a:ext>
              </a:extLst>
            </p:cNvPr>
            <p:cNvCxnSpPr>
              <a:cxnSpLocks/>
            </p:cNvCxnSpPr>
            <p:nvPr/>
          </p:nvCxnSpPr>
          <p:spPr>
            <a:xfrm flipV="1">
              <a:off x="496814" y="2665773"/>
              <a:ext cx="4511988" cy="1507202"/>
            </a:xfrm>
            <a:prstGeom prst="line">
              <a:avLst/>
            </a:prstGeom>
            <a:ln w="28575">
              <a:solidFill>
                <a:schemeClr val="accent6">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68F924F-5781-A9C4-458B-4DB75F4166BA}"/>
                </a:ext>
              </a:extLst>
            </p:cNvPr>
            <p:cNvCxnSpPr>
              <a:cxnSpLocks/>
            </p:cNvCxnSpPr>
            <p:nvPr/>
          </p:nvCxnSpPr>
          <p:spPr>
            <a:xfrm flipV="1">
              <a:off x="815151" y="3130123"/>
              <a:ext cx="4511988" cy="1507202"/>
            </a:xfrm>
            <a:prstGeom prst="line">
              <a:avLst/>
            </a:prstGeom>
            <a:ln w="28575">
              <a:solidFill>
                <a:schemeClr val="accent6">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95E3014-D254-8F9E-A60F-77303344BC56}"/>
                </a:ext>
              </a:extLst>
            </p:cNvPr>
            <p:cNvCxnSpPr>
              <a:cxnSpLocks/>
            </p:cNvCxnSpPr>
            <p:nvPr/>
          </p:nvCxnSpPr>
          <p:spPr>
            <a:xfrm flipV="1">
              <a:off x="1000667" y="3619354"/>
              <a:ext cx="4511988" cy="1507202"/>
            </a:xfrm>
            <a:prstGeom prst="line">
              <a:avLst/>
            </a:prstGeom>
            <a:ln w="28575">
              <a:solidFill>
                <a:schemeClr val="accent6">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4DAC93F-7AA6-A04D-9D82-9A2F25300D52}"/>
                </a:ext>
              </a:extLst>
            </p:cNvPr>
            <p:cNvCxnSpPr>
              <a:cxnSpLocks/>
            </p:cNvCxnSpPr>
            <p:nvPr/>
          </p:nvCxnSpPr>
          <p:spPr>
            <a:xfrm flipV="1">
              <a:off x="235559" y="2176542"/>
              <a:ext cx="4511988" cy="1507202"/>
            </a:xfrm>
            <a:prstGeom prst="line">
              <a:avLst/>
            </a:prstGeom>
            <a:ln w="28575">
              <a:solidFill>
                <a:schemeClr val="accent6">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B1BCA22-5BA1-BAFE-DA5A-97614036FD28}"/>
                </a:ext>
              </a:extLst>
            </p:cNvPr>
            <p:cNvCxnSpPr>
              <a:cxnSpLocks/>
            </p:cNvCxnSpPr>
            <p:nvPr/>
          </p:nvCxnSpPr>
          <p:spPr>
            <a:xfrm>
              <a:off x="2841556" y="2538324"/>
              <a:ext cx="0" cy="1753978"/>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38" name="Arc 37">
              <a:extLst>
                <a:ext uri="{FF2B5EF4-FFF2-40B4-BE49-F238E27FC236}">
                  <a16:creationId xmlns:a16="http://schemas.microsoft.com/office/drawing/2014/main" id="{7A31089C-F159-E930-5DEE-5B5BFAC31607}"/>
                </a:ext>
              </a:extLst>
            </p:cNvPr>
            <p:cNvSpPr/>
            <p:nvPr/>
          </p:nvSpPr>
          <p:spPr>
            <a:xfrm rot="18823043">
              <a:off x="2379591" y="3677916"/>
              <a:ext cx="914400" cy="914400"/>
            </a:xfrm>
            <a:prstGeom prst="arc">
              <a:avLst>
                <a:gd name="adj1" fmla="val 17375326"/>
                <a:gd name="adj2" fmla="val 1884760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4BFA328-6ADD-90EF-5A2A-DAA5F78F848A}"/>
                    </a:ext>
                  </a:extLst>
                </p:cNvPr>
                <p:cNvSpPr txBox="1"/>
                <p:nvPr/>
              </p:nvSpPr>
              <p:spPr>
                <a:xfrm>
                  <a:off x="2296886" y="3062076"/>
                  <a:ext cx="765110" cy="461665"/>
                </a:xfrm>
                <a:prstGeom prst="rect">
                  <a:avLst/>
                </a:prstGeom>
                <a:noFill/>
              </p:spPr>
              <p:txBody>
                <a:bodyPr wrap="square" rtlCol="0">
                  <a:spAutoFit/>
                </a:bodyPr>
                <a:lstStyle/>
                <a:p>
                  <a:pPr/>
                  <a14:m>
                    <m:oMathPara xmlns:m="http://schemas.openxmlformats.org/officeDocument/2006/math">
                      <m:oMath>
                        <m:r>
                          <a:rPr lang="en-NZ" sz="2400" i="1" smtClean="0">
                            <a:latin typeface="Cambria Math" panose="02040503050406030204" pitchFamily="18" charset="0"/>
                            <a:ea typeface="Cambria Math" panose="02040503050406030204" pitchFamily="18" charset="0"/>
                          </a:rPr>
                          <m:t>𝜃</m:t>
                        </m:r>
                      </m:oMath>
                    </m:oMathPara>
                  </a14:m>
                  <a:endParaRPr lang="en-NZ" sz="2400" dirty="0"/>
                </a:p>
              </p:txBody>
            </p:sp>
          </mc:Choice>
          <mc:Fallback xmlns="">
            <p:sp>
              <p:nvSpPr>
                <p:cNvPr id="39" name="TextBox 38">
                  <a:extLst>
                    <a:ext uri="{FF2B5EF4-FFF2-40B4-BE49-F238E27FC236}">
                      <a16:creationId xmlns:a16="http://schemas.microsoft.com/office/drawing/2014/main" id="{14BFA328-6ADD-90EF-5A2A-DAA5F78F848A}"/>
                    </a:ext>
                  </a:extLst>
                </p:cNvPr>
                <p:cNvSpPr txBox="1">
                  <a:spLocks noRot="1" noChangeAspect="1" noMove="1" noResize="1" noEditPoints="1" noAdjustHandles="1" noChangeArrowheads="1" noChangeShapeType="1" noTextEdit="1"/>
                </p:cNvSpPr>
                <p:nvPr/>
              </p:nvSpPr>
              <p:spPr>
                <a:xfrm>
                  <a:off x="2296886" y="3062076"/>
                  <a:ext cx="765110" cy="461665"/>
                </a:xfrm>
                <a:prstGeom prst="rect">
                  <a:avLst/>
                </a:prstGeom>
                <a:blipFill>
                  <a:blip r:embed="rId7"/>
                  <a:stretch>
                    <a:fillRect/>
                  </a:stretch>
                </a:blipFill>
              </p:spPr>
              <p:txBody>
                <a:bodyPr/>
                <a:lstStyle/>
                <a:p>
                  <a:r>
                    <a:rPr lang="en-NZ">
                      <a:noFill/>
                    </a:rPr>
                    <a:t> </a:t>
                  </a:r>
                </a:p>
              </p:txBody>
            </p:sp>
          </mc:Fallback>
        </mc:AlternateContent>
        <p:sp>
          <p:nvSpPr>
            <p:cNvPr id="40" name="TextBox 39">
              <a:extLst>
                <a:ext uri="{FF2B5EF4-FFF2-40B4-BE49-F238E27FC236}">
                  <a16:creationId xmlns:a16="http://schemas.microsoft.com/office/drawing/2014/main" id="{D206ED7C-98CB-287E-0B57-9D8A0FA6A12B}"/>
                </a:ext>
              </a:extLst>
            </p:cNvPr>
            <p:cNvSpPr txBox="1"/>
            <p:nvPr/>
          </p:nvSpPr>
          <p:spPr>
            <a:xfrm>
              <a:off x="4288792" y="4508642"/>
              <a:ext cx="706015" cy="369332"/>
            </a:xfrm>
            <a:prstGeom prst="rect">
              <a:avLst/>
            </a:prstGeom>
            <a:noFill/>
          </p:spPr>
          <p:txBody>
            <a:bodyPr wrap="square" rtlCol="0">
              <a:spAutoFit/>
            </a:bodyPr>
            <a:lstStyle/>
            <a:p>
              <a:r>
                <a:rPr lang="en-GB"/>
                <a:t>RX2</a:t>
              </a:r>
              <a:endParaRPr lang="en-NZ"/>
            </a:p>
          </p:txBody>
        </p:sp>
        <p:sp>
          <p:nvSpPr>
            <p:cNvPr id="43" name="TextBox 42">
              <a:extLst>
                <a:ext uri="{FF2B5EF4-FFF2-40B4-BE49-F238E27FC236}">
                  <a16:creationId xmlns:a16="http://schemas.microsoft.com/office/drawing/2014/main" id="{BA43179A-5D72-128F-0E7B-B925B2FA5D3E}"/>
                </a:ext>
              </a:extLst>
            </p:cNvPr>
            <p:cNvSpPr txBox="1"/>
            <p:nvPr/>
          </p:nvSpPr>
          <p:spPr>
            <a:xfrm>
              <a:off x="914217" y="4450898"/>
              <a:ext cx="706015" cy="369332"/>
            </a:xfrm>
            <a:prstGeom prst="rect">
              <a:avLst/>
            </a:prstGeom>
            <a:noFill/>
          </p:spPr>
          <p:txBody>
            <a:bodyPr wrap="square" rtlCol="0">
              <a:spAutoFit/>
            </a:bodyPr>
            <a:lstStyle/>
            <a:p>
              <a:r>
                <a:rPr lang="en-GB"/>
                <a:t>RX1</a:t>
              </a:r>
              <a:endParaRPr lang="en-NZ"/>
            </a:p>
          </p:txBody>
        </p:sp>
        <p:sp>
          <p:nvSpPr>
            <p:cNvPr id="45" name="TextBox 44">
              <a:extLst>
                <a:ext uri="{FF2B5EF4-FFF2-40B4-BE49-F238E27FC236}">
                  <a16:creationId xmlns:a16="http://schemas.microsoft.com/office/drawing/2014/main" id="{0287CC3B-03EB-DE17-FD32-E04D080BDC03}"/>
                </a:ext>
              </a:extLst>
            </p:cNvPr>
            <p:cNvSpPr txBox="1"/>
            <p:nvPr/>
          </p:nvSpPr>
          <p:spPr>
            <a:xfrm>
              <a:off x="774714" y="1772834"/>
              <a:ext cx="2422850" cy="369332"/>
            </a:xfrm>
            <a:prstGeom prst="rect">
              <a:avLst/>
            </a:prstGeom>
            <a:noFill/>
          </p:spPr>
          <p:txBody>
            <a:bodyPr wrap="square" rtlCol="0">
              <a:spAutoFit/>
            </a:bodyPr>
            <a:lstStyle/>
            <a:p>
              <a:r>
                <a:rPr lang="en-GB"/>
                <a:t>Propagation Direction</a:t>
              </a:r>
              <a:endParaRPr lang="en-NZ"/>
            </a:p>
          </p:txBody>
        </p:sp>
        <p:cxnSp>
          <p:nvCxnSpPr>
            <p:cNvPr id="4" name="Straight Connector 3">
              <a:extLst>
                <a:ext uri="{FF2B5EF4-FFF2-40B4-BE49-F238E27FC236}">
                  <a16:creationId xmlns:a16="http://schemas.microsoft.com/office/drawing/2014/main" id="{639F9C40-A607-6C8E-D934-A3CBF79840F2}"/>
                </a:ext>
              </a:extLst>
            </p:cNvPr>
            <p:cNvCxnSpPr>
              <a:cxnSpLocks/>
            </p:cNvCxnSpPr>
            <p:nvPr/>
          </p:nvCxnSpPr>
          <p:spPr>
            <a:xfrm>
              <a:off x="2249424" y="2781884"/>
              <a:ext cx="590671" cy="1524105"/>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6B4C6C6-052C-5EC0-8A5F-B5C301EE8F7D}"/>
                </a:ext>
              </a:extLst>
            </p:cNvPr>
            <p:cNvSpPr txBox="1"/>
            <p:nvPr/>
          </p:nvSpPr>
          <p:spPr>
            <a:xfrm>
              <a:off x="2271827" y="4312141"/>
              <a:ext cx="1242547" cy="369332"/>
            </a:xfrm>
            <a:prstGeom prst="rect">
              <a:avLst/>
            </a:prstGeom>
            <a:noFill/>
          </p:spPr>
          <p:txBody>
            <a:bodyPr wrap="square" rtlCol="0">
              <a:spAutoFit/>
            </a:bodyPr>
            <a:lstStyle/>
            <a:p>
              <a:r>
                <a:rPr lang="en-GB" dirty="0"/>
                <a:t>Broadside</a:t>
              </a:r>
              <a:endParaRPr lang="en-NZ" dirty="0"/>
            </a:p>
          </p:txBody>
        </p:sp>
        <p:cxnSp>
          <p:nvCxnSpPr>
            <p:cNvPr id="32" name="Straight Arrow Connector 31">
              <a:extLst>
                <a:ext uri="{FF2B5EF4-FFF2-40B4-BE49-F238E27FC236}">
                  <a16:creationId xmlns:a16="http://schemas.microsoft.com/office/drawing/2014/main" id="{7CB7B4EC-2778-D14E-B94F-F88EB7736807}"/>
                </a:ext>
              </a:extLst>
            </p:cNvPr>
            <p:cNvCxnSpPr>
              <a:cxnSpLocks/>
              <a:stCxn id="45" idx="2"/>
            </p:cNvCxnSpPr>
            <p:nvPr/>
          </p:nvCxnSpPr>
          <p:spPr>
            <a:xfrm>
              <a:off x="1986139" y="2142166"/>
              <a:ext cx="326457" cy="815841"/>
            </a:xfrm>
            <a:prstGeom prst="straightConnector1">
              <a:avLst/>
            </a:prstGeom>
            <a:ln w="38100">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89965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7B999BD-2CFE-BEF7-6CEB-D5890D545408}"/>
              </a:ext>
            </a:extLst>
          </p:cNvPr>
          <p:cNvSpPr txBox="1">
            <a:spLocks/>
          </p:cNvSpPr>
          <p:nvPr/>
        </p:nvSpPr>
        <p:spPr>
          <a:xfrm>
            <a:off x="435103" y="193444"/>
            <a:ext cx="11155680" cy="90383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a:t>The Challenge of Independent SDRs</a:t>
            </a:r>
            <a:endParaRPr lang="en-NZ"/>
          </a:p>
        </p:txBody>
      </p:sp>
      <p:cxnSp>
        <p:nvCxnSpPr>
          <p:cNvPr id="5" name="Straight Connector 4">
            <a:extLst>
              <a:ext uri="{FF2B5EF4-FFF2-40B4-BE49-F238E27FC236}">
                <a16:creationId xmlns:a16="http://schemas.microsoft.com/office/drawing/2014/main" id="{B7FC7200-9131-12C7-6AED-BFF6AF779A79}"/>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786F6487-E7B1-1A3F-1FB2-6189A9853E67}"/>
              </a:ext>
            </a:extLst>
          </p:cNvPr>
          <p:cNvSpPr/>
          <p:nvPr/>
        </p:nvSpPr>
        <p:spPr>
          <a:xfrm>
            <a:off x="328868" y="4929953"/>
            <a:ext cx="6239188" cy="113833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F3B557-9940-EB7F-C0E0-3ED4038B71B8}"/>
                  </a:ext>
                </a:extLst>
              </p:cNvPr>
              <p:cNvSpPr txBox="1"/>
              <p:nvPr/>
            </p:nvSpPr>
            <p:spPr>
              <a:xfrm>
                <a:off x="581831" y="5194532"/>
                <a:ext cx="5986225" cy="495649"/>
              </a:xfrm>
              <a:prstGeom prst="rect">
                <a:avLst/>
              </a:prstGeom>
              <a:noFill/>
            </p:spPr>
            <p:txBody>
              <a:bodyPr wrap="square" rtlCol="0">
                <a:spAutoFit/>
              </a:bodyPr>
              <a:lstStyle/>
              <a:p>
                <a:pPr/>
                <a14:m>
                  <m:oMathPara xmlns:m="http://schemas.openxmlformats.org/officeDocument/2006/math">
                    <m:oMath>
                      <m:r>
                        <a:rPr lang="el-GR" sz="2400" i="1" smtClean="0">
                          <a:latin typeface="Cambria Math" panose="02040503050406030204" pitchFamily="18" charset="0"/>
                          <a:ea typeface="Cambria Math" panose="02040503050406030204" pitchFamily="18" charset="0"/>
                        </a:rPr>
                        <m:t>𝛥</m:t>
                      </m:r>
                      <m:sSub>
                        <m:sSubPr>
                          <m:ctrlPr>
                            <a:rPr lang="el-GR" sz="2400" i="1" smtClean="0">
                              <a:latin typeface="Cambria Math" panose="02040503050406030204" pitchFamily="18" charset="0"/>
                              <a:ea typeface="Cambria Math" panose="02040503050406030204" pitchFamily="18" charset="0"/>
                            </a:rPr>
                          </m:ctrlPr>
                        </m:sSubPr>
                        <m:e>
                          <m:r>
                            <a:rPr lang="el-GR" sz="2400" i="1" smtClean="0">
                              <a:latin typeface="Cambria Math" panose="02040503050406030204" pitchFamily="18" charset="0"/>
                              <a:ea typeface="Cambria Math" panose="02040503050406030204" pitchFamily="18" charset="0"/>
                            </a:rPr>
                            <m:t>𝜙</m:t>
                          </m:r>
                        </m:e>
                        <m:sub>
                          <m:r>
                            <a:rPr lang="el-GR" sz="2400" i="1" smtClean="0">
                              <a:latin typeface="Cambria Math" panose="02040503050406030204" pitchFamily="18" charset="0"/>
                              <a:ea typeface="Cambria Math" panose="02040503050406030204" pitchFamily="18" charset="0"/>
                            </a:rPr>
                            <m:t>𝑚</m:t>
                          </m:r>
                          <m:r>
                            <m:rPr>
                              <m:sty m:val="p"/>
                            </m:rPr>
                            <a:rPr lang="en-GB" sz="2400" b="0" i="1" smtClean="0">
                              <a:latin typeface="Cambria Math" panose="02040503050406030204" pitchFamily="18" charset="0"/>
                              <a:ea typeface="Cambria Math" panose="02040503050406030204" pitchFamily="18" charset="0"/>
                            </a:rPr>
                            <m:t>easured</m:t>
                          </m:r>
                        </m:sub>
                      </m:sSub>
                      <m:r>
                        <a:rPr lang="en-GB" sz="2400" b="0" i="1" smtClean="0">
                          <a:latin typeface="Cambria Math" panose="02040503050406030204" pitchFamily="18" charset="0"/>
                          <a:ea typeface="Cambria Math" panose="02040503050406030204" pitchFamily="18" charset="0"/>
                        </a:rPr>
                        <m:t> = </m:t>
                      </m:r>
                      <m:sSub>
                        <m:sSubPr>
                          <m:ctrlPr>
                            <a:rPr lang="el-GR" sz="2400" i="1">
                              <a:latin typeface="Cambria Math" panose="02040503050406030204" pitchFamily="18" charset="0"/>
                              <a:ea typeface="Cambria Math" panose="02040503050406030204" pitchFamily="18" charset="0"/>
                            </a:rPr>
                          </m:ctrlPr>
                        </m:sSubPr>
                        <m:e>
                          <m:r>
                            <m:rPr>
                              <m:sty m:val="p"/>
                            </m:rPr>
                            <a:rPr lang="el-GR" sz="2400" i="1">
                              <a:latin typeface="Cambria Math" panose="02040503050406030204" pitchFamily="18" charset="0"/>
                              <a:ea typeface="Cambria Math" panose="02040503050406030204" pitchFamily="18" charset="0"/>
                            </a:rPr>
                            <m:t>Δ</m:t>
                          </m:r>
                          <m:r>
                            <a:rPr lang="el-GR" sz="2400" i="1">
                              <a:latin typeface="Cambria Math" panose="02040503050406030204" pitchFamily="18" charset="0"/>
                              <a:ea typeface="Cambria Math" panose="02040503050406030204" pitchFamily="18" charset="0"/>
                            </a:rPr>
                            <m:t>𝜙</m:t>
                          </m:r>
                        </m:e>
                        <m:sub>
                          <m:r>
                            <m:rPr>
                              <m:sty m:val="p"/>
                            </m:rPr>
                            <a:rPr lang="en-GB" sz="2400" b="0" i="1" smtClean="0">
                              <a:latin typeface="Cambria Math" panose="02040503050406030204" pitchFamily="18" charset="0"/>
                              <a:ea typeface="Cambria Math" panose="02040503050406030204" pitchFamily="18" charset="0"/>
                            </a:rPr>
                            <m:t>AoA</m:t>
                          </m:r>
                        </m:sub>
                      </m:sSub>
                      <m:r>
                        <a:rPr lang="en-GB" sz="2400" b="0" i="1" smtClean="0">
                          <a:latin typeface="Cambria Math" panose="02040503050406030204" pitchFamily="18" charset="0"/>
                          <a:ea typeface="Cambria Math" panose="02040503050406030204" pitchFamily="18" charset="0"/>
                        </a:rPr>
                        <m:t> + </m:t>
                      </m:r>
                      <m:r>
                        <a:rPr lang="el-GR" sz="2400" i="1">
                          <a:latin typeface="Cambria Math" panose="02040503050406030204" pitchFamily="18" charset="0"/>
                          <a:ea typeface="Cambria Math" panose="02040503050406030204" pitchFamily="18" charset="0"/>
                        </a:rPr>
                        <m:t>𝛥</m:t>
                      </m:r>
                      <m:sSub>
                        <m:sSubPr>
                          <m:ctrlPr>
                            <a:rPr lang="el-GR" sz="2400" i="1">
                              <a:latin typeface="Cambria Math" panose="02040503050406030204" pitchFamily="18" charset="0"/>
                              <a:ea typeface="Cambria Math" panose="02040503050406030204" pitchFamily="18" charset="0"/>
                            </a:rPr>
                          </m:ctrlPr>
                        </m:sSubPr>
                        <m:e>
                          <m:r>
                            <a:rPr lang="el-GR" sz="2400" i="1">
                              <a:latin typeface="Cambria Math" panose="02040503050406030204" pitchFamily="18" charset="0"/>
                              <a:ea typeface="Cambria Math" panose="02040503050406030204" pitchFamily="18" charset="0"/>
                            </a:rPr>
                            <m:t>𝜙</m:t>
                          </m:r>
                        </m:e>
                        <m:sub>
                          <m:r>
                            <m:rPr>
                              <m:sty m:val="p"/>
                            </m:rPr>
                            <a:rPr lang="en-GB" sz="2400" b="0" i="1" smtClean="0">
                              <a:latin typeface="Cambria Math" panose="02040503050406030204" pitchFamily="18" charset="0"/>
                              <a:ea typeface="Cambria Math" panose="02040503050406030204" pitchFamily="18" charset="0"/>
                            </a:rPr>
                            <m:t>system</m:t>
                          </m:r>
                        </m:sub>
                      </m:sSub>
                    </m:oMath>
                  </m:oMathPara>
                </a14:m>
                <a:endParaRPr lang="en-GB" sz="2400" b="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29F3B557-9940-EB7F-C0E0-3ED4038B71B8}"/>
                  </a:ext>
                </a:extLst>
              </p:cNvPr>
              <p:cNvSpPr txBox="1">
                <a:spLocks noRot="1" noChangeAspect="1" noMove="1" noResize="1" noEditPoints="1" noAdjustHandles="1" noChangeArrowheads="1" noChangeShapeType="1" noTextEdit="1"/>
              </p:cNvSpPr>
              <p:nvPr/>
            </p:nvSpPr>
            <p:spPr>
              <a:xfrm>
                <a:off x="581831" y="5194532"/>
                <a:ext cx="5986225" cy="495649"/>
              </a:xfrm>
              <a:prstGeom prst="rect">
                <a:avLst/>
              </a:prstGeom>
              <a:blipFill>
                <a:blip r:embed="rId2"/>
                <a:stretch>
                  <a:fillRect b="-11111"/>
                </a:stretch>
              </a:blipFill>
            </p:spPr>
            <p:txBody>
              <a:bodyPr/>
              <a:lstStyle/>
              <a:p>
                <a:r>
                  <a:rPr lang="en-US">
                    <a:noFill/>
                  </a:rPr>
                  <a:t> </a:t>
                </a:r>
              </a:p>
            </p:txBody>
          </p:sp>
        </mc:Fallback>
      </mc:AlternateContent>
      <p:graphicFrame>
        <p:nvGraphicFramePr>
          <p:cNvPr id="31" name="Table 30">
            <a:extLst>
              <a:ext uri="{FF2B5EF4-FFF2-40B4-BE49-F238E27FC236}">
                <a16:creationId xmlns:a16="http://schemas.microsoft.com/office/drawing/2014/main" id="{370779F1-CC56-B2FB-5E42-A18AF9CA5C09}"/>
              </a:ext>
            </a:extLst>
          </p:cNvPr>
          <p:cNvGraphicFramePr>
            <a:graphicFrameLocks noGrp="1"/>
          </p:cNvGraphicFramePr>
          <p:nvPr>
            <p:extLst>
              <p:ext uri="{D42A27DB-BD31-4B8C-83A1-F6EECF244321}">
                <p14:modId xmlns:p14="http://schemas.microsoft.com/office/powerpoint/2010/main" val="19037727"/>
              </p:ext>
            </p:extLst>
          </p:nvPr>
        </p:nvGraphicFramePr>
        <p:xfrm>
          <a:off x="435103" y="1358879"/>
          <a:ext cx="6239188" cy="3414481"/>
        </p:xfrm>
        <a:graphic>
          <a:graphicData uri="http://schemas.openxmlformats.org/drawingml/2006/table">
            <a:tbl>
              <a:tblPr firstRow="1" bandRow="1">
                <a:tableStyleId>{2D5ABB26-0587-4C30-8999-92F81FD0307C}</a:tableStyleId>
              </a:tblPr>
              <a:tblGrid>
                <a:gridCol w="1598970">
                  <a:extLst>
                    <a:ext uri="{9D8B030D-6E8A-4147-A177-3AD203B41FA5}">
                      <a16:colId xmlns:a16="http://schemas.microsoft.com/office/drawing/2014/main" val="2312737676"/>
                    </a:ext>
                  </a:extLst>
                </a:gridCol>
                <a:gridCol w="4640218">
                  <a:extLst>
                    <a:ext uri="{9D8B030D-6E8A-4147-A177-3AD203B41FA5}">
                      <a16:colId xmlns:a16="http://schemas.microsoft.com/office/drawing/2014/main" val="3565306775"/>
                    </a:ext>
                  </a:extLst>
                </a:gridCol>
              </a:tblGrid>
              <a:tr h="773291">
                <a:tc>
                  <a:txBody>
                    <a:bodyPr/>
                    <a:lstStyle/>
                    <a:p>
                      <a:pPr algn="l"/>
                      <a:r>
                        <a:rPr lang="en-GB" b="1"/>
                        <a:t>Offset</a:t>
                      </a:r>
                      <a:endParaRPr lang="en-NZ"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GB" b="1"/>
                        <a:t>Primary Cause</a:t>
                      </a:r>
                      <a:endParaRPr lang="en-NZ"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87455547"/>
                  </a:ext>
                </a:extLst>
              </a:tr>
              <a:tr h="889538">
                <a:tc>
                  <a:txBody>
                    <a:bodyPr/>
                    <a:lstStyle/>
                    <a:p>
                      <a:pPr algn="l"/>
                      <a:r>
                        <a:rPr lang="en-GB" b="1"/>
                        <a:t>Timing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GB"/>
                        <a:t>Independent sample acquisition start times</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45358452"/>
                  </a:ext>
                </a:extLst>
              </a:tr>
              <a:tr h="889538">
                <a:tc>
                  <a:txBody>
                    <a:bodyPr/>
                    <a:lstStyle/>
                    <a:p>
                      <a:pPr algn="l"/>
                      <a:r>
                        <a:rPr lang="en-GB" b="1"/>
                        <a:t>Phase</a:t>
                      </a:r>
                      <a:endParaRPr lang="en-NZ"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GB"/>
                        <a:t>RF signal paths and independent PLL</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6627652"/>
                  </a:ext>
                </a:extLst>
              </a:tr>
              <a:tr h="862114">
                <a:tc>
                  <a:txBody>
                    <a:bodyPr/>
                    <a:lstStyle/>
                    <a:p>
                      <a:pPr algn="l"/>
                      <a:r>
                        <a:rPr lang="en-GB" b="1"/>
                        <a:t>Amplitude</a:t>
                      </a:r>
                      <a:endParaRPr lang="en-NZ"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GB"/>
                        <a:t>Receiver gain and component differences</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4440340"/>
                  </a:ext>
                </a:extLst>
              </a:tr>
            </a:tbl>
          </a:graphicData>
        </a:graphic>
      </p:graphicFrame>
      <p:pic>
        <p:nvPicPr>
          <p:cNvPr id="35" name="Picture 34">
            <a:extLst>
              <a:ext uri="{FF2B5EF4-FFF2-40B4-BE49-F238E27FC236}">
                <a16:creationId xmlns:a16="http://schemas.microsoft.com/office/drawing/2014/main" id="{FBCF9AD3-6D99-412A-A413-66DE1914662A}"/>
              </a:ext>
            </a:extLst>
          </p:cNvPr>
          <p:cNvPicPr>
            <a:picLocks noChangeAspect="1"/>
          </p:cNvPicPr>
          <p:nvPr/>
        </p:nvPicPr>
        <p:blipFill>
          <a:blip r:embed="rId3">
            <a:extLst>
              <a:ext uri="{28A0092B-C50C-407E-A947-70E740481C1C}">
                <a14:useLocalDpi xmlns:a14="http://schemas.microsoft.com/office/drawing/2010/main" val="0"/>
              </a:ext>
            </a:extLst>
          </a:blip>
          <a:srcRect l="2479" t="11973" b="8164"/>
          <a:stretch>
            <a:fillRect/>
          </a:stretch>
        </p:blipFill>
        <p:spPr>
          <a:xfrm>
            <a:off x="7278451" y="1490463"/>
            <a:ext cx="4478446" cy="4920621"/>
          </a:xfrm>
          <a:prstGeom prst="rect">
            <a:avLst/>
          </a:prstGeom>
        </p:spPr>
      </p:pic>
      <p:sp>
        <p:nvSpPr>
          <p:cNvPr id="36" name="TextBox 35">
            <a:extLst>
              <a:ext uri="{FF2B5EF4-FFF2-40B4-BE49-F238E27FC236}">
                <a16:creationId xmlns:a16="http://schemas.microsoft.com/office/drawing/2014/main" id="{09F2CDE5-3241-76C4-B157-7218FB06A755}"/>
              </a:ext>
            </a:extLst>
          </p:cNvPr>
          <p:cNvSpPr txBox="1"/>
          <p:nvPr/>
        </p:nvSpPr>
        <p:spPr>
          <a:xfrm>
            <a:off x="7213136" y="1174213"/>
            <a:ext cx="1026368" cy="369332"/>
          </a:xfrm>
          <a:prstGeom prst="rect">
            <a:avLst/>
          </a:prstGeom>
          <a:noFill/>
        </p:spPr>
        <p:txBody>
          <a:bodyPr wrap="square" rtlCol="0">
            <a:spAutoFit/>
          </a:bodyPr>
          <a:lstStyle/>
          <a:p>
            <a:r>
              <a:rPr lang="en-GB" b="1"/>
              <a:t>Timing</a:t>
            </a:r>
            <a:endParaRPr lang="en-NZ" b="1"/>
          </a:p>
        </p:txBody>
      </p:sp>
      <p:sp>
        <p:nvSpPr>
          <p:cNvPr id="38" name="TextBox 37">
            <a:extLst>
              <a:ext uri="{FF2B5EF4-FFF2-40B4-BE49-F238E27FC236}">
                <a16:creationId xmlns:a16="http://schemas.microsoft.com/office/drawing/2014/main" id="{E2C05A1A-174F-87C0-A64B-43C1CAB56DD8}"/>
              </a:ext>
            </a:extLst>
          </p:cNvPr>
          <p:cNvSpPr txBox="1"/>
          <p:nvPr/>
        </p:nvSpPr>
        <p:spPr>
          <a:xfrm>
            <a:off x="7213136" y="2973787"/>
            <a:ext cx="1026368" cy="369332"/>
          </a:xfrm>
          <a:prstGeom prst="rect">
            <a:avLst/>
          </a:prstGeom>
          <a:noFill/>
        </p:spPr>
        <p:txBody>
          <a:bodyPr wrap="square" rtlCol="0">
            <a:spAutoFit/>
          </a:bodyPr>
          <a:lstStyle/>
          <a:p>
            <a:r>
              <a:rPr lang="en-GB" b="1"/>
              <a:t>Phase</a:t>
            </a:r>
            <a:endParaRPr lang="en-NZ" b="1"/>
          </a:p>
        </p:txBody>
      </p:sp>
      <p:sp>
        <p:nvSpPr>
          <p:cNvPr id="40" name="TextBox 39">
            <a:extLst>
              <a:ext uri="{FF2B5EF4-FFF2-40B4-BE49-F238E27FC236}">
                <a16:creationId xmlns:a16="http://schemas.microsoft.com/office/drawing/2014/main" id="{9472F55B-D66E-0C0D-9828-91A15623EFCB}"/>
              </a:ext>
            </a:extLst>
          </p:cNvPr>
          <p:cNvSpPr txBox="1"/>
          <p:nvPr/>
        </p:nvSpPr>
        <p:spPr>
          <a:xfrm>
            <a:off x="7278451" y="4773361"/>
            <a:ext cx="1333704" cy="369332"/>
          </a:xfrm>
          <a:prstGeom prst="rect">
            <a:avLst/>
          </a:prstGeom>
          <a:noFill/>
        </p:spPr>
        <p:txBody>
          <a:bodyPr wrap="square" rtlCol="0">
            <a:spAutoFit/>
          </a:bodyPr>
          <a:lstStyle/>
          <a:p>
            <a:r>
              <a:rPr lang="en-GB" b="1"/>
              <a:t>Amplitude</a:t>
            </a:r>
            <a:endParaRPr lang="en-NZ" b="1"/>
          </a:p>
        </p:txBody>
      </p:sp>
    </p:spTree>
    <p:extLst>
      <p:ext uri="{BB962C8B-B14F-4D97-AF65-F5344CB8AC3E}">
        <p14:creationId xmlns:p14="http://schemas.microsoft.com/office/powerpoint/2010/main" val="856211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5E50-DA7F-A123-94D0-591C8A02AB0E}"/>
              </a:ext>
            </a:extLst>
          </p:cNvPr>
          <p:cNvSpPr>
            <a:spLocks noGrp="1"/>
          </p:cNvSpPr>
          <p:nvPr>
            <p:ph type="title"/>
          </p:nvPr>
        </p:nvSpPr>
        <p:spPr>
          <a:xfrm>
            <a:off x="279655" y="263754"/>
            <a:ext cx="11155680" cy="723010"/>
          </a:xfrm>
        </p:spPr>
        <p:txBody>
          <a:bodyPr/>
          <a:lstStyle/>
          <a:p>
            <a:pPr algn="ctr"/>
            <a:r>
              <a:rPr lang="en-GB"/>
              <a:t>Initial Offset Calibration</a:t>
            </a:r>
            <a:endParaRPr lang="en-NZ"/>
          </a:p>
        </p:txBody>
      </p:sp>
      <p:sp>
        <p:nvSpPr>
          <p:cNvPr id="4" name="Rectangle: Rounded Corners 3">
            <a:extLst>
              <a:ext uri="{FF2B5EF4-FFF2-40B4-BE49-F238E27FC236}">
                <a16:creationId xmlns:a16="http://schemas.microsoft.com/office/drawing/2014/main" id="{51479F1E-2D92-858B-3671-FD91F60A6606}"/>
              </a:ext>
            </a:extLst>
          </p:cNvPr>
          <p:cNvSpPr/>
          <p:nvPr/>
        </p:nvSpPr>
        <p:spPr>
          <a:xfrm>
            <a:off x="279655" y="1264238"/>
            <a:ext cx="2563368" cy="1055414"/>
          </a:xfrm>
          <a:prstGeom prst="roundRect">
            <a:avLst/>
          </a:prstGeom>
          <a:solidFill>
            <a:schemeClr val="accent6">
              <a:lumMod val="40000"/>
              <a:lumOff val="60000"/>
            </a:schemeClr>
          </a:solidFill>
          <a:ln>
            <a:solidFill>
              <a:schemeClr val="accent3">
                <a:lumMod val="7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b="1">
                <a:solidFill>
                  <a:schemeClr val="tx1"/>
                </a:solidFill>
              </a:rPr>
              <a:t>Calibration</a:t>
            </a:r>
            <a:endParaRPr lang="en-NZ" sz="2400" b="1">
              <a:solidFill>
                <a:schemeClr val="tx1"/>
              </a:solidFill>
            </a:endParaRPr>
          </a:p>
        </p:txBody>
      </p:sp>
      <p:sp>
        <p:nvSpPr>
          <p:cNvPr id="6" name="Rectangle: Rounded Corners 5">
            <a:extLst>
              <a:ext uri="{FF2B5EF4-FFF2-40B4-BE49-F238E27FC236}">
                <a16:creationId xmlns:a16="http://schemas.microsoft.com/office/drawing/2014/main" id="{479C513A-ED9B-ADA6-F129-516FF8713A48}"/>
              </a:ext>
            </a:extLst>
          </p:cNvPr>
          <p:cNvSpPr/>
          <p:nvPr/>
        </p:nvSpPr>
        <p:spPr>
          <a:xfrm>
            <a:off x="3164589" y="1264238"/>
            <a:ext cx="2666998" cy="1055414"/>
          </a:xfrm>
          <a:prstGeom prst="roundRect">
            <a:avLst/>
          </a:prstGeom>
          <a:solidFill>
            <a:schemeClr val="tx2">
              <a:lumMod val="10000"/>
              <a:lumOff val="9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Dual SDR Synchronisation</a:t>
            </a:r>
            <a:endParaRPr lang="en-NZ" sz="2400">
              <a:solidFill>
                <a:schemeClr val="tx1"/>
              </a:solidFill>
            </a:endParaRPr>
          </a:p>
        </p:txBody>
      </p:sp>
      <p:sp>
        <p:nvSpPr>
          <p:cNvPr id="8" name="Rectangle: Rounded Corners 7">
            <a:extLst>
              <a:ext uri="{FF2B5EF4-FFF2-40B4-BE49-F238E27FC236}">
                <a16:creationId xmlns:a16="http://schemas.microsoft.com/office/drawing/2014/main" id="{F7F02BD7-53CD-39F1-C29D-923ADA3BFE3B}"/>
              </a:ext>
            </a:extLst>
          </p:cNvPr>
          <p:cNvSpPr/>
          <p:nvPr/>
        </p:nvSpPr>
        <p:spPr>
          <a:xfrm>
            <a:off x="6153153" y="1264238"/>
            <a:ext cx="2666998" cy="1055414"/>
          </a:xfrm>
          <a:prstGeom prst="roundRect">
            <a:avLst/>
          </a:prstGeom>
          <a:solidFill>
            <a:schemeClr val="tx2">
              <a:lumMod val="10000"/>
              <a:lumOff val="9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RF Switch Board</a:t>
            </a:r>
            <a:endParaRPr lang="en-NZ" sz="2400">
              <a:solidFill>
                <a:schemeClr val="tx1"/>
              </a:solidFill>
            </a:endParaRPr>
          </a:p>
        </p:txBody>
      </p:sp>
      <p:sp>
        <p:nvSpPr>
          <p:cNvPr id="10" name="Rectangle: Rounded Corners 9">
            <a:extLst>
              <a:ext uri="{FF2B5EF4-FFF2-40B4-BE49-F238E27FC236}">
                <a16:creationId xmlns:a16="http://schemas.microsoft.com/office/drawing/2014/main" id="{4D10F41F-37F4-1A8B-CF19-C0C3FA215077}"/>
              </a:ext>
            </a:extLst>
          </p:cNvPr>
          <p:cNvSpPr/>
          <p:nvPr/>
        </p:nvSpPr>
        <p:spPr>
          <a:xfrm>
            <a:off x="9141717" y="1264238"/>
            <a:ext cx="2666998" cy="1055414"/>
          </a:xfrm>
          <a:prstGeom prst="roundRect">
            <a:avLst/>
          </a:prstGeom>
          <a:solidFill>
            <a:schemeClr val="tx2">
              <a:lumMod val="10000"/>
              <a:lumOff val="9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Angle-of-Arrival (</a:t>
            </a:r>
            <a:r>
              <a:rPr lang="en-GB" sz="2400" err="1">
                <a:solidFill>
                  <a:schemeClr val="tx1"/>
                </a:solidFill>
              </a:rPr>
              <a:t>AoA</a:t>
            </a:r>
            <a:r>
              <a:rPr lang="en-GB" sz="2400">
                <a:solidFill>
                  <a:schemeClr val="tx1"/>
                </a:solidFill>
              </a:rPr>
              <a:t>)</a:t>
            </a:r>
            <a:endParaRPr lang="en-NZ" sz="2400">
              <a:solidFill>
                <a:schemeClr val="tx1"/>
              </a:solidFill>
            </a:endParaRPr>
          </a:p>
        </p:txBody>
      </p:sp>
      <p:cxnSp>
        <p:nvCxnSpPr>
          <p:cNvPr id="14" name="Straight Connector 13">
            <a:extLst>
              <a:ext uri="{FF2B5EF4-FFF2-40B4-BE49-F238E27FC236}">
                <a16:creationId xmlns:a16="http://schemas.microsoft.com/office/drawing/2014/main" id="{5479DC36-4F4E-4E5E-14A1-C1091B2A7547}"/>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8421716-33D7-EEEF-465B-09D99E833E14}"/>
              </a:ext>
            </a:extLst>
          </p:cNvPr>
          <p:cNvCxnSpPr>
            <a:stCxn id="4" idx="3"/>
            <a:endCxn id="6" idx="1"/>
          </p:cNvCxnSpPr>
          <p:nvPr/>
        </p:nvCxnSpPr>
        <p:spPr>
          <a:xfrm>
            <a:off x="2843023"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306D78AF-61CC-B56D-FF09-F8D96C6EC108}"/>
              </a:ext>
            </a:extLst>
          </p:cNvPr>
          <p:cNvCxnSpPr>
            <a:cxnSpLocks/>
          </p:cNvCxnSpPr>
          <p:nvPr/>
        </p:nvCxnSpPr>
        <p:spPr>
          <a:xfrm>
            <a:off x="5831587" y="1766878"/>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056E4A26-5AF0-CBCD-5812-731A52A13386}"/>
              </a:ext>
            </a:extLst>
          </p:cNvPr>
          <p:cNvCxnSpPr>
            <a:cxnSpLocks/>
          </p:cNvCxnSpPr>
          <p:nvPr/>
        </p:nvCxnSpPr>
        <p:spPr>
          <a:xfrm>
            <a:off x="8820151"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sp>
        <p:nvSpPr>
          <p:cNvPr id="57" name="Rectangle 56">
            <a:extLst>
              <a:ext uri="{FF2B5EF4-FFF2-40B4-BE49-F238E27FC236}">
                <a16:creationId xmlns:a16="http://schemas.microsoft.com/office/drawing/2014/main" id="{8FDB2EC6-B272-37F4-612A-757D1AA45D8C}"/>
              </a:ext>
            </a:extLst>
          </p:cNvPr>
          <p:cNvSpPr/>
          <p:nvPr/>
        </p:nvSpPr>
        <p:spPr>
          <a:xfrm>
            <a:off x="279655" y="2578608"/>
            <a:ext cx="5551932" cy="3977637"/>
          </a:xfrm>
          <a:prstGeom prst="rect">
            <a:avLst/>
          </a:prstGeom>
          <a:noFill/>
          <a:ln w="28575">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grpSp>
        <p:nvGrpSpPr>
          <p:cNvPr id="70" name="Group 69">
            <a:extLst>
              <a:ext uri="{FF2B5EF4-FFF2-40B4-BE49-F238E27FC236}">
                <a16:creationId xmlns:a16="http://schemas.microsoft.com/office/drawing/2014/main" id="{4BC03287-7E54-DF23-C4A1-A72AFA220E11}"/>
              </a:ext>
            </a:extLst>
          </p:cNvPr>
          <p:cNvGrpSpPr/>
          <p:nvPr/>
        </p:nvGrpSpPr>
        <p:grpSpPr>
          <a:xfrm>
            <a:off x="1005839" y="3668028"/>
            <a:ext cx="3977641" cy="2092690"/>
            <a:chOff x="1005839" y="3668028"/>
            <a:chExt cx="3300985" cy="1717790"/>
          </a:xfrm>
        </p:grpSpPr>
        <p:grpSp>
          <p:nvGrpSpPr>
            <p:cNvPr id="56" name="Group 55">
              <a:extLst>
                <a:ext uri="{FF2B5EF4-FFF2-40B4-BE49-F238E27FC236}">
                  <a16:creationId xmlns:a16="http://schemas.microsoft.com/office/drawing/2014/main" id="{24331EE0-37D6-0749-0880-036BE7DF91BE}"/>
                </a:ext>
              </a:extLst>
            </p:cNvPr>
            <p:cNvGrpSpPr/>
            <p:nvPr/>
          </p:nvGrpSpPr>
          <p:grpSpPr>
            <a:xfrm rot="5400000">
              <a:off x="1148212" y="3525655"/>
              <a:ext cx="1717790" cy="2002535"/>
              <a:chOff x="6961634" y="3324123"/>
              <a:chExt cx="1398107" cy="1607383"/>
            </a:xfrm>
          </p:grpSpPr>
          <p:pic>
            <p:nvPicPr>
              <p:cNvPr id="23" name="Picture 22">
                <a:extLst>
                  <a:ext uri="{FF2B5EF4-FFF2-40B4-BE49-F238E27FC236}">
                    <a16:creationId xmlns:a16="http://schemas.microsoft.com/office/drawing/2014/main" id="{3B9D5F09-E6B5-7696-C5A2-91B02213D5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1634" y="3324123"/>
                <a:ext cx="1234308" cy="1607383"/>
              </a:xfrm>
              <a:prstGeom prst="rect">
                <a:avLst/>
              </a:prstGeom>
            </p:spPr>
          </p:pic>
          <p:sp>
            <p:nvSpPr>
              <p:cNvPr id="37" name="TextBox 36">
                <a:extLst>
                  <a:ext uri="{FF2B5EF4-FFF2-40B4-BE49-F238E27FC236}">
                    <a16:creationId xmlns:a16="http://schemas.microsoft.com/office/drawing/2014/main" id="{F283D55E-C213-9FDA-EA7F-61D2D5B2D5FB}"/>
                  </a:ext>
                </a:extLst>
              </p:cNvPr>
              <p:cNvSpPr txBox="1"/>
              <p:nvPr/>
            </p:nvSpPr>
            <p:spPr>
              <a:xfrm rot="16200000">
                <a:off x="7558801" y="3930188"/>
                <a:ext cx="1274282" cy="327598"/>
              </a:xfrm>
              <a:prstGeom prst="rect">
                <a:avLst/>
              </a:prstGeom>
              <a:noFill/>
            </p:spPr>
            <p:txBody>
              <a:bodyPr wrap="square" rtlCol="0">
                <a:spAutoFit/>
              </a:bodyPr>
              <a:lstStyle/>
              <a:p>
                <a:r>
                  <a:rPr lang="en-GB" sz="1600" b="1"/>
                  <a:t>Master SDR</a:t>
                </a:r>
                <a:endParaRPr lang="en-NZ" sz="1600" b="1"/>
              </a:p>
            </p:txBody>
          </p:sp>
        </p:grpSp>
        <p:cxnSp>
          <p:nvCxnSpPr>
            <p:cNvPr id="59" name="Straight Connector 58">
              <a:extLst>
                <a:ext uri="{FF2B5EF4-FFF2-40B4-BE49-F238E27FC236}">
                  <a16:creationId xmlns:a16="http://schemas.microsoft.com/office/drawing/2014/main" id="{312454E1-3F16-8F8C-A722-453F5710AB8C}"/>
                </a:ext>
              </a:extLst>
            </p:cNvPr>
            <p:cNvCxnSpPr>
              <a:cxnSpLocks/>
            </p:cNvCxnSpPr>
            <p:nvPr/>
          </p:nvCxnSpPr>
          <p:spPr>
            <a:xfrm>
              <a:off x="2907031" y="4315968"/>
              <a:ext cx="1399793"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B3B36645-3964-3D71-4616-1474216F4680}"/>
                </a:ext>
              </a:extLst>
            </p:cNvPr>
            <p:cNvCxnSpPr>
              <a:cxnSpLocks/>
            </p:cNvCxnSpPr>
            <p:nvPr/>
          </p:nvCxnSpPr>
          <p:spPr>
            <a:xfrm rot="10800000">
              <a:off x="2916936" y="4096512"/>
              <a:ext cx="1389888" cy="210312"/>
            </a:xfrm>
            <a:prstGeom prst="bentConnector3">
              <a:avLst>
                <a:gd name="adj1" fmla="val 0"/>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82023D71-4257-33F6-E2D5-F310F70501F0}"/>
                </a:ext>
              </a:extLst>
            </p:cNvPr>
            <p:cNvSpPr txBox="1"/>
            <p:nvPr/>
          </p:nvSpPr>
          <p:spPr>
            <a:xfrm>
              <a:off x="3003806" y="4362827"/>
              <a:ext cx="777240" cy="369332"/>
            </a:xfrm>
            <a:prstGeom prst="rect">
              <a:avLst/>
            </a:prstGeom>
            <a:noFill/>
          </p:spPr>
          <p:txBody>
            <a:bodyPr wrap="square" rtlCol="0">
              <a:spAutoFit/>
            </a:bodyPr>
            <a:lstStyle/>
            <a:p>
              <a:r>
                <a:rPr lang="en-GB"/>
                <a:t>TX0</a:t>
              </a:r>
              <a:endParaRPr lang="en-NZ"/>
            </a:p>
          </p:txBody>
        </p:sp>
        <p:sp>
          <p:nvSpPr>
            <p:cNvPr id="67" name="TextBox 66">
              <a:extLst>
                <a:ext uri="{FF2B5EF4-FFF2-40B4-BE49-F238E27FC236}">
                  <a16:creationId xmlns:a16="http://schemas.microsoft.com/office/drawing/2014/main" id="{3D62A40C-96B3-77C1-3838-E2D268120705}"/>
                </a:ext>
              </a:extLst>
            </p:cNvPr>
            <p:cNvSpPr txBox="1"/>
            <p:nvPr/>
          </p:nvSpPr>
          <p:spPr>
            <a:xfrm>
              <a:off x="2993516" y="3730105"/>
              <a:ext cx="777240" cy="369332"/>
            </a:xfrm>
            <a:prstGeom prst="rect">
              <a:avLst/>
            </a:prstGeom>
            <a:noFill/>
          </p:spPr>
          <p:txBody>
            <a:bodyPr wrap="square" rtlCol="0">
              <a:spAutoFit/>
            </a:bodyPr>
            <a:lstStyle/>
            <a:p>
              <a:r>
                <a:rPr lang="en-GB"/>
                <a:t>RX0</a:t>
              </a:r>
              <a:endParaRPr lang="en-NZ"/>
            </a:p>
          </p:txBody>
        </p:sp>
      </p:grpSp>
      <p:sp>
        <p:nvSpPr>
          <p:cNvPr id="72" name="TextBox 71">
            <a:extLst>
              <a:ext uri="{FF2B5EF4-FFF2-40B4-BE49-F238E27FC236}">
                <a16:creationId xmlns:a16="http://schemas.microsoft.com/office/drawing/2014/main" id="{CC555D91-F491-09E7-8880-C1AA26FB4F5C}"/>
              </a:ext>
            </a:extLst>
          </p:cNvPr>
          <p:cNvSpPr txBox="1"/>
          <p:nvPr/>
        </p:nvSpPr>
        <p:spPr>
          <a:xfrm>
            <a:off x="6360415" y="2644982"/>
            <a:ext cx="1517904" cy="369332"/>
          </a:xfrm>
          <a:prstGeom prst="rect">
            <a:avLst/>
          </a:prstGeom>
          <a:noFill/>
        </p:spPr>
        <p:txBody>
          <a:bodyPr wrap="square" rtlCol="0">
            <a:spAutoFit/>
          </a:bodyPr>
          <a:lstStyle/>
          <a:p>
            <a:r>
              <a:rPr lang="en-GB" b="1"/>
              <a:t>Purpose</a:t>
            </a:r>
            <a:endParaRPr lang="en-NZ" b="1"/>
          </a:p>
        </p:txBody>
      </p:sp>
      <p:sp>
        <p:nvSpPr>
          <p:cNvPr id="73" name="TextBox 72">
            <a:extLst>
              <a:ext uri="{FF2B5EF4-FFF2-40B4-BE49-F238E27FC236}">
                <a16:creationId xmlns:a16="http://schemas.microsoft.com/office/drawing/2014/main" id="{534D33F3-93C5-167E-7392-F93F6C70DD99}"/>
              </a:ext>
            </a:extLst>
          </p:cNvPr>
          <p:cNvSpPr txBox="1"/>
          <p:nvPr/>
        </p:nvSpPr>
        <p:spPr>
          <a:xfrm>
            <a:off x="6360415" y="3014314"/>
            <a:ext cx="5339335" cy="646331"/>
          </a:xfrm>
          <a:prstGeom prst="rect">
            <a:avLst/>
          </a:prstGeom>
          <a:noFill/>
        </p:spPr>
        <p:txBody>
          <a:bodyPr wrap="square" rtlCol="0">
            <a:spAutoFit/>
          </a:bodyPr>
          <a:lstStyle/>
          <a:p>
            <a:pPr marL="285750" indent="-285750">
              <a:buFont typeface="Courier New" panose="02070309020205020404" pitchFamily="49" charset="0"/>
              <a:buChar char="o"/>
            </a:pPr>
            <a:r>
              <a:rPr lang="en-GB"/>
              <a:t>Establish a method for estimating and correcting relative timing, amplitude, and phase offsets.</a:t>
            </a:r>
            <a:endParaRPr lang="en-NZ"/>
          </a:p>
        </p:txBody>
      </p:sp>
      <p:cxnSp>
        <p:nvCxnSpPr>
          <p:cNvPr id="75" name="Straight Connector 74">
            <a:extLst>
              <a:ext uri="{FF2B5EF4-FFF2-40B4-BE49-F238E27FC236}">
                <a16:creationId xmlns:a16="http://schemas.microsoft.com/office/drawing/2014/main" id="{67F4567C-C4B2-ECD5-8D11-6A5D9945E5DE}"/>
              </a:ext>
            </a:extLst>
          </p:cNvPr>
          <p:cNvCxnSpPr/>
          <p:nvPr/>
        </p:nvCxnSpPr>
        <p:spPr>
          <a:xfrm>
            <a:off x="6492240" y="4053719"/>
            <a:ext cx="4943095" cy="0"/>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F153FC93-C7D1-8080-EB1C-1979BF183015}"/>
              </a:ext>
            </a:extLst>
          </p:cNvPr>
          <p:cNvSpPr txBox="1"/>
          <p:nvPr/>
        </p:nvSpPr>
        <p:spPr>
          <a:xfrm>
            <a:off x="6433566" y="4303507"/>
            <a:ext cx="2116073" cy="369332"/>
          </a:xfrm>
          <a:prstGeom prst="rect">
            <a:avLst/>
          </a:prstGeom>
          <a:noFill/>
        </p:spPr>
        <p:txBody>
          <a:bodyPr wrap="square" rtlCol="0">
            <a:spAutoFit/>
          </a:bodyPr>
          <a:lstStyle/>
          <a:p>
            <a:r>
              <a:rPr lang="en-GB" b="1"/>
              <a:t>Section Overview</a:t>
            </a:r>
            <a:endParaRPr lang="en-NZ" b="1"/>
          </a:p>
        </p:txBody>
      </p:sp>
      <p:sp>
        <p:nvSpPr>
          <p:cNvPr id="79" name="TextBox 78">
            <a:extLst>
              <a:ext uri="{FF2B5EF4-FFF2-40B4-BE49-F238E27FC236}">
                <a16:creationId xmlns:a16="http://schemas.microsoft.com/office/drawing/2014/main" id="{30ADD635-6406-6F61-4732-47AEA8CED5E9}"/>
              </a:ext>
            </a:extLst>
          </p:cNvPr>
          <p:cNvSpPr txBox="1"/>
          <p:nvPr/>
        </p:nvSpPr>
        <p:spPr>
          <a:xfrm>
            <a:off x="6433567" y="4672839"/>
            <a:ext cx="5339335" cy="883383"/>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GB"/>
              <a:t>Calibration algorithm development</a:t>
            </a:r>
          </a:p>
          <a:p>
            <a:pPr marL="285750" indent="-285750">
              <a:lnSpc>
                <a:spcPct val="150000"/>
              </a:lnSpc>
              <a:buFont typeface="Courier New" panose="02070309020205020404" pitchFamily="49" charset="0"/>
              <a:buChar char="o"/>
            </a:pPr>
            <a:r>
              <a:rPr lang="en-GB"/>
              <a:t>Single-SDR hardware testing</a:t>
            </a:r>
            <a:endParaRPr lang="en-NZ"/>
          </a:p>
        </p:txBody>
      </p:sp>
      <p:sp>
        <p:nvSpPr>
          <p:cNvPr id="81" name="TextBox 80">
            <a:extLst>
              <a:ext uri="{FF2B5EF4-FFF2-40B4-BE49-F238E27FC236}">
                <a16:creationId xmlns:a16="http://schemas.microsoft.com/office/drawing/2014/main" id="{8647CA50-8045-8D55-DC7D-ACB053F820F4}"/>
              </a:ext>
            </a:extLst>
          </p:cNvPr>
          <p:cNvSpPr txBox="1"/>
          <p:nvPr/>
        </p:nvSpPr>
        <p:spPr>
          <a:xfrm>
            <a:off x="309736" y="2655337"/>
            <a:ext cx="3103625" cy="369332"/>
          </a:xfrm>
          <a:prstGeom prst="rect">
            <a:avLst/>
          </a:prstGeom>
          <a:noFill/>
        </p:spPr>
        <p:txBody>
          <a:bodyPr wrap="square" rtlCol="0">
            <a:spAutoFit/>
          </a:bodyPr>
          <a:lstStyle/>
          <a:p>
            <a:r>
              <a:rPr lang="en-GB" b="1"/>
              <a:t>Hardware Configuration</a:t>
            </a:r>
            <a:endParaRPr lang="en-NZ" b="1"/>
          </a:p>
        </p:txBody>
      </p:sp>
    </p:spTree>
    <p:extLst>
      <p:ext uri="{BB962C8B-B14F-4D97-AF65-F5344CB8AC3E}">
        <p14:creationId xmlns:p14="http://schemas.microsoft.com/office/powerpoint/2010/main" val="168825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262F-78BF-3650-EA5E-9ADBE92EC6CE}"/>
              </a:ext>
            </a:extLst>
          </p:cNvPr>
          <p:cNvSpPr>
            <a:spLocks noGrp="1"/>
          </p:cNvSpPr>
          <p:nvPr>
            <p:ph type="title"/>
          </p:nvPr>
        </p:nvSpPr>
        <p:spPr>
          <a:xfrm>
            <a:off x="664464" y="215188"/>
            <a:ext cx="10515600" cy="860171"/>
          </a:xfrm>
        </p:spPr>
        <p:txBody>
          <a:bodyPr/>
          <a:lstStyle/>
          <a:p>
            <a:pPr algn="ctr"/>
            <a:r>
              <a:rPr lang="en-GB"/>
              <a:t>Initial Calibration Development</a:t>
            </a:r>
            <a:endParaRPr lang="en-NZ"/>
          </a:p>
        </p:txBody>
      </p:sp>
      <p:sp>
        <p:nvSpPr>
          <p:cNvPr id="7" name="Rectangle: Rounded Corners 6">
            <a:extLst>
              <a:ext uri="{FF2B5EF4-FFF2-40B4-BE49-F238E27FC236}">
                <a16:creationId xmlns:a16="http://schemas.microsoft.com/office/drawing/2014/main" id="{4F8DC01F-FBC0-769D-112D-3D0E001FA63C}"/>
              </a:ext>
            </a:extLst>
          </p:cNvPr>
          <p:cNvSpPr/>
          <p:nvPr/>
        </p:nvSpPr>
        <p:spPr>
          <a:xfrm>
            <a:off x="822960" y="1399032"/>
            <a:ext cx="3456432" cy="860171"/>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Cross-Correlation</a:t>
            </a:r>
          </a:p>
          <a:p>
            <a:pPr algn="ctr"/>
            <a:r>
              <a:rPr lang="en-GB" sz="1600">
                <a:solidFill>
                  <a:schemeClr val="tx1"/>
                </a:solidFill>
              </a:rPr>
              <a:t>Estimate the integer sample delay</a:t>
            </a:r>
            <a:endParaRPr lang="en-NZ" sz="1600">
              <a:solidFill>
                <a:schemeClr val="tx1"/>
              </a:solidFill>
            </a:endParaRPr>
          </a:p>
        </p:txBody>
      </p:sp>
      <p:sp>
        <p:nvSpPr>
          <p:cNvPr id="9" name="Rectangle: Rounded Corners 8">
            <a:extLst>
              <a:ext uri="{FF2B5EF4-FFF2-40B4-BE49-F238E27FC236}">
                <a16:creationId xmlns:a16="http://schemas.microsoft.com/office/drawing/2014/main" id="{C3EBD3E8-1554-2D53-4340-E4B5E85C9E44}"/>
              </a:ext>
            </a:extLst>
          </p:cNvPr>
          <p:cNvSpPr/>
          <p:nvPr/>
        </p:nvSpPr>
        <p:spPr>
          <a:xfrm>
            <a:off x="822960" y="2648369"/>
            <a:ext cx="3456432" cy="860171"/>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Phase-Fitting</a:t>
            </a:r>
          </a:p>
          <a:p>
            <a:pPr algn="ctr"/>
            <a:r>
              <a:rPr lang="en-GB" sz="1600">
                <a:solidFill>
                  <a:schemeClr val="tx1"/>
                </a:solidFill>
              </a:rPr>
              <a:t>Estimate the fractional delay</a:t>
            </a:r>
            <a:endParaRPr lang="en-NZ" sz="1600">
              <a:solidFill>
                <a:schemeClr val="tx1"/>
              </a:solidFill>
            </a:endParaRPr>
          </a:p>
        </p:txBody>
      </p:sp>
      <p:sp>
        <p:nvSpPr>
          <p:cNvPr id="11" name="Rectangle: Rounded Corners 10">
            <a:extLst>
              <a:ext uri="{FF2B5EF4-FFF2-40B4-BE49-F238E27FC236}">
                <a16:creationId xmlns:a16="http://schemas.microsoft.com/office/drawing/2014/main" id="{557A2E13-BEA1-D8D5-D8F1-70D8C34D0878}"/>
              </a:ext>
            </a:extLst>
          </p:cNvPr>
          <p:cNvSpPr/>
          <p:nvPr/>
        </p:nvSpPr>
        <p:spPr>
          <a:xfrm>
            <a:off x="822960" y="3897706"/>
            <a:ext cx="3456432" cy="860171"/>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Least-Squares Complex Gain</a:t>
            </a:r>
          </a:p>
          <a:p>
            <a:pPr algn="ctr"/>
            <a:r>
              <a:rPr lang="en-GB" sz="1600">
                <a:solidFill>
                  <a:schemeClr val="tx1"/>
                </a:solidFill>
              </a:rPr>
              <a:t>Estimate relative amplitude and phase</a:t>
            </a:r>
            <a:endParaRPr lang="en-NZ" sz="1600">
              <a:solidFill>
                <a:schemeClr val="tx1"/>
              </a:solidFill>
            </a:endParaRPr>
          </a:p>
        </p:txBody>
      </p:sp>
      <p:sp>
        <p:nvSpPr>
          <p:cNvPr id="13" name="Rectangle: Rounded Corners 12">
            <a:extLst>
              <a:ext uri="{FF2B5EF4-FFF2-40B4-BE49-F238E27FC236}">
                <a16:creationId xmlns:a16="http://schemas.microsoft.com/office/drawing/2014/main" id="{53BE549B-EE25-2F02-64B7-BB8AF0050512}"/>
              </a:ext>
            </a:extLst>
          </p:cNvPr>
          <p:cNvSpPr/>
          <p:nvPr/>
        </p:nvSpPr>
        <p:spPr>
          <a:xfrm>
            <a:off x="822960" y="5147043"/>
            <a:ext cx="3456432" cy="860171"/>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Apply Correction</a:t>
            </a:r>
          </a:p>
          <a:p>
            <a:pPr algn="ctr"/>
            <a:r>
              <a:rPr lang="en-GB" sz="1600">
                <a:solidFill>
                  <a:schemeClr val="tx1"/>
                </a:solidFill>
              </a:rPr>
              <a:t>Align received IQ signal to the reference</a:t>
            </a:r>
            <a:endParaRPr lang="en-NZ" sz="1600">
              <a:solidFill>
                <a:schemeClr val="tx1"/>
              </a:solidFill>
            </a:endParaRPr>
          </a:p>
        </p:txBody>
      </p:sp>
      <p:cxnSp>
        <p:nvCxnSpPr>
          <p:cNvPr id="15" name="Straight Arrow Connector 14">
            <a:extLst>
              <a:ext uri="{FF2B5EF4-FFF2-40B4-BE49-F238E27FC236}">
                <a16:creationId xmlns:a16="http://schemas.microsoft.com/office/drawing/2014/main" id="{B0C409F2-360B-CB57-83F7-FB9054B87B51}"/>
              </a:ext>
            </a:extLst>
          </p:cNvPr>
          <p:cNvCxnSpPr>
            <a:stCxn id="7" idx="2"/>
            <a:endCxn id="9" idx="0"/>
          </p:cNvCxnSpPr>
          <p:nvPr/>
        </p:nvCxnSpPr>
        <p:spPr>
          <a:xfrm>
            <a:off x="2551176" y="2259203"/>
            <a:ext cx="0" cy="38916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DA38BB7-78B3-6BEF-29C6-1BD51B7CF94A}"/>
              </a:ext>
            </a:extLst>
          </p:cNvPr>
          <p:cNvCxnSpPr>
            <a:stCxn id="9" idx="2"/>
            <a:endCxn id="11" idx="0"/>
          </p:cNvCxnSpPr>
          <p:nvPr/>
        </p:nvCxnSpPr>
        <p:spPr>
          <a:xfrm>
            <a:off x="2551176" y="3508540"/>
            <a:ext cx="0" cy="38916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0EAE06B-641D-5B01-0089-401648DD7296}"/>
              </a:ext>
            </a:extLst>
          </p:cNvPr>
          <p:cNvCxnSpPr>
            <a:stCxn id="11" idx="2"/>
            <a:endCxn id="13" idx="0"/>
          </p:cNvCxnSpPr>
          <p:nvPr/>
        </p:nvCxnSpPr>
        <p:spPr>
          <a:xfrm>
            <a:off x="2551176" y="4757877"/>
            <a:ext cx="0" cy="38916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1FD471A-55C9-C26F-F24D-17C2E4B51447}"/>
              </a:ext>
            </a:extLst>
          </p:cNvPr>
          <p:cNvCxnSpPr>
            <a:cxnSpLocks/>
          </p:cNvCxnSpPr>
          <p:nvPr/>
        </p:nvCxnSpPr>
        <p:spPr>
          <a:xfrm>
            <a:off x="457200" y="969266"/>
            <a:ext cx="11155680" cy="0"/>
          </a:xfrm>
          <a:prstGeom prst="line">
            <a:avLst/>
          </a:prstGeom>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C6D90563-6CB0-3047-E59C-6B17E82BC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798" y="1316736"/>
            <a:ext cx="7475220" cy="4983480"/>
          </a:xfrm>
          <a:prstGeom prst="rect">
            <a:avLst/>
          </a:prstGeom>
        </p:spPr>
      </p:pic>
    </p:spTree>
    <p:extLst>
      <p:ext uri="{BB962C8B-B14F-4D97-AF65-F5344CB8AC3E}">
        <p14:creationId xmlns:p14="http://schemas.microsoft.com/office/powerpoint/2010/main" val="154251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BB03E-7441-9F9C-AC55-4DF7B91D9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EFC3C-7FB4-860A-A7A6-9E3CF17545F7}"/>
              </a:ext>
            </a:extLst>
          </p:cNvPr>
          <p:cNvSpPr>
            <a:spLocks noGrp="1"/>
          </p:cNvSpPr>
          <p:nvPr>
            <p:ph type="title"/>
          </p:nvPr>
        </p:nvSpPr>
        <p:spPr>
          <a:xfrm>
            <a:off x="279655" y="263754"/>
            <a:ext cx="11155680" cy="723010"/>
          </a:xfrm>
        </p:spPr>
        <p:txBody>
          <a:bodyPr/>
          <a:lstStyle/>
          <a:p>
            <a:pPr algn="ctr"/>
            <a:r>
              <a:rPr lang="en-GB"/>
              <a:t>SDR Synchronisation</a:t>
            </a:r>
            <a:endParaRPr lang="en-NZ"/>
          </a:p>
        </p:txBody>
      </p:sp>
      <p:sp>
        <p:nvSpPr>
          <p:cNvPr id="4" name="Rectangle: Rounded Corners 3">
            <a:extLst>
              <a:ext uri="{FF2B5EF4-FFF2-40B4-BE49-F238E27FC236}">
                <a16:creationId xmlns:a16="http://schemas.microsoft.com/office/drawing/2014/main" id="{FF8E4C84-D527-7A3F-F61C-E70E8233C2F0}"/>
              </a:ext>
            </a:extLst>
          </p:cNvPr>
          <p:cNvSpPr/>
          <p:nvPr/>
        </p:nvSpPr>
        <p:spPr>
          <a:xfrm>
            <a:off x="279655" y="1264238"/>
            <a:ext cx="2563368" cy="1055414"/>
          </a:xfrm>
          <a:prstGeom prst="roundRect">
            <a:avLst/>
          </a:prstGeom>
          <a:solidFill>
            <a:schemeClr val="tx2">
              <a:lumMod val="10000"/>
              <a:lumOff val="90000"/>
            </a:schemeClr>
          </a:solidFill>
          <a:ln>
            <a:solidFill>
              <a:schemeClr val="tx2">
                <a:lumMod val="90000"/>
                <a:lumOff val="1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Calibration</a:t>
            </a:r>
            <a:endParaRPr lang="en-NZ" sz="2400">
              <a:solidFill>
                <a:schemeClr val="tx1"/>
              </a:solidFill>
            </a:endParaRPr>
          </a:p>
        </p:txBody>
      </p:sp>
      <p:sp>
        <p:nvSpPr>
          <p:cNvPr id="6" name="Rectangle: Rounded Corners 5">
            <a:extLst>
              <a:ext uri="{FF2B5EF4-FFF2-40B4-BE49-F238E27FC236}">
                <a16:creationId xmlns:a16="http://schemas.microsoft.com/office/drawing/2014/main" id="{50166559-B636-01E2-F11D-9404F3302E88}"/>
              </a:ext>
            </a:extLst>
          </p:cNvPr>
          <p:cNvSpPr/>
          <p:nvPr/>
        </p:nvSpPr>
        <p:spPr>
          <a:xfrm>
            <a:off x="3164589" y="1264238"/>
            <a:ext cx="2666998" cy="1055414"/>
          </a:xfrm>
          <a:prstGeom prst="roundRect">
            <a:avLst/>
          </a:prstGeom>
          <a:solidFill>
            <a:schemeClr val="accent6">
              <a:lumMod val="40000"/>
              <a:lumOff val="60000"/>
            </a:schemeClr>
          </a:solidFill>
          <a:ln>
            <a:solidFill>
              <a:schemeClr val="accent6">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b="1">
                <a:solidFill>
                  <a:schemeClr val="tx1"/>
                </a:solidFill>
              </a:rPr>
              <a:t>Dual SDR Synchronisation</a:t>
            </a:r>
            <a:endParaRPr lang="en-NZ" sz="2400" b="1">
              <a:solidFill>
                <a:schemeClr val="tx1"/>
              </a:solidFill>
            </a:endParaRPr>
          </a:p>
        </p:txBody>
      </p:sp>
      <p:sp>
        <p:nvSpPr>
          <p:cNvPr id="8" name="Rectangle: Rounded Corners 7">
            <a:extLst>
              <a:ext uri="{FF2B5EF4-FFF2-40B4-BE49-F238E27FC236}">
                <a16:creationId xmlns:a16="http://schemas.microsoft.com/office/drawing/2014/main" id="{A41B1AFA-9F2D-1247-4E3F-76DF0E924A97}"/>
              </a:ext>
            </a:extLst>
          </p:cNvPr>
          <p:cNvSpPr/>
          <p:nvPr/>
        </p:nvSpPr>
        <p:spPr>
          <a:xfrm>
            <a:off x="6153153" y="1264238"/>
            <a:ext cx="2666998" cy="1055414"/>
          </a:xfrm>
          <a:prstGeom prst="roundRect">
            <a:avLst/>
          </a:prstGeom>
          <a:solidFill>
            <a:schemeClr val="tx2">
              <a:lumMod val="10000"/>
              <a:lumOff val="9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RF Switch Board</a:t>
            </a:r>
            <a:endParaRPr lang="en-NZ" sz="2400">
              <a:solidFill>
                <a:schemeClr val="tx1"/>
              </a:solidFill>
            </a:endParaRPr>
          </a:p>
        </p:txBody>
      </p:sp>
      <p:sp>
        <p:nvSpPr>
          <p:cNvPr id="10" name="Rectangle: Rounded Corners 9">
            <a:extLst>
              <a:ext uri="{FF2B5EF4-FFF2-40B4-BE49-F238E27FC236}">
                <a16:creationId xmlns:a16="http://schemas.microsoft.com/office/drawing/2014/main" id="{7049AEEC-9621-96E6-D81E-BB4DB5364584}"/>
              </a:ext>
            </a:extLst>
          </p:cNvPr>
          <p:cNvSpPr/>
          <p:nvPr/>
        </p:nvSpPr>
        <p:spPr>
          <a:xfrm>
            <a:off x="9141717" y="1264238"/>
            <a:ext cx="2666998" cy="1055414"/>
          </a:xfrm>
          <a:prstGeom prst="roundRect">
            <a:avLst/>
          </a:prstGeom>
          <a:solidFill>
            <a:schemeClr val="tx2">
              <a:lumMod val="10000"/>
              <a:lumOff val="9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Angle-of-Arrival (</a:t>
            </a:r>
            <a:r>
              <a:rPr lang="en-GB" sz="2400" err="1">
                <a:solidFill>
                  <a:schemeClr val="tx1"/>
                </a:solidFill>
              </a:rPr>
              <a:t>AoA</a:t>
            </a:r>
            <a:r>
              <a:rPr lang="en-GB" sz="2400">
                <a:solidFill>
                  <a:schemeClr val="tx1"/>
                </a:solidFill>
              </a:rPr>
              <a:t>)</a:t>
            </a:r>
            <a:endParaRPr lang="en-NZ" sz="2400">
              <a:solidFill>
                <a:schemeClr val="tx1"/>
              </a:solidFill>
            </a:endParaRPr>
          </a:p>
        </p:txBody>
      </p:sp>
      <p:cxnSp>
        <p:nvCxnSpPr>
          <p:cNvPr id="14" name="Straight Connector 13">
            <a:extLst>
              <a:ext uri="{FF2B5EF4-FFF2-40B4-BE49-F238E27FC236}">
                <a16:creationId xmlns:a16="http://schemas.microsoft.com/office/drawing/2014/main" id="{0094C602-3190-5B73-AF97-A169011C92BC}"/>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18BD09D-2A11-21C4-E694-7FF6031D881D}"/>
              </a:ext>
            </a:extLst>
          </p:cNvPr>
          <p:cNvCxnSpPr>
            <a:stCxn id="4" idx="3"/>
            <a:endCxn id="6" idx="1"/>
          </p:cNvCxnSpPr>
          <p:nvPr/>
        </p:nvCxnSpPr>
        <p:spPr>
          <a:xfrm>
            <a:off x="2843023"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DA4E6EF9-53C9-6F0C-0386-6CC0CF261A32}"/>
              </a:ext>
            </a:extLst>
          </p:cNvPr>
          <p:cNvCxnSpPr>
            <a:cxnSpLocks/>
          </p:cNvCxnSpPr>
          <p:nvPr/>
        </p:nvCxnSpPr>
        <p:spPr>
          <a:xfrm>
            <a:off x="5831587" y="1766878"/>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9D68DADB-1EF0-24CE-A955-91F5B10A2FB7}"/>
              </a:ext>
            </a:extLst>
          </p:cNvPr>
          <p:cNvCxnSpPr>
            <a:cxnSpLocks/>
          </p:cNvCxnSpPr>
          <p:nvPr/>
        </p:nvCxnSpPr>
        <p:spPr>
          <a:xfrm>
            <a:off x="8820151"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sp>
        <p:nvSpPr>
          <p:cNvPr id="57" name="Rectangle 56">
            <a:extLst>
              <a:ext uri="{FF2B5EF4-FFF2-40B4-BE49-F238E27FC236}">
                <a16:creationId xmlns:a16="http://schemas.microsoft.com/office/drawing/2014/main" id="{2C7A174C-96C8-E526-50E9-AF09505F7470}"/>
              </a:ext>
            </a:extLst>
          </p:cNvPr>
          <p:cNvSpPr/>
          <p:nvPr/>
        </p:nvSpPr>
        <p:spPr>
          <a:xfrm>
            <a:off x="279655" y="2486608"/>
            <a:ext cx="5551932" cy="4069638"/>
          </a:xfrm>
          <a:prstGeom prst="rect">
            <a:avLst/>
          </a:prstGeom>
          <a:noFill/>
          <a:ln w="28575">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grpSp>
        <p:nvGrpSpPr>
          <p:cNvPr id="56" name="Group 55">
            <a:extLst>
              <a:ext uri="{FF2B5EF4-FFF2-40B4-BE49-F238E27FC236}">
                <a16:creationId xmlns:a16="http://schemas.microsoft.com/office/drawing/2014/main" id="{9FB46392-C23A-43F4-50F2-C54FCCB99AB9}"/>
              </a:ext>
            </a:extLst>
          </p:cNvPr>
          <p:cNvGrpSpPr/>
          <p:nvPr/>
        </p:nvGrpSpPr>
        <p:grpSpPr>
          <a:xfrm rot="5400000">
            <a:off x="941292" y="4591728"/>
            <a:ext cx="1810433" cy="2105842"/>
            <a:chOff x="6961634" y="3324123"/>
            <a:chExt cx="1398107" cy="1607383"/>
          </a:xfrm>
        </p:grpSpPr>
        <p:pic>
          <p:nvPicPr>
            <p:cNvPr id="23" name="Picture 22">
              <a:extLst>
                <a:ext uri="{FF2B5EF4-FFF2-40B4-BE49-F238E27FC236}">
                  <a16:creationId xmlns:a16="http://schemas.microsoft.com/office/drawing/2014/main" id="{8041B069-2588-2671-95C8-611486EBF2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634" y="3324123"/>
              <a:ext cx="1234308" cy="1607383"/>
            </a:xfrm>
            <a:prstGeom prst="rect">
              <a:avLst/>
            </a:prstGeom>
          </p:spPr>
        </p:pic>
        <p:sp>
          <p:nvSpPr>
            <p:cNvPr id="37" name="TextBox 36">
              <a:extLst>
                <a:ext uri="{FF2B5EF4-FFF2-40B4-BE49-F238E27FC236}">
                  <a16:creationId xmlns:a16="http://schemas.microsoft.com/office/drawing/2014/main" id="{7F78DDFF-2688-3B13-4D1D-597BAB9832CB}"/>
                </a:ext>
              </a:extLst>
            </p:cNvPr>
            <p:cNvSpPr txBox="1"/>
            <p:nvPr/>
          </p:nvSpPr>
          <p:spPr>
            <a:xfrm rot="16200000">
              <a:off x="7558801" y="3930188"/>
              <a:ext cx="1274282" cy="327598"/>
            </a:xfrm>
            <a:prstGeom prst="rect">
              <a:avLst/>
            </a:prstGeom>
            <a:noFill/>
          </p:spPr>
          <p:txBody>
            <a:bodyPr wrap="square" rtlCol="0">
              <a:spAutoFit/>
            </a:bodyPr>
            <a:lstStyle/>
            <a:p>
              <a:r>
                <a:rPr lang="en-GB" sz="1600" b="1"/>
                <a:t>Master SDR</a:t>
              </a:r>
              <a:endParaRPr lang="en-NZ" sz="1600" b="1"/>
            </a:p>
          </p:txBody>
        </p:sp>
      </p:grpSp>
      <p:sp>
        <p:nvSpPr>
          <p:cNvPr id="65" name="TextBox 64">
            <a:extLst>
              <a:ext uri="{FF2B5EF4-FFF2-40B4-BE49-F238E27FC236}">
                <a16:creationId xmlns:a16="http://schemas.microsoft.com/office/drawing/2014/main" id="{8C0080AD-72F3-C6BF-FF66-D470C835B4F9}"/>
              </a:ext>
            </a:extLst>
          </p:cNvPr>
          <p:cNvSpPr txBox="1"/>
          <p:nvPr/>
        </p:nvSpPr>
        <p:spPr>
          <a:xfrm>
            <a:off x="2529460" y="4718523"/>
            <a:ext cx="883902" cy="369332"/>
          </a:xfrm>
          <a:prstGeom prst="rect">
            <a:avLst/>
          </a:prstGeom>
          <a:noFill/>
        </p:spPr>
        <p:txBody>
          <a:bodyPr wrap="square" rtlCol="0">
            <a:spAutoFit/>
          </a:bodyPr>
          <a:lstStyle/>
          <a:p>
            <a:r>
              <a:rPr lang="en-GB"/>
              <a:t>NOISE</a:t>
            </a:r>
            <a:endParaRPr lang="en-NZ"/>
          </a:p>
        </p:txBody>
      </p:sp>
      <p:sp>
        <p:nvSpPr>
          <p:cNvPr id="67" name="TextBox 66">
            <a:extLst>
              <a:ext uri="{FF2B5EF4-FFF2-40B4-BE49-F238E27FC236}">
                <a16:creationId xmlns:a16="http://schemas.microsoft.com/office/drawing/2014/main" id="{6C92F639-3D1A-C7EF-B933-D880EC08D8F1}"/>
              </a:ext>
            </a:extLst>
          </p:cNvPr>
          <p:cNvSpPr txBox="1"/>
          <p:nvPr/>
        </p:nvSpPr>
        <p:spPr>
          <a:xfrm>
            <a:off x="2812951" y="5453954"/>
            <a:ext cx="688460" cy="369332"/>
          </a:xfrm>
          <a:prstGeom prst="rect">
            <a:avLst/>
          </a:prstGeom>
          <a:noFill/>
        </p:spPr>
        <p:txBody>
          <a:bodyPr wrap="square" rtlCol="0">
            <a:spAutoFit/>
          </a:bodyPr>
          <a:lstStyle/>
          <a:p>
            <a:r>
              <a:rPr lang="en-GB"/>
              <a:t>RX0</a:t>
            </a:r>
            <a:endParaRPr lang="en-NZ"/>
          </a:p>
        </p:txBody>
      </p:sp>
      <p:sp>
        <p:nvSpPr>
          <p:cNvPr id="72" name="TextBox 71">
            <a:extLst>
              <a:ext uri="{FF2B5EF4-FFF2-40B4-BE49-F238E27FC236}">
                <a16:creationId xmlns:a16="http://schemas.microsoft.com/office/drawing/2014/main" id="{507D41D6-6964-A42F-9E88-8CADD73C256F}"/>
              </a:ext>
            </a:extLst>
          </p:cNvPr>
          <p:cNvSpPr txBox="1"/>
          <p:nvPr/>
        </p:nvSpPr>
        <p:spPr>
          <a:xfrm>
            <a:off x="5992370" y="2616338"/>
            <a:ext cx="1517904" cy="369332"/>
          </a:xfrm>
          <a:prstGeom prst="rect">
            <a:avLst/>
          </a:prstGeom>
          <a:noFill/>
        </p:spPr>
        <p:txBody>
          <a:bodyPr wrap="square" rtlCol="0">
            <a:spAutoFit/>
          </a:bodyPr>
          <a:lstStyle/>
          <a:p>
            <a:r>
              <a:rPr lang="en-GB" b="1"/>
              <a:t>Purpose</a:t>
            </a:r>
            <a:endParaRPr lang="en-NZ" b="1"/>
          </a:p>
        </p:txBody>
      </p:sp>
      <p:sp>
        <p:nvSpPr>
          <p:cNvPr id="73" name="TextBox 72">
            <a:extLst>
              <a:ext uri="{FF2B5EF4-FFF2-40B4-BE49-F238E27FC236}">
                <a16:creationId xmlns:a16="http://schemas.microsoft.com/office/drawing/2014/main" id="{979C4AAD-41E1-51AB-36E9-4807801660CC}"/>
              </a:ext>
            </a:extLst>
          </p:cNvPr>
          <p:cNvSpPr txBox="1"/>
          <p:nvPr/>
        </p:nvSpPr>
        <p:spPr>
          <a:xfrm>
            <a:off x="6013266" y="2985670"/>
            <a:ext cx="6179936" cy="883383"/>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GB"/>
              <a:t>Extend calibration to two independent SDR receivers.</a:t>
            </a:r>
          </a:p>
          <a:p>
            <a:pPr marL="285750" indent="-285750">
              <a:lnSpc>
                <a:spcPct val="150000"/>
              </a:lnSpc>
              <a:buFont typeface="Courier New" panose="02070309020205020404" pitchFamily="49" charset="0"/>
              <a:buChar char="o"/>
            </a:pPr>
            <a:r>
              <a:rPr lang="en-GB"/>
              <a:t>Maintain relative alignment during continuous acquisition.</a:t>
            </a:r>
            <a:endParaRPr lang="en-NZ"/>
          </a:p>
        </p:txBody>
      </p:sp>
      <p:cxnSp>
        <p:nvCxnSpPr>
          <p:cNvPr id="75" name="Straight Connector 74">
            <a:extLst>
              <a:ext uri="{FF2B5EF4-FFF2-40B4-BE49-F238E27FC236}">
                <a16:creationId xmlns:a16="http://schemas.microsoft.com/office/drawing/2014/main" id="{1C7355C6-36B9-7772-6ED5-BB431AA5B539}"/>
              </a:ext>
            </a:extLst>
          </p:cNvPr>
          <p:cNvCxnSpPr>
            <a:cxnSpLocks/>
          </p:cNvCxnSpPr>
          <p:nvPr/>
        </p:nvCxnSpPr>
        <p:spPr>
          <a:xfrm>
            <a:off x="6153153" y="4053719"/>
            <a:ext cx="5734047" cy="0"/>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13E89283-3F52-C6A2-57DE-0FF4F6CC155B}"/>
              </a:ext>
            </a:extLst>
          </p:cNvPr>
          <p:cNvSpPr txBox="1"/>
          <p:nvPr/>
        </p:nvSpPr>
        <p:spPr>
          <a:xfrm>
            <a:off x="6041488" y="4165035"/>
            <a:ext cx="2116073" cy="369332"/>
          </a:xfrm>
          <a:prstGeom prst="rect">
            <a:avLst/>
          </a:prstGeom>
          <a:noFill/>
        </p:spPr>
        <p:txBody>
          <a:bodyPr wrap="square" rtlCol="0">
            <a:spAutoFit/>
          </a:bodyPr>
          <a:lstStyle/>
          <a:p>
            <a:r>
              <a:rPr lang="en-GB" b="1"/>
              <a:t>Section Overview</a:t>
            </a:r>
            <a:endParaRPr lang="en-NZ" b="1"/>
          </a:p>
        </p:txBody>
      </p:sp>
      <p:sp>
        <p:nvSpPr>
          <p:cNvPr id="79" name="TextBox 78">
            <a:extLst>
              <a:ext uri="{FF2B5EF4-FFF2-40B4-BE49-F238E27FC236}">
                <a16:creationId xmlns:a16="http://schemas.microsoft.com/office/drawing/2014/main" id="{72B585EF-AF0C-CD26-6CBC-89676EC08A97}"/>
              </a:ext>
            </a:extLst>
          </p:cNvPr>
          <p:cNvSpPr txBox="1"/>
          <p:nvPr/>
        </p:nvSpPr>
        <p:spPr>
          <a:xfrm>
            <a:off x="6059077" y="4542766"/>
            <a:ext cx="5339335" cy="1298882"/>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GB"/>
              <a:t>Shared Clock Synchronisation</a:t>
            </a:r>
          </a:p>
          <a:p>
            <a:pPr marL="285750" indent="-285750">
              <a:lnSpc>
                <a:spcPct val="150000"/>
              </a:lnSpc>
              <a:buFont typeface="Courier New" panose="02070309020205020404" pitchFamily="49" charset="0"/>
              <a:buChar char="o"/>
            </a:pPr>
            <a:r>
              <a:rPr lang="en-GB"/>
              <a:t>Dual-SDR acquisition and calibration</a:t>
            </a:r>
          </a:p>
          <a:p>
            <a:pPr marL="285750" indent="-285750">
              <a:lnSpc>
                <a:spcPct val="150000"/>
              </a:lnSpc>
              <a:buFont typeface="Courier New" panose="02070309020205020404" pitchFamily="49" charset="0"/>
              <a:buChar char="o"/>
            </a:pPr>
            <a:r>
              <a:rPr lang="en-GB"/>
              <a:t>Continuous correction and stability testing.</a:t>
            </a:r>
            <a:endParaRPr lang="en-NZ"/>
          </a:p>
        </p:txBody>
      </p:sp>
      <p:sp>
        <p:nvSpPr>
          <p:cNvPr id="81" name="TextBox 80">
            <a:extLst>
              <a:ext uri="{FF2B5EF4-FFF2-40B4-BE49-F238E27FC236}">
                <a16:creationId xmlns:a16="http://schemas.microsoft.com/office/drawing/2014/main" id="{8640F8E2-4190-3BAF-460F-7281EDCEC1FE}"/>
              </a:ext>
            </a:extLst>
          </p:cNvPr>
          <p:cNvSpPr txBox="1"/>
          <p:nvPr/>
        </p:nvSpPr>
        <p:spPr>
          <a:xfrm>
            <a:off x="294695" y="2513898"/>
            <a:ext cx="3103625" cy="369332"/>
          </a:xfrm>
          <a:prstGeom prst="rect">
            <a:avLst/>
          </a:prstGeom>
          <a:noFill/>
        </p:spPr>
        <p:txBody>
          <a:bodyPr wrap="square" rtlCol="0">
            <a:spAutoFit/>
          </a:bodyPr>
          <a:lstStyle/>
          <a:p>
            <a:r>
              <a:rPr lang="en-GB" b="1"/>
              <a:t>Hardware Configuration</a:t>
            </a:r>
            <a:endParaRPr lang="en-NZ" b="1"/>
          </a:p>
        </p:txBody>
      </p:sp>
      <p:pic>
        <p:nvPicPr>
          <p:cNvPr id="11" name="Picture 10">
            <a:extLst>
              <a:ext uri="{FF2B5EF4-FFF2-40B4-BE49-F238E27FC236}">
                <a16:creationId xmlns:a16="http://schemas.microsoft.com/office/drawing/2014/main" id="{D1F32832-8747-D357-C610-3AD483E3CB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075263" y="2758410"/>
            <a:ext cx="1542492" cy="2105842"/>
          </a:xfrm>
          <a:prstGeom prst="rect">
            <a:avLst/>
          </a:prstGeom>
        </p:spPr>
      </p:pic>
      <p:sp>
        <p:nvSpPr>
          <p:cNvPr id="13" name="TextBox 12">
            <a:extLst>
              <a:ext uri="{FF2B5EF4-FFF2-40B4-BE49-F238E27FC236}">
                <a16:creationId xmlns:a16="http://schemas.microsoft.com/office/drawing/2014/main" id="{B973BAA7-25A4-DB97-2F3E-2C727F4E1EC2}"/>
              </a:ext>
            </a:extLst>
          </p:cNvPr>
          <p:cNvSpPr txBox="1"/>
          <p:nvPr/>
        </p:nvSpPr>
        <p:spPr>
          <a:xfrm>
            <a:off x="1185670" y="4349701"/>
            <a:ext cx="1669444" cy="338554"/>
          </a:xfrm>
          <a:prstGeom prst="rect">
            <a:avLst/>
          </a:prstGeom>
          <a:noFill/>
        </p:spPr>
        <p:txBody>
          <a:bodyPr wrap="square" rtlCol="0">
            <a:spAutoFit/>
          </a:bodyPr>
          <a:lstStyle/>
          <a:p>
            <a:r>
              <a:rPr lang="en-GB" sz="1600" b="1"/>
              <a:t>Slave SDR</a:t>
            </a:r>
            <a:endParaRPr lang="en-NZ" sz="1600" b="1"/>
          </a:p>
        </p:txBody>
      </p:sp>
      <p:cxnSp>
        <p:nvCxnSpPr>
          <p:cNvPr id="16" name="Connector: Elbow 15">
            <a:extLst>
              <a:ext uri="{FF2B5EF4-FFF2-40B4-BE49-F238E27FC236}">
                <a16:creationId xmlns:a16="http://schemas.microsoft.com/office/drawing/2014/main" id="{62D242E2-2E44-DEBD-6168-9ACF065ADFD8}"/>
              </a:ext>
            </a:extLst>
          </p:cNvPr>
          <p:cNvCxnSpPr>
            <a:cxnSpLocks/>
          </p:cNvCxnSpPr>
          <p:nvPr/>
        </p:nvCxnSpPr>
        <p:spPr>
          <a:xfrm rot="16200000" flipV="1">
            <a:off x="170023" y="3324185"/>
            <a:ext cx="1938880" cy="1111550"/>
          </a:xfrm>
          <a:prstGeom prst="bentConnector3">
            <a:avLst>
              <a:gd name="adj1" fmla="val 6548"/>
            </a:avLst>
          </a:prstGeom>
          <a:ln w="28575">
            <a:solidFill>
              <a:srgbClr val="FFC000"/>
            </a:solidFill>
            <a:prstDash val="lgDash"/>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A085B2EB-A761-DA31-6F9D-F41772403B01}"/>
              </a:ext>
            </a:extLst>
          </p:cNvPr>
          <p:cNvCxnSpPr>
            <a:cxnSpLocks/>
          </p:cNvCxnSpPr>
          <p:nvPr/>
        </p:nvCxnSpPr>
        <p:spPr>
          <a:xfrm>
            <a:off x="583687" y="2904139"/>
            <a:ext cx="1333054" cy="273900"/>
          </a:xfrm>
          <a:prstGeom prst="bentConnector3">
            <a:avLst>
              <a:gd name="adj1" fmla="val 100097"/>
            </a:avLst>
          </a:prstGeom>
          <a:ln w="28575">
            <a:solidFill>
              <a:srgbClr val="FFC000"/>
            </a:solidFill>
            <a:prstDash val="lgDash"/>
            <a:tailEnd type="triangle"/>
          </a:ln>
        </p:spPr>
        <p:style>
          <a:lnRef idx="2">
            <a:schemeClr val="accent1"/>
          </a:lnRef>
          <a:fillRef idx="0">
            <a:schemeClr val="accent1"/>
          </a:fillRef>
          <a:effectRef idx="1">
            <a:schemeClr val="accent1"/>
          </a:effectRef>
          <a:fontRef idx="minor">
            <a:schemeClr val="tx1"/>
          </a:fontRef>
        </p:style>
      </p:cxnSp>
      <p:pic>
        <p:nvPicPr>
          <p:cNvPr id="39" name="Picture 38">
            <a:extLst>
              <a:ext uri="{FF2B5EF4-FFF2-40B4-BE49-F238E27FC236}">
                <a16:creationId xmlns:a16="http://schemas.microsoft.com/office/drawing/2014/main" id="{C7DFA7B9-AC77-000E-05B4-8B422B888B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66494" y="3975702"/>
            <a:ext cx="1111551" cy="1111551"/>
          </a:xfrm>
          <a:prstGeom prst="rect">
            <a:avLst/>
          </a:prstGeom>
        </p:spPr>
      </p:pic>
      <p:cxnSp>
        <p:nvCxnSpPr>
          <p:cNvPr id="43" name="Connector: Elbow 42">
            <a:extLst>
              <a:ext uri="{FF2B5EF4-FFF2-40B4-BE49-F238E27FC236}">
                <a16:creationId xmlns:a16="http://schemas.microsoft.com/office/drawing/2014/main" id="{4DF5B745-ABF1-5E73-E6B1-A03520BCF74A}"/>
              </a:ext>
            </a:extLst>
          </p:cNvPr>
          <p:cNvCxnSpPr>
            <a:cxnSpLocks/>
            <a:endCxn id="39" idx="1"/>
          </p:cNvCxnSpPr>
          <p:nvPr/>
        </p:nvCxnSpPr>
        <p:spPr>
          <a:xfrm flipV="1">
            <a:off x="2843023" y="4531478"/>
            <a:ext cx="923471" cy="646697"/>
          </a:xfrm>
          <a:prstGeom prst="bentConnector3">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CF88E7F0-73D3-C3C7-35C3-A88F65105332}"/>
              </a:ext>
            </a:extLst>
          </p:cNvPr>
          <p:cNvCxnSpPr>
            <a:cxnSpLocks/>
          </p:cNvCxnSpPr>
          <p:nvPr/>
        </p:nvCxnSpPr>
        <p:spPr>
          <a:xfrm rot="16200000" flipV="1">
            <a:off x="3410082" y="3135057"/>
            <a:ext cx="315057" cy="1509318"/>
          </a:xfrm>
          <a:prstGeom prst="bentConnector2">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156174D5-24DD-0AD0-33F5-F90E0CDC8327}"/>
              </a:ext>
            </a:extLst>
          </p:cNvPr>
          <p:cNvCxnSpPr/>
          <p:nvPr/>
        </p:nvCxnSpPr>
        <p:spPr>
          <a:xfrm rot="10800000" flipV="1">
            <a:off x="2812951" y="4972691"/>
            <a:ext cx="1509318" cy="452063"/>
          </a:xfrm>
          <a:prstGeom prst="bentConnector3">
            <a:avLst>
              <a:gd name="adj1" fmla="val -373"/>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ECBCF40E-F54A-FC2A-9C54-B289B3C45315}"/>
              </a:ext>
            </a:extLst>
          </p:cNvPr>
          <p:cNvSpPr txBox="1"/>
          <p:nvPr/>
        </p:nvSpPr>
        <p:spPr>
          <a:xfrm>
            <a:off x="2855114" y="3366088"/>
            <a:ext cx="688460" cy="369332"/>
          </a:xfrm>
          <a:prstGeom prst="rect">
            <a:avLst/>
          </a:prstGeom>
          <a:noFill/>
        </p:spPr>
        <p:txBody>
          <a:bodyPr wrap="square" rtlCol="0">
            <a:spAutoFit/>
          </a:bodyPr>
          <a:lstStyle/>
          <a:p>
            <a:r>
              <a:rPr lang="en-GB"/>
              <a:t>RX0</a:t>
            </a:r>
            <a:endParaRPr lang="en-NZ"/>
          </a:p>
        </p:txBody>
      </p:sp>
      <p:sp>
        <p:nvSpPr>
          <p:cNvPr id="58" name="TextBox 57">
            <a:extLst>
              <a:ext uri="{FF2B5EF4-FFF2-40B4-BE49-F238E27FC236}">
                <a16:creationId xmlns:a16="http://schemas.microsoft.com/office/drawing/2014/main" id="{95D5CF20-90DB-DFC7-D0E1-87E9223565C3}"/>
              </a:ext>
            </a:extLst>
          </p:cNvPr>
          <p:cNvSpPr txBox="1"/>
          <p:nvPr/>
        </p:nvSpPr>
        <p:spPr>
          <a:xfrm>
            <a:off x="4821055" y="4349701"/>
            <a:ext cx="688460" cy="369332"/>
          </a:xfrm>
          <a:prstGeom prst="rect">
            <a:avLst/>
          </a:prstGeom>
          <a:noFill/>
        </p:spPr>
        <p:txBody>
          <a:bodyPr wrap="square" rtlCol="0">
            <a:spAutoFit/>
          </a:bodyPr>
          <a:lstStyle/>
          <a:p>
            <a:r>
              <a:rPr lang="en-GB"/>
              <a:t>50Ω</a:t>
            </a:r>
            <a:endParaRPr lang="en-NZ"/>
          </a:p>
        </p:txBody>
      </p:sp>
      <p:sp>
        <p:nvSpPr>
          <p:cNvPr id="62" name="TextBox 61">
            <a:extLst>
              <a:ext uri="{FF2B5EF4-FFF2-40B4-BE49-F238E27FC236}">
                <a16:creationId xmlns:a16="http://schemas.microsoft.com/office/drawing/2014/main" id="{1CD98203-26D2-40A4-076F-B4E90CDBA8B3}"/>
              </a:ext>
            </a:extLst>
          </p:cNvPr>
          <p:cNvSpPr txBox="1"/>
          <p:nvPr/>
        </p:nvSpPr>
        <p:spPr>
          <a:xfrm>
            <a:off x="715286" y="2920657"/>
            <a:ext cx="942323" cy="369332"/>
          </a:xfrm>
          <a:prstGeom prst="rect">
            <a:avLst/>
          </a:prstGeom>
          <a:noFill/>
        </p:spPr>
        <p:txBody>
          <a:bodyPr wrap="square" rtlCol="0">
            <a:spAutoFit/>
          </a:bodyPr>
          <a:lstStyle/>
          <a:p>
            <a:r>
              <a:rPr lang="en-GB"/>
              <a:t>CLOCK</a:t>
            </a:r>
            <a:endParaRPr lang="en-NZ"/>
          </a:p>
        </p:txBody>
      </p:sp>
    </p:spTree>
    <p:extLst>
      <p:ext uri="{BB962C8B-B14F-4D97-AF65-F5344CB8AC3E}">
        <p14:creationId xmlns:p14="http://schemas.microsoft.com/office/powerpoint/2010/main" val="1576441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0434-0079-9422-E4AA-8099C919FC86}"/>
              </a:ext>
            </a:extLst>
          </p:cNvPr>
          <p:cNvSpPr>
            <a:spLocks noGrp="1"/>
          </p:cNvSpPr>
          <p:nvPr>
            <p:ph type="title"/>
          </p:nvPr>
        </p:nvSpPr>
        <p:spPr>
          <a:xfrm>
            <a:off x="694362" y="169916"/>
            <a:ext cx="10515600" cy="732525"/>
          </a:xfrm>
        </p:spPr>
        <p:txBody>
          <a:bodyPr/>
          <a:lstStyle/>
          <a:p>
            <a:pPr algn="ctr"/>
            <a:r>
              <a:rPr lang="en-GB"/>
              <a:t>SDR Synchronisation</a:t>
            </a:r>
            <a:endParaRPr lang="en-NZ"/>
          </a:p>
        </p:txBody>
      </p:sp>
      <p:pic>
        <p:nvPicPr>
          <p:cNvPr id="6" name="Picture 5">
            <a:extLst>
              <a:ext uri="{FF2B5EF4-FFF2-40B4-BE49-F238E27FC236}">
                <a16:creationId xmlns:a16="http://schemas.microsoft.com/office/drawing/2014/main" id="{AF53BECC-6B81-E445-EE88-8A072A66F5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2384" y="1294920"/>
            <a:ext cx="8168174" cy="5013411"/>
          </a:xfrm>
          <a:prstGeom prst="rect">
            <a:avLst/>
          </a:prstGeom>
        </p:spPr>
      </p:pic>
      <p:sp>
        <p:nvSpPr>
          <p:cNvPr id="8" name="Rectangle: Rounded Corners 7">
            <a:extLst>
              <a:ext uri="{FF2B5EF4-FFF2-40B4-BE49-F238E27FC236}">
                <a16:creationId xmlns:a16="http://schemas.microsoft.com/office/drawing/2014/main" id="{5F71DA7F-D500-07F4-0100-2C4722AB3015}"/>
              </a:ext>
            </a:extLst>
          </p:cNvPr>
          <p:cNvSpPr/>
          <p:nvPr/>
        </p:nvSpPr>
        <p:spPr>
          <a:xfrm>
            <a:off x="134591" y="1495479"/>
            <a:ext cx="3456432" cy="118607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1. Shared Reference Clock</a:t>
            </a:r>
          </a:p>
          <a:p>
            <a:pPr algn="ctr"/>
            <a:r>
              <a:rPr lang="en-GB" sz="1600">
                <a:solidFill>
                  <a:schemeClr val="tx1"/>
                </a:solidFill>
              </a:rPr>
              <a:t>Master CLKOUT → Slave CLKIN</a:t>
            </a:r>
          </a:p>
          <a:p>
            <a:pPr algn="ctr"/>
            <a:r>
              <a:rPr lang="en-GB" sz="1600">
                <a:solidFill>
                  <a:schemeClr val="tx1"/>
                </a:solidFill>
              </a:rPr>
              <a:t>Common 38.4 MHz frequency ref</a:t>
            </a:r>
            <a:endParaRPr lang="en-NZ" sz="1600">
              <a:solidFill>
                <a:schemeClr val="tx1"/>
              </a:solidFill>
            </a:endParaRPr>
          </a:p>
        </p:txBody>
      </p:sp>
      <p:sp>
        <p:nvSpPr>
          <p:cNvPr id="10" name="Rectangle: Rounded Corners 9">
            <a:extLst>
              <a:ext uri="{FF2B5EF4-FFF2-40B4-BE49-F238E27FC236}">
                <a16:creationId xmlns:a16="http://schemas.microsoft.com/office/drawing/2014/main" id="{1D5071E4-59FE-54CB-4518-9AD6549964AE}"/>
              </a:ext>
            </a:extLst>
          </p:cNvPr>
          <p:cNvSpPr/>
          <p:nvPr/>
        </p:nvSpPr>
        <p:spPr>
          <a:xfrm>
            <a:off x="134591" y="3132481"/>
            <a:ext cx="3456432" cy="118607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2. Initial Sample Alignment</a:t>
            </a:r>
          </a:p>
          <a:p>
            <a:pPr algn="ctr"/>
            <a:r>
              <a:rPr lang="en-GB" sz="1600">
                <a:solidFill>
                  <a:schemeClr val="tx1"/>
                </a:solidFill>
              </a:rPr>
              <a:t>Apply estimated integer delay</a:t>
            </a:r>
            <a:endParaRPr lang="en-NZ" sz="1600">
              <a:solidFill>
                <a:schemeClr val="tx1"/>
              </a:solidFill>
            </a:endParaRPr>
          </a:p>
        </p:txBody>
      </p:sp>
      <p:sp>
        <p:nvSpPr>
          <p:cNvPr id="12" name="Rectangle: Rounded Corners 11">
            <a:extLst>
              <a:ext uri="{FF2B5EF4-FFF2-40B4-BE49-F238E27FC236}">
                <a16:creationId xmlns:a16="http://schemas.microsoft.com/office/drawing/2014/main" id="{68B4973B-A7E3-EE69-1DD7-A881BCDF1E35}"/>
              </a:ext>
            </a:extLst>
          </p:cNvPr>
          <p:cNvSpPr/>
          <p:nvPr/>
        </p:nvSpPr>
        <p:spPr>
          <a:xfrm>
            <a:off x="134591" y="4769483"/>
            <a:ext cx="3456432" cy="118607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3. Continuous Correction</a:t>
            </a:r>
          </a:p>
          <a:p>
            <a:pPr algn="ctr"/>
            <a:r>
              <a:rPr lang="en-GB" sz="1600">
                <a:solidFill>
                  <a:schemeClr val="tx1"/>
                </a:solidFill>
              </a:rPr>
              <a:t>Fractional-delay FIR + complex gain</a:t>
            </a:r>
          </a:p>
        </p:txBody>
      </p:sp>
      <p:cxnSp>
        <p:nvCxnSpPr>
          <p:cNvPr id="14" name="Straight Arrow Connector 13">
            <a:extLst>
              <a:ext uri="{FF2B5EF4-FFF2-40B4-BE49-F238E27FC236}">
                <a16:creationId xmlns:a16="http://schemas.microsoft.com/office/drawing/2014/main" id="{F3CC92F3-F22E-5B38-1835-6A3F324886AB}"/>
              </a:ext>
            </a:extLst>
          </p:cNvPr>
          <p:cNvCxnSpPr>
            <a:stCxn id="8" idx="2"/>
            <a:endCxn id="10" idx="0"/>
          </p:cNvCxnSpPr>
          <p:nvPr/>
        </p:nvCxnSpPr>
        <p:spPr>
          <a:xfrm>
            <a:off x="1862807" y="2681555"/>
            <a:ext cx="0" cy="45092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EECD00B-31B4-FF9C-C6E5-96406E9C2CC1}"/>
              </a:ext>
            </a:extLst>
          </p:cNvPr>
          <p:cNvCxnSpPr>
            <a:stCxn id="10" idx="2"/>
            <a:endCxn id="12" idx="0"/>
          </p:cNvCxnSpPr>
          <p:nvPr/>
        </p:nvCxnSpPr>
        <p:spPr>
          <a:xfrm>
            <a:off x="1862807" y="4318557"/>
            <a:ext cx="0" cy="45092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8A27931-3B3E-1E73-96B8-5477CB9EA047}"/>
              </a:ext>
            </a:extLst>
          </p:cNvPr>
          <p:cNvCxnSpPr>
            <a:cxnSpLocks/>
          </p:cNvCxnSpPr>
          <p:nvPr/>
        </p:nvCxnSpPr>
        <p:spPr>
          <a:xfrm>
            <a:off x="457200" y="969266"/>
            <a:ext cx="1115568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309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1729F-00E3-3461-3ADE-58656B4E4121}"/>
              </a:ext>
            </a:extLst>
          </p:cNvPr>
          <p:cNvSpPr>
            <a:spLocks noGrp="1"/>
          </p:cNvSpPr>
          <p:nvPr>
            <p:ph type="title"/>
          </p:nvPr>
        </p:nvSpPr>
        <p:spPr>
          <a:xfrm>
            <a:off x="777240" y="164386"/>
            <a:ext cx="10515600" cy="804880"/>
          </a:xfrm>
        </p:spPr>
        <p:txBody>
          <a:bodyPr>
            <a:normAutofit/>
          </a:bodyPr>
          <a:lstStyle/>
          <a:p>
            <a:pPr algn="ctr"/>
            <a:r>
              <a:rPr lang="en-GB"/>
              <a:t>Improving Calibration Reliability</a:t>
            </a:r>
            <a:endParaRPr lang="en-NZ"/>
          </a:p>
        </p:txBody>
      </p:sp>
      <p:cxnSp>
        <p:nvCxnSpPr>
          <p:cNvPr id="8" name="Straight Connector 7">
            <a:extLst>
              <a:ext uri="{FF2B5EF4-FFF2-40B4-BE49-F238E27FC236}">
                <a16:creationId xmlns:a16="http://schemas.microsoft.com/office/drawing/2014/main" id="{C2974284-5C71-7901-CDCE-5B15EB464EBF}"/>
              </a:ext>
            </a:extLst>
          </p:cNvPr>
          <p:cNvCxnSpPr>
            <a:cxnSpLocks/>
          </p:cNvCxnSpPr>
          <p:nvPr/>
        </p:nvCxnSpPr>
        <p:spPr>
          <a:xfrm>
            <a:off x="457200" y="969266"/>
            <a:ext cx="11155680" cy="0"/>
          </a:xfrm>
          <a:prstGeom prst="line">
            <a:avLst/>
          </a:prstGeom>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5C0AFA8D-6ADD-8F39-6C98-4CEF5B9CFFBA}"/>
              </a:ext>
            </a:extLst>
          </p:cNvPr>
          <p:cNvPicPr>
            <a:picLocks noChangeAspect="1"/>
          </p:cNvPicPr>
          <p:nvPr/>
        </p:nvPicPr>
        <p:blipFill>
          <a:blip r:embed="rId2"/>
          <a:stretch>
            <a:fillRect/>
          </a:stretch>
        </p:blipFill>
        <p:spPr>
          <a:xfrm>
            <a:off x="5199338" y="2183450"/>
            <a:ext cx="6413542" cy="2011604"/>
          </a:xfrm>
          <a:prstGeom prst="rect">
            <a:avLst/>
          </a:prstGeom>
        </p:spPr>
      </p:pic>
      <p:sp>
        <p:nvSpPr>
          <p:cNvPr id="19" name="TextBox 18">
            <a:extLst>
              <a:ext uri="{FF2B5EF4-FFF2-40B4-BE49-F238E27FC236}">
                <a16:creationId xmlns:a16="http://schemas.microsoft.com/office/drawing/2014/main" id="{EF94E82D-B2B0-4C67-383B-E87DE0655066}"/>
              </a:ext>
            </a:extLst>
          </p:cNvPr>
          <p:cNvSpPr txBox="1"/>
          <p:nvPr/>
        </p:nvSpPr>
        <p:spPr>
          <a:xfrm>
            <a:off x="106707" y="1106061"/>
            <a:ext cx="4968240" cy="369332"/>
          </a:xfrm>
          <a:prstGeom prst="rect">
            <a:avLst/>
          </a:prstGeom>
          <a:noFill/>
        </p:spPr>
        <p:txBody>
          <a:bodyPr wrap="square" rtlCol="0">
            <a:spAutoFit/>
          </a:bodyPr>
          <a:lstStyle/>
          <a:p>
            <a:pPr marL="342900" indent="-342900">
              <a:buAutoNum type="arabicPeriod"/>
            </a:pPr>
            <a:r>
              <a:rPr lang="en-GB" b="1"/>
              <a:t>Fractional Delay Estimation</a:t>
            </a:r>
          </a:p>
        </p:txBody>
      </p:sp>
      <p:sp>
        <p:nvSpPr>
          <p:cNvPr id="20" name="TextBox 19">
            <a:extLst>
              <a:ext uri="{FF2B5EF4-FFF2-40B4-BE49-F238E27FC236}">
                <a16:creationId xmlns:a16="http://schemas.microsoft.com/office/drawing/2014/main" id="{213DFB84-2C5D-8E5D-A0B9-872868C33217}"/>
              </a:ext>
            </a:extLst>
          </p:cNvPr>
          <p:cNvSpPr txBox="1"/>
          <p:nvPr/>
        </p:nvSpPr>
        <p:spPr>
          <a:xfrm>
            <a:off x="618647" y="1427521"/>
            <a:ext cx="3868905" cy="369332"/>
          </a:xfrm>
          <a:prstGeom prst="rect">
            <a:avLst/>
          </a:prstGeom>
          <a:noFill/>
        </p:spPr>
        <p:txBody>
          <a:bodyPr wrap="square" rtlCol="0">
            <a:spAutoFit/>
          </a:bodyPr>
          <a:lstStyle/>
          <a:p>
            <a:r>
              <a:rPr lang="en-GB"/>
              <a:t>Original phase-unwrapping method</a:t>
            </a:r>
            <a:endParaRPr lang="en-NZ"/>
          </a:p>
        </p:txBody>
      </p:sp>
      <p:sp>
        <p:nvSpPr>
          <p:cNvPr id="21" name="TextBox 20">
            <a:extLst>
              <a:ext uri="{FF2B5EF4-FFF2-40B4-BE49-F238E27FC236}">
                <a16:creationId xmlns:a16="http://schemas.microsoft.com/office/drawing/2014/main" id="{FC154F81-396C-E762-D8AB-7C1A66C08909}"/>
              </a:ext>
            </a:extLst>
          </p:cNvPr>
          <p:cNvSpPr txBox="1"/>
          <p:nvPr/>
        </p:nvSpPr>
        <p:spPr>
          <a:xfrm>
            <a:off x="618647" y="1896938"/>
            <a:ext cx="4090506" cy="400110"/>
          </a:xfrm>
          <a:prstGeom prst="rect">
            <a:avLst/>
          </a:prstGeom>
          <a:noFill/>
        </p:spPr>
        <p:txBody>
          <a:bodyPr wrap="square" rtlCol="0">
            <a:spAutoFit/>
          </a:bodyPr>
          <a:lstStyle/>
          <a:p>
            <a:r>
              <a:rPr lang="en-GB" sz="2000" b="1">
                <a:solidFill>
                  <a:srgbClr val="F2430C"/>
                </a:solidFill>
              </a:rPr>
              <a:t>0.1307</a:t>
            </a:r>
            <a:r>
              <a:rPr lang="en-GB" b="1">
                <a:solidFill>
                  <a:srgbClr val="F2430C"/>
                </a:solidFill>
              </a:rPr>
              <a:t> Sample Standard Deviation</a:t>
            </a:r>
            <a:endParaRPr lang="en-NZ" b="1">
              <a:solidFill>
                <a:srgbClr val="F2430C"/>
              </a:solidFill>
            </a:endParaRPr>
          </a:p>
        </p:txBody>
      </p:sp>
      <p:sp>
        <p:nvSpPr>
          <p:cNvPr id="23" name="TextBox 22">
            <a:extLst>
              <a:ext uri="{FF2B5EF4-FFF2-40B4-BE49-F238E27FC236}">
                <a16:creationId xmlns:a16="http://schemas.microsoft.com/office/drawing/2014/main" id="{DEC4D862-048E-CDC1-5C49-E0217E19A343}"/>
              </a:ext>
            </a:extLst>
          </p:cNvPr>
          <p:cNvSpPr txBox="1"/>
          <p:nvPr/>
        </p:nvSpPr>
        <p:spPr>
          <a:xfrm>
            <a:off x="618647" y="2404324"/>
            <a:ext cx="3868905" cy="369332"/>
          </a:xfrm>
          <a:prstGeom prst="rect">
            <a:avLst/>
          </a:prstGeom>
          <a:noFill/>
        </p:spPr>
        <p:txBody>
          <a:bodyPr wrap="square" rtlCol="0">
            <a:spAutoFit/>
          </a:bodyPr>
          <a:lstStyle/>
          <a:p>
            <a:r>
              <a:rPr lang="en-GB"/>
              <a:t>Bounded Correlation Optimisation</a:t>
            </a:r>
            <a:endParaRPr lang="en-NZ"/>
          </a:p>
        </p:txBody>
      </p:sp>
      <p:sp>
        <p:nvSpPr>
          <p:cNvPr id="25" name="TextBox 24">
            <a:extLst>
              <a:ext uri="{FF2B5EF4-FFF2-40B4-BE49-F238E27FC236}">
                <a16:creationId xmlns:a16="http://schemas.microsoft.com/office/drawing/2014/main" id="{BF99903C-2EBE-86EA-8B57-F7E2F75FD3E9}"/>
              </a:ext>
            </a:extLst>
          </p:cNvPr>
          <p:cNvSpPr txBox="1"/>
          <p:nvPr/>
        </p:nvSpPr>
        <p:spPr>
          <a:xfrm>
            <a:off x="579120" y="2789142"/>
            <a:ext cx="3992909" cy="400110"/>
          </a:xfrm>
          <a:prstGeom prst="rect">
            <a:avLst/>
          </a:prstGeom>
          <a:noFill/>
        </p:spPr>
        <p:txBody>
          <a:bodyPr wrap="square" rtlCol="0">
            <a:spAutoFit/>
          </a:bodyPr>
          <a:lstStyle/>
          <a:p>
            <a:r>
              <a:rPr lang="en-GB" sz="2000" b="1">
                <a:solidFill>
                  <a:srgbClr val="00B050"/>
                </a:solidFill>
              </a:rPr>
              <a:t>0.0170 Sample</a:t>
            </a:r>
            <a:r>
              <a:rPr lang="en-GB" b="1">
                <a:solidFill>
                  <a:srgbClr val="00B050"/>
                </a:solidFill>
              </a:rPr>
              <a:t> Standard Deviation</a:t>
            </a:r>
            <a:endParaRPr lang="en-NZ" b="1">
              <a:solidFill>
                <a:srgbClr val="00B050"/>
              </a:solidFill>
            </a:endParaRPr>
          </a:p>
        </p:txBody>
      </p:sp>
      <p:sp>
        <p:nvSpPr>
          <p:cNvPr id="28" name="TextBox 27">
            <a:extLst>
              <a:ext uri="{FF2B5EF4-FFF2-40B4-BE49-F238E27FC236}">
                <a16:creationId xmlns:a16="http://schemas.microsoft.com/office/drawing/2014/main" id="{6E37DF9B-7FDF-64EE-EEFE-B1870B57EBFE}"/>
              </a:ext>
            </a:extLst>
          </p:cNvPr>
          <p:cNvSpPr txBox="1"/>
          <p:nvPr/>
        </p:nvSpPr>
        <p:spPr>
          <a:xfrm>
            <a:off x="5070309" y="1107445"/>
            <a:ext cx="4968240" cy="369332"/>
          </a:xfrm>
          <a:prstGeom prst="rect">
            <a:avLst/>
          </a:prstGeom>
          <a:noFill/>
        </p:spPr>
        <p:txBody>
          <a:bodyPr wrap="square" rtlCol="0">
            <a:spAutoFit/>
          </a:bodyPr>
          <a:lstStyle/>
          <a:p>
            <a:r>
              <a:rPr lang="en-GB" b="1"/>
              <a:t>2. Integer Delay Reliability</a:t>
            </a:r>
          </a:p>
        </p:txBody>
      </p:sp>
      <p:sp>
        <p:nvSpPr>
          <p:cNvPr id="29" name="Rectangle 28">
            <a:extLst>
              <a:ext uri="{FF2B5EF4-FFF2-40B4-BE49-F238E27FC236}">
                <a16:creationId xmlns:a16="http://schemas.microsoft.com/office/drawing/2014/main" id="{8EEFDCFB-E2FF-4A0D-D533-3CBE7397C795}"/>
              </a:ext>
            </a:extLst>
          </p:cNvPr>
          <p:cNvSpPr/>
          <p:nvPr/>
        </p:nvSpPr>
        <p:spPr>
          <a:xfrm>
            <a:off x="102742" y="1078788"/>
            <a:ext cx="4828854" cy="5614824"/>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1" name="Rectangle 30">
            <a:extLst>
              <a:ext uri="{FF2B5EF4-FFF2-40B4-BE49-F238E27FC236}">
                <a16:creationId xmlns:a16="http://schemas.microsoft.com/office/drawing/2014/main" id="{BB71FD1E-DEAC-0773-A909-9DF6A2F5A9BE}"/>
              </a:ext>
            </a:extLst>
          </p:cNvPr>
          <p:cNvSpPr/>
          <p:nvPr/>
        </p:nvSpPr>
        <p:spPr>
          <a:xfrm>
            <a:off x="5070309" y="1078788"/>
            <a:ext cx="6880236" cy="3255085"/>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4" name="TextBox 33">
            <a:extLst>
              <a:ext uri="{FF2B5EF4-FFF2-40B4-BE49-F238E27FC236}">
                <a16:creationId xmlns:a16="http://schemas.microsoft.com/office/drawing/2014/main" id="{4D670F67-13E9-12C3-D981-97C7F693B9FA}"/>
              </a:ext>
            </a:extLst>
          </p:cNvPr>
          <p:cNvSpPr txBox="1"/>
          <p:nvPr/>
        </p:nvSpPr>
        <p:spPr>
          <a:xfrm>
            <a:off x="6547231" y="1673972"/>
            <a:ext cx="3846451" cy="369332"/>
          </a:xfrm>
          <a:prstGeom prst="rect">
            <a:avLst/>
          </a:prstGeom>
          <a:noFill/>
        </p:spPr>
        <p:txBody>
          <a:bodyPr wrap="square" rtlCol="0">
            <a:spAutoFit/>
          </a:bodyPr>
          <a:lstStyle/>
          <a:p>
            <a:r>
              <a:rPr lang="en-GB" i="1"/>
              <a:t>Original Peak Estimate +/- 2 Samples</a:t>
            </a:r>
            <a:endParaRPr lang="en-NZ" i="1"/>
          </a:p>
        </p:txBody>
      </p:sp>
      <p:sp>
        <p:nvSpPr>
          <p:cNvPr id="40" name="Rectangle 39">
            <a:extLst>
              <a:ext uri="{FF2B5EF4-FFF2-40B4-BE49-F238E27FC236}">
                <a16:creationId xmlns:a16="http://schemas.microsoft.com/office/drawing/2014/main" id="{F23DBCD8-BC5B-3EE7-D52A-FEE12961E937}"/>
              </a:ext>
            </a:extLst>
          </p:cNvPr>
          <p:cNvSpPr/>
          <p:nvPr/>
        </p:nvSpPr>
        <p:spPr>
          <a:xfrm>
            <a:off x="5070309" y="4531068"/>
            <a:ext cx="6880236" cy="1071715"/>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2" name="TextBox 41">
            <a:extLst>
              <a:ext uri="{FF2B5EF4-FFF2-40B4-BE49-F238E27FC236}">
                <a16:creationId xmlns:a16="http://schemas.microsoft.com/office/drawing/2014/main" id="{5FD4A565-1536-8675-9188-E6F1454D5DB3}"/>
              </a:ext>
            </a:extLst>
          </p:cNvPr>
          <p:cNvSpPr txBox="1"/>
          <p:nvPr/>
        </p:nvSpPr>
        <p:spPr>
          <a:xfrm>
            <a:off x="5070309" y="4496379"/>
            <a:ext cx="4968240" cy="369332"/>
          </a:xfrm>
          <a:prstGeom prst="rect">
            <a:avLst/>
          </a:prstGeom>
          <a:noFill/>
        </p:spPr>
        <p:txBody>
          <a:bodyPr wrap="square" rtlCol="0">
            <a:spAutoFit/>
          </a:bodyPr>
          <a:lstStyle/>
          <a:p>
            <a:r>
              <a:rPr lang="en-GB" b="1"/>
              <a:t>3. Dynamic Frequency Masking</a:t>
            </a:r>
          </a:p>
        </p:txBody>
      </p:sp>
      <p:sp>
        <p:nvSpPr>
          <p:cNvPr id="43" name="TextBox 42">
            <a:extLst>
              <a:ext uri="{FF2B5EF4-FFF2-40B4-BE49-F238E27FC236}">
                <a16:creationId xmlns:a16="http://schemas.microsoft.com/office/drawing/2014/main" id="{9419053A-A897-F2E2-BAA4-6F488C58AD04}"/>
              </a:ext>
            </a:extLst>
          </p:cNvPr>
          <p:cNvSpPr txBox="1"/>
          <p:nvPr/>
        </p:nvSpPr>
        <p:spPr>
          <a:xfrm>
            <a:off x="5070309" y="4778680"/>
            <a:ext cx="6259237" cy="369332"/>
          </a:xfrm>
          <a:prstGeom prst="rect">
            <a:avLst/>
          </a:prstGeom>
          <a:noFill/>
        </p:spPr>
        <p:txBody>
          <a:bodyPr wrap="square" rtlCol="0">
            <a:spAutoFit/>
          </a:bodyPr>
          <a:lstStyle/>
          <a:p>
            <a:r>
              <a:rPr lang="en-GB"/>
              <a:t>Retains bins with ≥ 6dB above the estimated noise floor.</a:t>
            </a:r>
            <a:endParaRPr lang="en-NZ"/>
          </a:p>
        </p:txBody>
      </p:sp>
      <p:sp>
        <p:nvSpPr>
          <p:cNvPr id="45" name="TextBox 44">
            <a:extLst>
              <a:ext uri="{FF2B5EF4-FFF2-40B4-BE49-F238E27FC236}">
                <a16:creationId xmlns:a16="http://schemas.microsoft.com/office/drawing/2014/main" id="{97513EB0-0BFF-192E-E73D-34A112D4048F}"/>
              </a:ext>
            </a:extLst>
          </p:cNvPr>
          <p:cNvSpPr txBox="1"/>
          <p:nvPr/>
        </p:nvSpPr>
        <p:spPr>
          <a:xfrm>
            <a:off x="5199338" y="5098922"/>
            <a:ext cx="6259237" cy="369332"/>
          </a:xfrm>
          <a:prstGeom prst="rect">
            <a:avLst/>
          </a:prstGeom>
          <a:noFill/>
        </p:spPr>
        <p:txBody>
          <a:bodyPr wrap="square" rtlCol="0">
            <a:spAutoFit/>
          </a:bodyPr>
          <a:lstStyle/>
          <a:p>
            <a:pPr algn="ctr"/>
            <a:r>
              <a:rPr lang="en-GB">
                <a:solidFill>
                  <a:schemeClr val="bg2">
                    <a:lumMod val="50000"/>
                  </a:schemeClr>
                </a:solidFill>
              </a:rPr>
              <a:t>±250/300/350 kHz Bandwidths validated</a:t>
            </a:r>
            <a:endParaRPr lang="en-NZ">
              <a:solidFill>
                <a:schemeClr val="bg2">
                  <a:lumMod val="50000"/>
                </a:schemeClr>
              </a:solidFill>
            </a:endParaRPr>
          </a:p>
        </p:txBody>
      </p:sp>
      <p:sp>
        <p:nvSpPr>
          <p:cNvPr id="47" name="Rectangle 46">
            <a:extLst>
              <a:ext uri="{FF2B5EF4-FFF2-40B4-BE49-F238E27FC236}">
                <a16:creationId xmlns:a16="http://schemas.microsoft.com/office/drawing/2014/main" id="{57F2F931-AA04-19B3-8A0E-DBE9F6F24CB7}"/>
              </a:ext>
            </a:extLst>
          </p:cNvPr>
          <p:cNvSpPr/>
          <p:nvPr/>
        </p:nvSpPr>
        <p:spPr>
          <a:xfrm>
            <a:off x="5070309" y="5715866"/>
            <a:ext cx="6880236" cy="937186"/>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8" name="TextBox 47">
            <a:extLst>
              <a:ext uri="{FF2B5EF4-FFF2-40B4-BE49-F238E27FC236}">
                <a16:creationId xmlns:a16="http://schemas.microsoft.com/office/drawing/2014/main" id="{38BC48EB-B972-7305-51D6-0BE95E7DEA63}"/>
              </a:ext>
            </a:extLst>
          </p:cNvPr>
          <p:cNvSpPr txBox="1"/>
          <p:nvPr/>
        </p:nvSpPr>
        <p:spPr>
          <a:xfrm>
            <a:off x="5659687" y="5835994"/>
            <a:ext cx="1127506" cy="461665"/>
          </a:xfrm>
          <a:prstGeom prst="rect">
            <a:avLst/>
          </a:prstGeom>
          <a:noFill/>
        </p:spPr>
        <p:txBody>
          <a:bodyPr wrap="square" rtlCol="0">
            <a:spAutoFit/>
          </a:bodyPr>
          <a:lstStyle/>
          <a:p>
            <a:r>
              <a:rPr lang="en-GB" sz="2400"/>
              <a:t>0.9906</a:t>
            </a:r>
            <a:endParaRPr lang="en-NZ" sz="2400"/>
          </a:p>
        </p:txBody>
      </p:sp>
      <p:sp>
        <p:nvSpPr>
          <p:cNvPr id="50" name="TextBox 49">
            <a:extLst>
              <a:ext uri="{FF2B5EF4-FFF2-40B4-BE49-F238E27FC236}">
                <a16:creationId xmlns:a16="http://schemas.microsoft.com/office/drawing/2014/main" id="{0BB4C96C-0475-2B21-92A6-0427017CDB16}"/>
              </a:ext>
            </a:extLst>
          </p:cNvPr>
          <p:cNvSpPr txBox="1"/>
          <p:nvPr/>
        </p:nvSpPr>
        <p:spPr>
          <a:xfrm>
            <a:off x="7351679" y="5850395"/>
            <a:ext cx="2299169" cy="461665"/>
          </a:xfrm>
          <a:prstGeom prst="rect">
            <a:avLst/>
          </a:prstGeom>
          <a:noFill/>
        </p:spPr>
        <p:txBody>
          <a:bodyPr wrap="square" rtlCol="0">
            <a:spAutoFit/>
          </a:bodyPr>
          <a:lstStyle/>
          <a:p>
            <a:r>
              <a:rPr lang="en-GB" sz="2400"/>
              <a:t>18,000/18,000</a:t>
            </a:r>
            <a:endParaRPr lang="en-NZ" sz="2400"/>
          </a:p>
        </p:txBody>
      </p:sp>
      <p:sp>
        <p:nvSpPr>
          <p:cNvPr id="52" name="TextBox 51">
            <a:extLst>
              <a:ext uri="{FF2B5EF4-FFF2-40B4-BE49-F238E27FC236}">
                <a16:creationId xmlns:a16="http://schemas.microsoft.com/office/drawing/2014/main" id="{94367AA9-9FA1-A854-F13F-C47F3CA07E56}"/>
              </a:ext>
            </a:extLst>
          </p:cNvPr>
          <p:cNvSpPr txBox="1"/>
          <p:nvPr/>
        </p:nvSpPr>
        <p:spPr>
          <a:xfrm>
            <a:off x="10516919" y="5888733"/>
            <a:ext cx="1012620" cy="461665"/>
          </a:xfrm>
          <a:prstGeom prst="rect">
            <a:avLst/>
          </a:prstGeom>
          <a:noFill/>
        </p:spPr>
        <p:txBody>
          <a:bodyPr wrap="square" rtlCol="0">
            <a:spAutoFit/>
          </a:bodyPr>
          <a:lstStyle/>
          <a:p>
            <a:r>
              <a:rPr lang="en-GB" sz="2400"/>
              <a:t>180 s</a:t>
            </a:r>
            <a:endParaRPr lang="en-NZ" sz="2400"/>
          </a:p>
        </p:txBody>
      </p:sp>
      <p:sp>
        <p:nvSpPr>
          <p:cNvPr id="53" name="TextBox 52">
            <a:extLst>
              <a:ext uri="{FF2B5EF4-FFF2-40B4-BE49-F238E27FC236}">
                <a16:creationId xmlns:a16="http://schemas.microsoft.com/office/drawing/2014/main" id="{2411ADE4-3334-E5DF-8749-7CDBD45F992E}"/>
              </a:ext>
            </a:extLst>
          </p:cNvPr>
          <p:cNvSpPr txBox="1"/>
          <p:nvPr/>
        </p:nvSpPr>
        <p:spPr>
          <a:xfrm>
            <a:off x="5382805" y="6202168"/>
            <a:ext cx="1762723" cy="338554"/>
          </a:xfrm>
          <a:prstGeom prst="rect">
            <a:avLst/>
          </a:prstGeom>
          <a:noFill/>
        </p:spPr>
        <p:txBody>
          <a:bodyPr wrap="square" rtlCol="0">
            <a:spAutoFit/>
          </a:bodyPr>
          <a:lstStyle/>
          <a:p>
            <a:r>
              <a:rPr lang="en-GB" sz="1600">
                <a:solidFill>
                  <a:schemeClr val="bg2">
                    <a:lumMod val="50000"/>
                  </a:schemeClr>
                </a:solidFill>
              </a:rPr>
              <a:t>Mean Correlation</a:t>
            </a:r>
            <a:endParaRPr lang="en-NZ" sz="1600">
              <a:solidFill>
                <a:schemeClr val="bg2">
                  <a:lumMod val="50000"/>
                </a:schemeClr>
              </a:solidFill>
            </a:endParaRPr>
          </a:p>
        </p:txBody>
      </p:sp>
      <p:pic>
        <p:nvPicPr>
          <p:cNvPr id="59" name="Picture 58">
            <a:extLst>
              <a:ext uri="{FF2B5EF4-FFF2-40B4-BE49-F238E27FC236}">
                <a16:creationId xmlns:a16="http://schemas.microsoft.com/office/drawing/2014/main" id="{8218DB5B-C050-2759-D818-85AD90015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207" y="3210585"/>
            <a:ext cx="4603786" cy="3420293"/>
          </a:xfrm>
          <a:prstGeom prst="rect">
            <a:avLst/>
          </a:prstGeom>
        </p:spPr>
      </p:pic>
      <p:sp>
        <p:nvSpPr>
          <p:cNvPr id="4" name="TextBox 3">
            <a:extLst>
              <a:ext uri="{FF2B5EF4-FFF2-40B4-BE49-F238E27FC236}">
                <a16:creationId xmlns:a16="http://schemas.microsoft.com/office/drawing/2014/main" id="{26716061-94E3-2EF9-5D21-C09408D56872}"/>
              </a:ext>
            </a:extLst>
          </p:cNvPr>
          <p:cNvSpPr txBox="1"/>
          <p:nvPr/>
        </p:nvSpPr>
        <p:spPr>
          <a:xfrm>
            <a:off x="7548952" y="6202168"/>
            <a:ext cx="1922950" cy="338554"/>
          </a:xfrm>
          <a:prstGeom prst="rect">
            <a:avLst/>
          </a:prstGeom>
          <a:noFill/>
        </p:spPr>
        <p:txBody>
          <a:bodyPr wrap="square" rtlCol="0">
            <a:spAutoFit/>
          </a:bodyPr>
          <a:lstStyle/>
          <a:p>
            <a:r>
              <a:rPr lang="en-GB" sz="1600">
                <a:solidFill>
                  <a:schemeClr val="bg2">
                    <a:lumMod val="50000"/>
                  </a:schemeClr>
                </a:solidFill>
              </a:rPr>
              <a:t>Zero integer delays</a:t>
            </a:r>
            <a:endParaRPr lang="en-NZ" sz="1600">
              <a:solidFill>
                <a:schemeClr val="bg2">
                  <a:lumMod val="50000"/>
                </a:schemeClr>
              </a:solidFill>
            </a:endParaRPr>
          </a:p>
        </p:txBody>
      </p:sp>
      <p:sp>
        <p:nvSpPr>
          <p:cNvPr id="6" name="TextBox 5">
            <a:extLst>
              <a:ext uri="{FF2B5EF4-FFF2-40B4-BE49-F238E27FC236}">
                <a16:creationId xmlns:a16="http://schemas.microsoft.com/office/drawing/2014/main" id="{4E0C3597-C5F8-90E6-ED22-7C919E7625B1}"/>
              </a:ext>
            </a:extLst>
          </p:cNvPr>
          <p:cNvSpPr txBox="1"/>
          <p:nvPr/>
        </p:nvSpPr>
        <p:spPr>
          <a:xfrm>
            <a:off x="10424473" y="6202168"/>
            <a:ext cx="1131567" cy="338554"/>
          </a:xfrm>
          <a:prstGeom prst="rect">
            <a:avLst/>
          </a:prstGeom>
          <a:noFill/>
        </p:spPr>
        <p:txBody>
          <a:bodyPr wrap="square" rtlCol="0">
            <a:spAutoFit/>
          </a:bodyPr>
          <a:lstStyle/>
          <a:p>
            <a:r>
              <a:rPr lang="en-GB" sz="1600">
                <a:solidFill>
                  <a:schemeClr val="bg2">
                    <a:lumMod val="50000"/>
                  </a:schemeClr>
                </a:solidFill>
              </a:rPr>
              <a:t>Trial time</a:t>
            </a:r>
            <a:endParaRPr lang="en-NZ" sz="1600">
              <a:solidFill>
                <a:schemeClr val="bg2">
                  <a:lumMod val="50000"/>
                </a:schemeClr>
              </a:solidFill>
            </a:endParaRPr>
          </a:p>
        </p:txBody>
      </p:sp>
    </p:spTree>
    <p:extLst>
      <p:ext uri="{BB962C8B-B14F-4D97-AF65-F5344CB8AC3E}">
        <p14:creationId xmlns:p14="http://schemas.microsoft.com/office/powerpoint/2010/main" val="4096244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0A93-5626-B637-7931-D469464BB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FC304-FA05-25D0-0FB3-838EBC138CB9}"/>
              </a:ext>
            </a:extLst>
          </p:cNvPr>
          <p:cNvSpPr>
            <a:spLocks noGrp="1"/>
          </p:cNvSpPr>
          <p:nvPr>
            <p:ph type="title"/>
          </p:nvPr>
        </p:nvSpPr>
        <p:spPr>
          <a:xfrm>
            <a:off x="279655" y="263754"/>
            <a:ext cx="11155680" cy="723010"/>
          </a:xfrm>
        </p:spPr>
        <p:txBody>
          <a:bodyPr/>
          <a:lstStyle/>
          <a:p>
            <a:pPr algn="ctr"/>
            <a:r>
              <a:rPr lang="en-GB"/>
              <a:t>RF Switch Board Integration</a:t>
            </a:r>
            <a:endParaRPr lang="en-NZ"/>
          </a:p>
        </p:txBody>
      </p:sp>
      <p:sp>
        <p:nvSpPr>
          <p:cNvPr id="4" name="Rectangle: Rounded Corners 3">
            <a:extLst>
              <a:ext uri="{FF2B5EF4-FFF2-40B4-BE49-F238E27FC236}">
                <a16:creationId xmlns:a16="http://schemas.microsoft.com/office/drawing/2014/main" id="{EEC1ACCF-3D6D-C95F-0F27-8A5B99D69D22}"/>
              </a:ext>
            </a:extLst>
          </p:cNvPr>
          <p:cNvSpPr/>
          <p:nvPr/>
        </p:nvSpPr>
        <p:spPr>
          <a:xfrm>
            <a:off x="279655" y="1264238"/>
            <a:ext cx="2563368" cy="1055414"/>
          </a:xfrm>
          <a:prstGeom prst="roundRect">
            <a:avLst/>
          </a:prstGeom>
          <a:solidFill>
            <a:schemeClr val="tx2">
              <a:lumMod val="10000"/>
              <a:lumOff val="90000"/>
            </a:schemeClr>
          </a:solidFill>
          <a:ln>
            <a:solidFill>
              <a:schemeClr val="tx2">
                <a:lumMod val="90000"/>
                <a:lumOff val="1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Calibration</a:t>
            </a:r>
            <a:endParaRPr lang="en-NZ" sz="2400">
              <a:solidFill>
                <a:schemeClr val="tx1"/>
              </a:solidFill>
            </a:endParaRPr>
          </a:p>
        </p:txBody>
      </p:sp>
      <p:sp>
        <p:nvSpPr>
          <p:cNvPr id="6" name="Rectangle: Rounded Corners 5">
            <a:extLst>
              <a:ext uri="{FF2B5EF4-FFF2-40B4-BE49-F238E27FC236}">
                <a16:creationId xmlns:a16="http://schemas.microsoft.com/office/drawing/2014/main" id="{55116794-E7F5-CCF7-97DD-957C760FECD7}"/>
              </a:ext>
            </a:extLst>
          </p:cNvPr>
          <p:cNvSpPr/>
          <p:nvPr/>
        </p:nvSpPr>
        <p:spPr>
          <a:xfrm>
            <a:off x="3164589" y="1264238"/>
            <a:ext cx="2666998" cy="1055414"/>
          </a:xfrm>
          <a:prstGeom prst="roundRect">
            <a:avLst/>
          </a:prstGeom>
          <a:solidFill>
            <a:schemeClr val="tx2">
              <a:lumMod val="10000"/>
              <a:lumOff val="90000"/>
            </a:schemeClr>
          </a:solidFill>
          <a:ln>
            <a:solidFill>
              <a:schemeClr val="accent1">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Dual SDR Synchronisation</a:t>
            </a:r>
            <a:endParaRPr lang="en-NZ" sz="2400">
              <a:solidFill>
                <a:schemeClr val="tx1"/>
              </a:solidFill>
            </a:endParaRPr>
          </a:p>
        </p:txBody>
      </p:sp>
      <p:sp>
        <p:nvSpPr>
          <p:cNvPr id="8" name="Rectangle: Rounded Corners 7">
            <a:extLst>
              <a:ext uri="{FF2B5EF4-FFF2-40B4-BE49-F238E27FC236}">
                <a16:creationId xmlns:a16="http://schemas.microsoft.com/office/drawing/2014/main" id="{D23224FA-451C-8291-876E-0378618EAB7A}"/>
              </a:ext>
            </a:extLst>
          </p:cNvPr>
          <p:cNvSpPr/>
          <p:nvPr/>
        </p:nvSpPr>
        <p:spPr>
          <a:xfrm>
            <a:off x="6153153" y="1264238"/>
            <a:ext cx="2666998" cy="1055414"/>
          </a:xfrm>
          <a:prstGeom prst="roundRect">
            <a:avLst/>
          </a:prstGeom>
          <a:solidFill>
            <a:schemeClr val="accent6">
              <a:lumMod val="40000"/>
              <a:lumOff val="60000"/>
            </a:schemeClr>
          </a:solidFill>
          <a:ln>
            <a:solidFill>
              <a:schemeClr val="accent6">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b="1">
                <a:solidFill>
                  <a:schemeClr val="tx1"/>
                </a:solidFill>
              </a:rPr>
              <a:t>RF Switch Board</a:t>
            </a:r>
            <a:endParaRPr lang="en-NZ" sz="2400" b="1">
              <a:solidFill>
                <a:schemeClr val="tx1"/>
              </a:solidFill>
            </a:endParaRPr>
          </a:p>
        </p:txBody>
      </p:sp>
      <p:sp>
        <p:nvSpPr>
          <p:cNvPr id="10" name="Rectangle: Rounded Corners 9">
            <a:extLst>
              <a:ext uri="{FF2B5EF4-FFF2-40B4-BE49-F238E27FC236}">
                <a16:creationId xmlns:a16="http://schemas.microsoft.com/office/drawing/2014/main" id="{B84F28F7-1623-6EC5-E56B-7527438268BA}"/>
              </a:ext>
            </a:extLst>
          </p:cNvPr>
          <p:cNvSpPr/>
          <p:nvPr/>
        </p:nvSpPr>
        <p:spPr>
          <a:xfrm>
            <a:off x="9141717" y="1264238"/>
            <a:ext cx="2666998" cy="1055414"/>
          </a:xfrm>
          <a:prstGeom prst="roundRect">
            <a:avLst/>
          </a:prstGeom>
          <a:solidFill>
            <a:schemeClr val="tx2">
              <a:lumMod val="10000"/>
              <a:lumOff val="9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Angle-of-Arrival (</a:t>
            </a:r>
            <a:r>
              <a:rPr lang="en-GB" sz="2400" err="1">
                <a:solidFill>
                  <a:schemeClr val="tx1"/>
                </a:solidFill>
              </a:rPr>
              <a:t>AoA</a:t>
            </a:r>
            <a:r>
              <a:rPr lang="en-GB" sz="2400">
                <a:solidFill>
                  <a:schemeClr val="tx1"/>
                </a:solidFill>
              </a:rPr>
              <a:t>)</a:t>
            </a:r>
            <a:endParaRPr lang="en-NZ" sz="2400">
              <a:solidFill>
                <a:schemeClr val="tx1"/>
              </a:solidFill>
            </a:endParaRPr>
          </a:p>
        </p:txBody>
      </p:sp>
      <p:cxnSp>
        <p:nvCxnSpPr>
          <p:cNvPr id="14" name="Straight Connector 13">
            <a:extLst>
              <a:ext uri="{FF2B5EF4-FFF2-40B4-BE49-F238E27FC236}">
                <a16:creationId xmlns:a16="http://schemas.microsoft.com/office/drawing/2014/main" id="{36F2BCC8-114C-9EEE-57DC-BECA013A7FA9}"/>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B43D890-D7E8-D50E-9438-69A4269FACF2}"/>
              </a:ext>
            </a:extLst>
          </p:cNvPr>
          <p:cNvCxnSpPr>
            <a:stCxn id="4" idx="3"/>
            <a:endCxn id="6" idx="1"/>
          </p:cNvCxnSpPr>
          <p:nvPr/>
        </p:nvCxnSpPr>
        <p:spPr>
          <a:xfrm>
            <a:off x="2843023"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285C9D8A-F688-83FB-83E6-9AC72A2B7B7B}"/>
              </a:ext>
            </a:extLst>
          </p:cNvPr>
          <p:cNvCxnSpPr>
            <a:cxnSpLocks/>
          </p:cNvCxnSpPr>
          <p:nvPr/>
        </p:nvCxnSpPr>
        <p:spPr>
          <a:xfrm>
            <a:off x="5831587" y="1766878"/>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D349D00-3483-F89A-2308-87EF31C5539E}"/>
              </a:ext>
            </a:extLst>
          </p:cNvPr>
          <p:cNvCxnSpPr>
            <a:cxnSpLocks/>
          </p:cNvCxnSpPr>
          <p:nvPr/>
        </p:nvCxnSpPr>
        <p:spPr>
          <a:xfrm>
            <a:off x="8820151"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sp>
        <p:nvSpPr>
          <p:cNvPr id="57" name="Rectangle 56">
            <a:extLst>
              <a:ext uri="{FF2B5EF4-FFF2-40B4-BE49-F238E27FC236}">
                <a16:creationId xmlns:a16="http://schemas.microsoft.com/office/drawing/2014/main" id="{4BA99494-08E9-6519-DBAF-C89328AF42A3}"/>
              </a:ext>
            </a:extLst>
          </p:cNvPr>
          <p:cNvSpPr/>
          <p:nvPr/>
        </p:nvSpPr>
        <p:spPr>
          <a:xfrm>
            <a:off x="279654" y="2486608"/>
            <a:ext cx="6014565" cy="4069638"/>
          </a:xfrm>
          <a:prstGeom prst="rect">
            <a:avLst/>
          </a:prstGeom>
          <a:noFill/>
          <a:ln w="28575">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grpSp>
        <p:nvGrpSpPr>
          <p:cNvPr id="56" name="Group 55">
            <a:extLst>
              <a:ext uri="{FF2B5EF4-FFF2-40B4-BE49-F238E27FC236}">
                <a16:creationId xmlns:a16="http://schemas.microsoft.com/office/drawing/2014/main" id="{95AF8853-8022-88ED-4CF8-289840A3CFDB}"/>
              </a:ext>
            </a:extLst>
          </p:cNvPr>
          <p:cNvGrpSpPr/>
          <p:nvPr/>
        </p:nvGrpSpPr>
        <p:grpSpPr>
          <a:xfrm rot="5400000">
            <a:off x="941292" y="4591728"/>
            <a:ext cx="1810433" cy="2105842"/>
            <a:chOff x="6961634" y="3324123"/>
            <a:chExt cx="1398107" cy="1607383"/>
          </a:xfrm>
        </p:grpSpPr>
        <p:pic>
          <p:nvPicPr>
            <p:cNvPr id="23" name="Picture 22">
              <a:extLst>
                <a:ext uri="{FF2B5EF4-FFF2-40B4-BE49-F238E27FC236}">
                  <a16:creationId xmlns:a16="http://schemas.microsoft.com/office/drawing/2014/main" id="{223028F4-5539-EDF7-2A60-88D2F56EDB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634" y="3324123"/>
              <a:ext cx="1234308" cy="1607383"/>
            </a:xfrm>
            <a:prstGeom prst="rect">
              <a:avLst/>
            </a:prstGeom>
          </p:spPr>
        </p:pic>
        <p:sp>
          <p:nvSpPr>
            <p:cNvPr id="37" name="TextBox 36">
              <a:extLst>
                <a:ext uri="{FF2B5EF4-FFF2-40B4-BE49-F238E27FC236}">
                  <a16:creationId xmlns:a16="http://schemas.microsoft.com/office/drawing/2014/main" id="{C4000A63-5848-055D-9BB8-58EB9813B80E}"/>
                </a:ext>
              </a:extLst>
            </p:cNvPr>
            <p:cNvSpPr txBox="1"/>
            <p:nvPr/>
          </p:nvSpPr>
          <p:spPr>
            <a:xfrm rot="16200000">
              <a:off x="7558801" y="3930188"/>
              <a:ext cx="1274282" cy="327598"/>
            </a:xfrm>
            <a:prstGeom prst="rect">
              <a:avLst/>
            </a:prstGeom>
            <a:noFill/>
          </p:spPr>
          <p:txBody>
            <a:bodyPr wrap="square" rtlCol="0">
              <a:spAutoFit/>
            </a:bodyPr>
            <a:lstStyle/>
            <a:p>
              <a:r>
                <a:rPr lang="en-GB" sz="1600" b="1"/>
                <a:t>Master SDR</a:t>
              </a:r>
              <a:endParaRPr lang="en-NZ" sz="1600" b="1"/>
            </a:p>
          </p:txBody>
        </p:sp>
      </p:grpSp>
      <p:sp>
        <p:nvSpPr>
          <p:cNvPr id="67" name="TextBox 66">
            <a:extLst>
              <a:ext uri="{FF2B5EF4-FFF2-40B4-BE49-F238E27FC236}">
                <a16:creationId xmlns:a16="http://schemas.microsoft.com/office/drawing/2014/main" id="{62C11A1A-8521-C5E4-33A9-49C364A3B8C0}"/>
              </a:ext>
            </a:extLst>
          </p:cNvPr>
          <p:cNvSpPr txBox="1"/>
          <p:nvPr/>
        </p:nvSpPr>
        <p:spPr>
          <a:xfrm>
            <a:off x="2812951" y="5453954"/>
            <a:ext cx="688460" cy="369332"/>
          </a:xfrm>
          <a:prstGeom prst="rect">
            <a:avLst/>
          </a:prstGeom>
          <a:noFill/>
        </p:spPr>
        <p:txBody>
          <a:bodyPr wrap="square" rtlCol="0">
            <a:spAutoFit/>
          </a:bodyPr>
          <a:lstStyle/>
          <a:p>
            <a:r>
              <a:rPr lang="en-GB"/>
              <a:t>RX0</a:t>
            </a:r>
            <a:endParaRPr lang="en-NZ"/>
          </a:p>
        </p:txBody>
      </p:sp>
      <p:sp>
        <p:nvSpPr>
          <p:cNvPr id="72" name="TextBox 71">
            <a:extLst>
              <a:ext uri="{FF2B5EF4-FFF2-40B4-BE49-F238E27FC236}">
                <a16:creationId xmlns:a16="http://schemas.microsoft.com/office/drawing/2014/main" id="{CCA69CC8-135D-4D48-0F79-D83EEA14907F}"/>
              </a:ext>
            </a:extLst>
          </p:cNvPr>
          <p:cNvSpPr txBox="1"/>
          <p:nvPr/>
        </p:nvSpPr>
        <p:spPr>
          <a:xfrm>
            <a:off x="6533364" y="2552178"/>
            <a:ext cx="1517904" cy="369332"/>
          </a:xfrm>
          <a:prstGeom prst="rect">
            <a:avLst/>
          </a:prstGeom>
          <a:noFill/>
        </p:spPr>
        <p:txBody>
          <a:bodyPr wrap="square" rtlCol="0">
            <a:spAutoFit/>
          </a:bodyPr>
          <a:lstStyle/>
          <a:p>
            <a:r>
              <a:rPr lang="en-GB" b="1"/>
              <a:t>Purpose</a:t>
            </a:r>
            <a:endParaRPr lang="en-NZ" b="1"/>
          </a:p>
        </p:txBody>
      </p:sp>
      <p:cxnSp>
        <p:nvCxnSpPr>
          <p:cNvPr id="75" name="Straight Connector 74">
            <a:extLst>
              <a:ext uri="{FF2B5EF4-FFF2-40B4-BE49-F238E27FC236}">
                <a16:creationId xmlns:a16="http://schemas.microsoft.com/office/drawing/2014/main" id="{2F1BC66B-9322-8747-42BD-E31A07D1FA2A}"/>
              </a:ext>
            </a:extLst>
          </p:cNvPr>
          <p:cNvCxnSpPr>
            <a:cxnSpLocks/>
          </p:cNvCxnSpPr>
          <p:nvPr/>
        </p:nvCxnSpPr>
        <p:spPr>
          <a:xfrm>
            <a:off x="6483637" y="4253744"/>
            <a:ext cx="5419725" cy="0"/>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861D9017-A3DE-F635-9208-812E125710B9}"/>
              </a:ext>
            </a:extLst>
          </p:cNvPr>
          <p:cNvSpPr txBox="1"/>
          <p:nvPr/>
        </p:nvSpPr>
        <p:spPr>
          <a:xfrm>
            <a:off x="6455825" y="4388392"/>
            <a:ext cx="2116073" cy="369332"/>
          </a:xfrm>
          <a:prstGeom prst="rect">
            <a:avLst/>
          </a:prstGeom>
          <a:noFill/>
        </p:spPr>
        <p:txBody>
          <a:bodyPr wrap="square" rtlCol="0">
            <a:spAutoFit/>
          </a:bodyPr>
          <a:lstStyle/>
          <a:p>
            <a:r>
              <a:rPr lang="en-GB" b="1"/>
              <a:t>Section Overview</a:t>
            </a:r>
            <a:endParaRPr lang="en-NZ" b="1"/>
          </a:p>
        </p:txBody>
      </p:sp>
      <p:sp>
        <p:nvSpPr>
          <p:cNvPr id="79" name="TextBox 78">
            <a:extLst>
              <a:ext uri="{FF2B5EF4-FFF2-40B4-BE49-F238E27FC236}">
                <a16:creationId xmlns:a16="http://schemas.microsoft.com/office/drawing/2014/main" id="{CEFF4B20-D874-0D05-401E-6BAFBDE73B30}"/>
              </a:ext>
            </a:extLst>
          </p:cNvPr>
          <p:cNvSpPr txBox="1"/>
          <p:nvPr/>
        </p:nvSpPr>
        <p:spPr>
          <a:xfrm>
            <a:off x="6483637" y="4768078"/>
            <a:ext cx="5339335" cy="1298882"/>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GB"/>
              <a:t>Individual RF path validation</a:t>
            </a:r>
          </a:p>
          <a:p>
            <a:pPr marL="285750" indent="-285750">
              <a:lnSpc>
                <a:spcPct val="150000"/>
              </a:lnSpc>
              <a:buFont typeface="Courier New" panose="02070309020205020404" pitchFamily="49" charset="0"/>
              <a:buChar char="o"/>
            </a:pPr>
            <a:r>
              <a:rPr lang="en-GB"/>
              <a:t>Dual-SDR integration and calibration</a:t>
            </a:r>
          </a:p>
          <a:p>
            <a:pPr marL="285750" indent="-285750">
              <a:lnSpc>
                <a:spcPct val="150000"/>
              </a:lnSpc>
              <a:buFont typeface="Courier New" panose="02070309020205020404" pitchFamily="49" charset="0"/>
              <a:buChar char="o"/>
            </a:pPr>
            <a:r>
              <a:rPr lang="en-GB"/>
              <a:t>Switching repeatability and phase stability</a:t>
            </a:r>
            <a:endParaRPr lang="en-NZ"/>
          </a:p>
        </p:txBody>
      </p:sp>
      <p:sp>
        <p:nvSpPr>
          <p:cNvPr id="81" name="TextBox 80">
            <a:extLst>
              <a:ext uri="{FF2B5EF4-FFF2-40B4-BE49-F238E27FC236}">
                <a16:creationId xmlns:a16="http://schemas.microsoft.com/office/drawing/2014/main" id="{4B2EAD18-62A9-BFBF-6B9F-A7F5DFB2DCE9}"/>
              </a:ext>
            </a:extLst>
          </p:cNvPr>
          <p:cNvSpPr txBox="1"/>
          <p:nvPr/>
        </p:nvSpPr>
        <p:spPr>
          <a:xfrm>
            <a:off x="294695" y="2513898"/>
            <a:ext cx="3103625" cy="369332"/>
          </a:xfrm>
          <a:prstGeom prst="rect">
            <a:avLst/>
          </a:prstGeom>
          <a:noFill/>
        </p:spPr>
        <p:txBody>
          <a:bodyPr wrap="square" rtlCol="0">
            <a:spAutoFit/>
          </a:bodyPr>
          <a:lstStyle/>
          <a:p>
            <a:r>
              <a:rPr lang="en-GB" b="1"/>
              <a:t>Hardware Configuration</a:t>
            </a:r>
            <a:endParaRPr lang="en-NZ" b="1"/>
          </a:p>
        </p:txBody>
      </p:sp>
      <p:pic>
        <p:nvPicPr>
          <p:cNvPr id="11" name="Picture 10">
            <a:extLst>
              <a:ext uri="{FF2B5EF4-FFF2-40B4-BE49-F238E27FC236}">
                <a16:creationId xmlns:a16="http://schemas.microsoft.com/office/drawing/2014/main" id="{5DC8CF09-C981-DBA5-5698-5D1AB5E91F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075263" y="2758410"/>
            <a:ext cx="1542492" cy="2105842"/>
          </a:xfrm>
          <a:prstGeom prst="rect">
            <a:avLst/>
          </a:prstGeom>
        </p:spPr>
      </p:pic>
      <p:sp>
        <p:nvSpPr>
          <p:cNvPr id="13" name="TextBox 12">
            <a:extLst>
              <a:ext uri="{FF2B5EF4-FFF2-40B4-BE49-F238E27FC236}">
                <a16:creationId xmlns:a16="http://schemas.microsoft.com/office/drawing/2014/main" id="{DA783566-6C65-A1E6-60AE-5CF8FAF19BD4}"/>
              </a:ext>
            </a:extLst>
          </p:cNvPr>
          <p:cNvSpPr txBox="1"/>
          <p:nvPr/>
        </p:nvSpPr>
        <p:spPr>
          <a:xfrm>
            <a:off x="1185670" y="4349701"/>
            <a:ext cx="1669444" cy="338554"/>
          </a:xfrm>
          <a:prstGeom prst="rect">
            <a:avLst/>
          </a:prstGeom>
          <a:noFill/>
        </p:spPr>
        <p:txBody>
          <a:bodyPr wrap="square" rtlCol="0">
            <a:spAutoFit/>
          </a:bodyPr>
          <a:lstStyle/>
          <a:p>
            <a:r>
              <a:rPr lang="en-GB" sz="1600" b="1"/>
              <a:t>Slave SDR</a:t>
            </a:r>
            <a:endParaRPr lang="en-NZ" sz="1600" b="1"/>
          </a:p>
        </p:txBody>
      </p:sp>
      <p:cxnSp>
        <p:nvCxnSpPr>
          <p:cNvPr id="16" name="Connector: Elbow 15">
            <a:extLst>
              <a:ext uri="{FF2B5EF4-FFF2-40B4-BE49-F238E27FC236}">
                <a16:creationId xmlns:a16="http://schemas.microsoft.com/office/drawing/2014/main" id="{37B90473-1B15-447B-B415-4465D7A06A30}"/>
              </a:ext>
            </a:extLst>
          </p:cNvPr>
          <p:cNvCxnSpPr>
            <a:cxnSpLocks/>
          </p:cNvCxnSpPr>
          <p:nvPr/>
        </p:nvCxnSpPr>
        <p:spPr>
          <a:xfrm rot="16200000" flipV="1">
            <a:off x="170023" y="3324185"/>
            <a:ext cx="1938880" cy="1111550"/>
          </a:xfrm>
          <a:prstGeom prst="bentConnector3">
            <a:avLst>
              <a:gd name="adj1" fmla="val 6548"/>
            </a:avLst>
          </a:prstGeom>
          <a:ln w="28575">
            <a:solidFill>
              <a:srgbClr val="FFC000"/>
            </a:solidFill>
            <a:prstDash val="lgDash"/>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8A528726-B75E-4950-70DF-F272460AF3F9}"/>
              </a:ext>
            </a:extLst>
          </p:cNvPr>
          <p:cNvCxnSpPr>
            <a:cxnSpLocks/>
          </p:cNvCxnSpPr>
          <p:nvPr/>
        </p:nvCxnSpPr>
        <p:spPr>
          <a:xfrm>
            <a:off x="583687" y="2904139"/>
            <a:ext cx="1333054" cy="273900"/>
          </a:xfrm>
          <a:prstGeom prst="bentConnector3">
            <a:avLst>
              <a:gd name="adj1" fmla="val 100097"/>
            </a:avLst>
          </a:prstGeom>
          <a:ln w="28575">
            <a:solidFill>
              <a:srgbClr val="FFC000"/>
            </a:solidFill>
            <a:prstDash val="lgDash"/>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160A0A07-ACF6-270B-2267-545B29738771}"/>
              </a:ext>
            </a:extLst>
          </p:cNvPr>
          <p:cNvCxnSpPr>
            <a:cxnSpLocks/>
          </p:cNvCxnSpPr>
          <p:nvPr/>
        </p:nvCxnSpPr>
        <p:spPr>
          <a:xfrm flipV="1">
            <a:off x="2843023" y="4542766"/>
            <a:ext cx="711257" cy="635409"/>
          </a:xfrm>
          <a:prstGeom prst="bentConnector3">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315C2BF6-D7F3-9A42-5E72-8B4B152FA651}"/>
              </a:ext>
            </a:extLst>
          </p:cNvPr>
          <p:cNvCxnSpPr>
            <a:cxnSpLocks/>
          </p:cNvCxnSpPr>
          <p:nvPr/>
        </p:nvCxnSpPr>
        <p:spPr>
          <a:xfrm rot="10800000" flipV="1">
            <a:off x="2812952" y="5161349"/>
            <a:ext cx="1022181" cy="270185"/>
          </a:xfrm>
          <a:prstGeom prst="bentConnector3">
            <a:avLst>
              <a:gd name="adj1" fmla="val -319"/>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EB781DD1-6689-F2BE-44AE-7CD1E1D41669}"/>
              </a:ext>
            </a:extLst>
          </p:cNvPr>
          <p:cNvSpPr txBox="1"/>
          <p:nvPr/>
        </p:nvSpPr>
        <p:spPr>
          <a:xfrm>
            <a:off x="2820359" y="3756016"/>
            <a:ext cx="688460" cy="369332"/>
          </a:xfrm>
          <a:prstGeom prst="rect">
            <a:avLst/>
          </a:prstGeom>
          <a:noFill/>
        </p:spPr>
        <p:txBody>
          <a:bodyPr wrap="square" rtlCol="0">
            <a:spAutoFit/>
          </a:bodyPr>
          <a:lstStyle/>
          <a:p>
            <a:r>
              <a:rPr lang="en-GB"/>
              <a:t>RX0</a:t>
            </a:r>
            <a:endParaRPr lang="en-NZ"/>
          </a:p>
        </p:txBody>
      </p:sp>
      <p:sp>
        <p:nvSpPr>
          <p:cNvPr id="62" name="TextBox 61">
            <a:extLst>
              <a:ext uri="{FF2B5EF4-FFF2-40B4-BE49-F238E27FC236}">
                <a16:creationId xmlns:a16="http://schemas.microsoft.com/office/drawing/2014/main" id="{82DF4AC7-321A-D360-549C-B6A7C2525E8D}"/>
              </a:ext>
            </a:extLst>
          </p:cNvPr>
          <p:cNvSpPr txBox="1"/>
          <p:nvPr/>
        </p:nvSpPr>
        <p:spPr>
          <a:xfrm>
            <a:off x="715286" y="2920657"/>
            <a:ext cx="942323" cy="369332"/>
          </a:xfrm>
          <a:prstGeom prst="rect">
            <a:avLst/>
          </a:prstGeom>
          <a:noFill/>
        </p:spPr>
        <p:txBody>
          <a:bodyPr wrap="square" rtlCol="0">
            <a:spAutoFit/>
          </a:bodyPr>
          <a:lstStyle/>
          <a:p>
            <a:r>
              <a:rPr lang="en-GB"/>
              <a:t>CLOCK</a:t>
            </a:r>
            <a:endParaRPr lang="en-NZ"/>
          </a:p>
        </p:txBody>
      </p:sp>
      <p:pic>
        <p:nvPicPr>
          <p:cNvPr id="5" name="Picture 4">
            <a:extLst>
              <a:ext uri="{FF2B5EF4-FFF2-40B4-BE49-F238E27FC236}">
                <a16:creationId xmlns:a16="http://schemas.microsoft.com/office/drawing/2014/main" id="{F856C417-AB19-47B1-B92D-8827E2E9ED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8819" y="3811331"/>
            <a:ext cx="1448238" cy="1509319"/>
          </a:xfrm>
          <a:prstGeom prst="rect">
            <a:avLst/>
          </a:prstGeom>
        </p:spPr>
      </p:pic>
      <p:pic>
        <p:nvPicPr>
          <p:cNvPr id="29" name="Picture 28">
            <a:extLst>
              <a:ext uri="{FF2B5EF4-FFF2-40B4-BE49-F238E27FC236}">
                <a16:creationId xmlns:a16="http://schemas.microsoft.com/office/drawing/2014/main" id="{3518EBF1-3F6B-27D5-AED5-F58E1F55A7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04823" y="2988264"/>
            <a:ext cx="847138" cy="847138"/>
          </a:xfrm>
          <a:prstGeom prst="rect">
            <a:avLst/>
          </a:prstGeom>
        </p:spPr>
      </p:pic>
      <p:cxnSp>
        <p:nvCxnSpPr>
          <p:cNvPr id="45" name="Connector: Elbow 44">
            <a:extLst>
              <a:ext uri="{FF2B5EF4-FFF2-40B4-BE49-F238E27FC236}">
                <a16:creationId xmlns:a16="http://schemas.microsoft.com/office/drawing/2014/main" id="{2A968DF4-475E-5BEA-CEEC-9E3F4D417685}"/>
              </a:ext>
            </a:extLst>
          </p:cNvPr>
          <p:cNvCxnSpPr>
            <a:cxnSpLocks/>
          </p:cNvCxnSpPr>
          <p:nvPr/>
        </p:nvCxnSpPr>
        <p:spPr>
          <a:xfrm rot="10800000">
            <a:off x="2798055" y="3744279"/>
            <a:ext cx="1284517" cy="180833"/>
          </a:xfrm>
          <a:prstGeom prst="bentConnector3">
            <a:avLst>
              <a:gd name="adj1" fmla="val -424"/>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CD02DC75-C50B-61DA-FC29-2F1433926898}"/>
              </a:ext>
            </a:extLst>
          </p:cNvPr>
          <p:cNvCxnSpPr>
            <a:cxnSpLocks/>
          </p:cNvCxnSpPr>
          <p:nvPr/>
        </p:nvCxnSpPr>
        <p:spPr>
          <a:xfrm flipV="1">
            <a:off x="2812699" y="2694342"/>
            <a:ext cx="2326694" cy="808163"/>
          </a:xfrm>
          <a:prstGeom prst="bentConnector3">
            <a:avLst/>
          </a:prstGeom>
          <a:ln w="28575">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40F5CF17-6113-F5D7-7D10-E3B926D0267D}"/>
              </a:ext>
            </a:extLst>
          </p:cNvPr>
          <p:cNvCxnSpPr>
            <a:cxnSpLocks/>
          </p:cNvCxnSpPr>
          <p:nvPr/>
        </p:nvCxnSpPr>
        <p:spPr>
          <a:xfrm>
            <a:off x="5111599" y="2698564"/>
            <a:ext cx="416793" cy="387576"/>
          </a:xfrm>
          <a:prstGeom prst="bentConnector3">
            <a:avLst>
              <a:gd name="adj1" fmla="val 97992"/>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DA9C715E-F9FA-BB86-94DA-6D1454343F16}"/>
              </a:ext>
            </a:extLst>
          </p:cNvPr>
          <p:cNvCxnSpPr>
            <a:cxnSpLocks/>
            <a:stCxn id="29" idx="1"/>
          </p:cNvCxnSpPr>
          <p:nvPr/>
        </p:nvCxnSpPr>
        <p:spPr>
          <a:xfrm rot="10800000" flipV="1">
            <a:off x="4266095" y="3411833"/>
            <a:ext cx="838729" cy="484652"/>
          </a:xfrm>
          <a:prstGeom prst="bentConnector3">
            <a:avLst>
              <a:gd name="adj1" fmla="val 99969"/>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9A4A7772-597E-C92D-209A-59CC40AF7F74}"/>
              </a:ext>
            </a:extLst>
          </p:cNvPr>
          <p:cNvCxnSpPr>
            <a:cxnSpLocks/>
            <a:stCxn id="29" idx="2"/>
          </p:cNvCxnSpPr>
          <p:nvPr/>
        </p:nvCxnSpPr>
        <p:spPr>
          <a:xfrm rot="5400000">
            <a:off x="4293882" y="4304086"/>
            <a:ext cx="1703194" cy="765827"/>
          </a:xfrm>
          <a:prstGeom prst="bentConnector3">
            <a:avLst>
              <a:gd name="adj1" fmla="val 99772"/>
            </a:avLst>
          </a:prstGeom>
          <a:ln w="28575">
            <a:solidFill>
              <a:schemeClr val="accent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5" name="Connector: Elbow 84">
            <a:extLst>
              <a:ext uri="{FF2B5EF4-FFF2-40B4-BE49-F238E27FC236}">
                <a16:creationId xmlns:a16="http://schemas.microsoft.com/office/drawing/2014/main" id="{978580A1-4CD0-F63B-FABB-3E7C369EAD34}"/>
              </a:ext>
            </a:extLst>
          </p:cNvPr>
          <p:cNvCxnSpPr>
            <a:cxnSpLocks/>
          </p:cNvCxnSpPr>
          <p:nvPr/>
        </p:nvCxnSpPr>
        <p:spPr>
          <a:xfrm rot="10800000">
            <a:off x="4024552" y="5296442"/>
            <a:ext cx="738012" cy="242154"/>
          </a:xfrm>
          <a:prstGeom prst="bentConnector3">
            <a:avLst>
              <a:gd name="adj1" fmla="val 100335"/>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6E62DE4B-3276-4DC1-6180-F8D28EA6A7A5}"/>
              </a:ext>
            </a:extLst>
          </p:cNvPr>
          <p:cNvSpPr txBox="1"/>
          <p:nvPr/>
        </p:nvSpPr>
        <p:spPr>
          <a:xfrm>
            <a:off x="2753696" y="3105994"/>
            <a:ext cx="688460" cy="369332"/>
          </a:xfrm>
          <a:prstGeom prst="rect">
            <a:avLst/>
          </a:prstGeom>
          <a:noFill/>
        </p:spPr>
        <p:txBody>
          <a:bodyPr wrap="square" rtlCol="0">
            <a:spAutoFit/>
          </a:bodyPr>
          <a:lstStyle/>
          <a:p>
            <a:r>
              <a:rPr lang="en-GB"/>
              <a:t>TX0</a:t>
            </a:r>
            <a:endParaRPr lang="en-NZ"/>
          </a:p>
        </p:txBody>
      </p:sp>
      <p:sp>
        <p:nvSpPr>
          <p:cNvPr id="95" name="TextBox 94">
            <a:extLst>
              <a:ext uri="{FF2B5EF4-FFF2-40B4-BE49-F238E27FC236}">
                <a16:creationId xmlns:a16="http://schemas.microsoft.com/office/drawing/2014/main" id="{3548D452-1E49-3B5D-6920-A90559A2DE71}"/>
              </a:ext>
            </a:extLst>
          </p:cNvPr>
          <p:cNvSpPr txBox="1"/>
          <p:nvPr/>
        </p:nvSpPr>
        <p:spPr>
          <a:xfrm>
            <a:off x="2581214" y="4737291"/>
            <a:ext cx="688460" cy="369332"/>
          </a:xfrm>
          <a:prstGeom prst="rect">
            <a:avLst/>
          </a:prstGeom>
          <a:noFill/>
        </p:spPr>
        <p:txBody>
          <a:bodyPr wrap="square" rtlCol="0">
            <a:spAutoFit/>
          </a:bodyPr>
          <a:lstStyle/>
          <a:p>
            <a:r>
              <a:rPr lang="en-GB"/>
              <a:t>TX0</a:t>
            </a:r>
            <a:endParaRPr lang="en-NZ"/>
          </a:p>
        </p:txBody>
      </p:sp>
      <p:sp>
        <p:nvSpPr>
          <p:cNvPr id="96" name="TextBox 95">
            <a:extLst>
              <a:ext uri="{FF2B5EF4-FFF2-40B4-BE49-F238E27FC236}">
                <a16:creationId xmlns:a16="http://schemas.microsoft.com/office/drawing/2014/main" id="{8EAD055E-93BA-0517-984B-DE0FAFA6ADEA}"/>
              </a:ext>
            </a:extLst>
          </p:cNvPr>
          <p:cNvSpPr txBox="1"/>
          <p:nvPr/>
        </p:nvSpPr>
        <p:spPr>
          <a:xfrm>
            <a:off x="6533364" y="2883230"/>
            <a:ext cx="5544336" cy="1298882"/>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GB"/>
              <a:t>Validate RF signal paths</a:t>
            </a:r>
          </a:p>
          <a:p>
            <a:pPr marL="285750" indent="-285750">
              <a:lnSpc>
                <a:spcPct val="150000"/>
              </a:lnSpc>
              <a:buFont typeface="Courier New" panose="02070309020205020404" pitchFamily="49" charset="0"/>
              <a:buChar char="o"/>
            </a:pPr>
            <a:r>
              <a:rPr lang="en-NZ"/>
              <a:t>Assess whether calibration holds after switching between RF paths.</a:t>
            </a:r>
            <a:endParaRPr lang="en-GB"/>
          </a:p>
        </p:txBody>
      </p:sp>
    </p:spTree>
    <p:extLst>
      <p:ext uri="{BB962C8B-B14F-4D97-AF65-F5344CB8AC3E}">
        <p14:creationId xmlns:p14="http://schemas.microsoft.com/office/powerpoint/2010/main" val="3633641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BD3B7-F055-FBB6-A792-0DF274E790B2}"/>
              </a:ext>
            </a:extLst>
          </p:cNvPr>
          <p:cNvSpPr>
            <a:spLocks noGrp="1"/>
          </p:cNvSpPr>
          <p:nvPr>
            <p:ph type="title"/>
          </p:nvPr>
        </p:nvSpPr>
        <p:spPr>
          <a:xfrm>
            <a:off x="838200" y="260351"/>
            <a:ext cx="10515600" cy="920750"/>
          </a:xfrm>
        </p:spPr>
        <p:txBody>
          <a:bodyPr/>
          <a:lstStyle/>
          <a:p>
            <a:pPr algn="ctr"/>
            <a:r>
              <a:rPr lang="en-GB"/>
              <a:t>RF Switch Board Integration &amp; Validation</a:t>
            </a:r>
            <a:endParaRPr lang="en-NZ"/>
          </a:p>
        </p:txBody>
      </p:sp>
      <p:cxnSp>
        <p:nvCxnSpPr>
          <p:cNvPr id="6" name="Straight Connector 5">
            <a:extLst>
              <a:ext uri="{FF2B5EF4-FFF2-40B4-BE49-F238E27FC236}">
                <a16:creationId xmlns:a16="http://schemas.microsoft.com/office/drawing/2014/main" id="{625D7909-F668-6441-9927-98B466B4D26F}"/>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0BA140B4-D386-2512-CC5E-56B7A3BE15A3}"/>
              </a:ext>
            </a:extLst>
          </p:cNvPr>
          <p:cNvSpPr/>
          <p:nvPr/>
        </p:nvSpPr>
        <p:spPr>
          <a:xfrm>
            <a:off x="435103" y="1495479"/>
            <a:ext cx="3574922" cy="118607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1. Individual Path Validation</a:t>
            </a:r>
          </a:p>
          <a:p>
            <a:pPr algn="ctr"/>
            <a:r>
              <a:rPr lang="en-GB" sz="1600">
                <a:solidFill>
                  <a:schemeClr val="tx1"/>
                </a:solidFill>
              </a:rPr>
              <a:t>Verified NOISE and ANTENNA paths separately</a:t>
            </a:r>
            <a:endParaRPr lang="en-NZ" sz="1600">
              <a:solidFill>
                <a:schemeClr val="tx1"/>
              </a:solidFill>
            </a:endParaRPr>
          </a:p>
        </p:txBody>
      </p:sp>
      <p:sp>
        <p:nvSpPr>
          <p:cNvPr id="11" name="Rectangle: Rounded Corners 10">
            <a:extLst>
              <a:ext uri="{FF2B5EF4-FFF2-40B4-BE49-F238E27FC236}">
                <a16:creationId xmlns:a16="http://schemas.microsoft.com/office/drawing/2014/main" id="{7C5BB143-22D1-04B8-CB43-A9CC6067264E}"/>
              </a:ext>
            </a:extLst>
          </p:cNvPr>
          <p:cNvSpPr/>
          <p:nvPr/>
        </p:nvSpPr>
        <p:spPr>
          <a:xfrm>
            <a:off x="435103" y="3162354"/>
            <a:ext cx="3574922" cy="118607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2. Dual SDR Integration</a:t>
            </a:r>
          </a:p>
          <a:p>
            <a:pPr algn="ctr"/>
            <a:r>
              <a:rPr lang="en-GB" sz="1600">
                <a:solidFill>
                  <a:schemeClr val="tx1"/>
                </a:solidFill>
              </a:rPr>
              <a:t>Verified calibration through the board</a:t>
            </a:r>
            <a:endParaRPr lang="en-NZ" sz="1600">
              <a:solidFill>
                <a:schemeClr val="tx1"/>
              </a:solidFill>
            </a:endParaRPr>
          </a:p>
        </p:txBody>
      </p:sp>
      <p:sp>
        <p:nvSpPr>
          <p:cNvPr id="13" name="Rectangle: Rounded Corners 12">
            <a:extLst>
              <a:ext uri="{FF2B5EF4-FFF2-40B4-BE49-F238E27FC236}">
                <a16:creationId xmlns:a16="http://schemas.microsoft.com/office/drawing/2014/main" id="{CB2F96C7-F94E-1DE9-A98C-668D7FDD699E}"/>
              </a:ext>
            </a:extLst>
          </p:cNvPr>
          <p:cNvSpPr/>
          <p:nvPr/>
        </p:nvSpPr>
        <p:spPr>
          <a:xfrm>
            <a:off x="435103" y="4829229"/>
            <a:ext cx="3574922" cy="118607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3. Switching Repeatability</a:t>
            </a:r>
          </a:p>
          <a:p>
            <a:pPr algn="ctr"/>
            <a:r>
              <a:rPr lang="en-GB" sz="1600">
                <a:solidFill>
                  <a:schemeClr val="tx1"/>
                </a:solidFill>
              </a:rPr>
              <a:t>NOISE → ANTENNA → NOISE</a:t>
            </a:r>
            <a:endParaRPr lang="en-NZ" sz="1600">
              <a:solidFill>
                <a:schemeClr val="tx1"/>
              </a:solidFill>
            </a:endParaRPr>
          </a:p>
        </p:txBody>
      </p:sp>
      <p:sp>
        <p:nvSpPr>
          <p:cNvPr id="14" name="TextBox 13">
            <a:extLst>
              <a:ext uri="{FF2B5EF4-FFF2-40B4-BE49-F238E27FC236}">
                <a16:creationId xmlns:a16="http://schemas.microsoft.com/office/drawing/2014/main" id="{3302881A-EFF9-9ACE-9443-67B932847F0C}"/>
              </a:ext>
            </a:extLst>
          </p:cNvPr>
          <p:cNvSpPr txBox="1"/>
          <p:nvPr/>
        </p:nvSpPr>
        <p:spPr>
          <a:xfrm>
            <a:off x="5203318" y="1425059"/>
            <a:ext cx="3740657" cy="369332"/>
          </a:xfrm>
          <a:prstGeom prst="rect">
            <a:avLst/>
          </a:prstGeom>
          <a:noFill/>
        </p:spPr>
        <p:txBody>
          <a:bodyPr wrap="square" rtlCol="0">
            <a:spAutoFit/>
          </a:bodyPr>
          <a:lstStyle/>
          <a:p>
            <a:r>
              <a:rPr lang="en-GB" b="1"/>
              <a:t>Switching Test Results</a:t>
            </a:r>
            <a:endParaRPr lang="en-NZ" b="1"/>
          </a:p>
        </p:txBody>
      </p:sp>
      <p:graphicFrame>
        <p:nvGraphicFramePr>
          <p:cNvPr id="15" name="Table 14">
            <a:extLst>
              <a:ext uri="{FF2B5EF4-FFF2-40B4-BE49-F238E27FC236}">
                <a16:creationId xmlns:a16="http://schemas.microsoft.com/office/drawing/2014/main" id="{358F721D-BFF9-7A29-01AC-3FBDD78AA622}"/>
              </a:ext>
            </a:extLst>
          </p:cNvPr>
          <p:cNvGraphicFramePr>
            <a:graphicFrameLocks noGrp="1"/>
          </p:cNvGraphicFramePr>
          <p:nvPr>
            <p:extLst>
              <p:ext uri="{D42A27DB-BD31-4B8C-83A1-F6EECF244321}">
                <p14:modId xmlns:p14="http://schemas.microsoft.com/office/powerpoint/2010/main" val="2943686446"/>
              </p:ext>
            </p:extLst>
          </p:nvPr>
        </p:nvGraphicFramePr>
        <p:xfrm>
          <a:off x="5306189" y="1897725"/>
          <a:ext cx="5751576" cy="1107440"/>
        </p:xfrm>
        <a:graphic>
          <a:graphicData uri="http://schemas.openxmlformats.org/drawingml/2006/table">
            <a:tbl>
              <a:tblPr firstRow="1" bandRow="1">
                <a:tableStyleId>{2D5ABB26-0587-4C30-8999-92F81FD0307C}</a:tableStyleId>
              </a:tblPr>
              <a:tblGrid>
                <a:gridCol w="1917192">
                  <a:extLst>
                    <a:ext uri="{9D8B030D-6E8A-4147-A177-3AD203B41FA5}">
                      <a16:colId xmlns:a16="http://schemas.microsoft.com/office/drawing/2014/main" val="751254339"/>
                    </a:ext>
                  </a:extLst>
                </a:gridCol>
                <a:gridCol w="1917192">
                  <a:extLst>
                    <a:ext uri="{9D8B030D-6E8A-4147-A177-3AD203B41FA5}">
                      <a16:colId xmlns:a16="http://schemas.microsoft.com/office/drawing/2014/main" val="2969598131"/>
                    </a:ext>
                  </a:extLst>
                </a:gridCol>
                <a:gridCol w="1917192">
                  <a:extLst>
                    <a:ext uri="{9D8B030D-6E8A-4147-A177-3AD203B41FA5}">
                      <a16:colId xmlns:a16="http://schemas.microsoft.com/office/drawing/2014/main" val="4096369044"/>
                    </a:ext>
                  </a:extLst>
                </a:gridCol>
              </a:tblGrid>
              <a:tr h="331472">
                <a:tc>
                  <a:txBody>
                    <a:bodyPr/>
                    <a:lstStyle/>
                    <a:p>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t>10 Switches</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t>No Switch (180s)</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6194609"/>
                  </a:ext>
                </a:extLst>
              </a:tr>
              <a:tr h="370840">
                <a:tc>
                  <a:txBody>
                    <a:bodyPr/>
                    <a:lstStyle/>
                    <a:p>
                      <a:pPr algn="l"/>
                      <a:r>
                        <a:rPr lang="en-GB"/>
                        <a:t>Correlation</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t>0.99893</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t>0.99901</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4392840"/>
                  </a:ext>
                </a:extLst>
              </a:tr>
              <a:tr h="370840">
                <a:tc>
                  <a:txBody>
                    <a:bodyPr/>
                    <a:lstStyle/>
                    <a:p>
                      <a:pPr algn="l"/>
                      <a:r>
                        <a:rPr lang="en-GB"/>
                        <a:t>Phase Change</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t>+0.310°</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a:t>+0.202°</a:t>
                      </a:r>
                      <a:endParaRPr lang="en-NZ"/>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0755388"/>
                  </a:ext>
                </a:extLst>
              </a:tr>
            </a:tbl>
          </a:graphicData>
        </a:graphic>
      </p:graphicFrame>
      <p:cxnSp>
        <p:nvCxnSpPr>
          <p:cNvPr id="17" name="Straight Arrow Connector 16">
            <a:extLst>
              <a:ext uri="{FF2B5EF4-FFF2-40B4-BE49-F238E27FC236}">
                <a16:creationId xmlns:a16="http://schemas.microsoft.com/office/drawing/2014/main" id="{ECFAD690-9770-1B38-1EC2-FC228DFF843C}"/>
              </a:ext>
            </a:extLst>
          </p:cNvPr>
          <p:cNvCxnSpPr>
            <a:stCxn id="9" idx="2"/>
            <a:endCxn id="11" idx="0"/>
          </p:cNvCxnSpPr>
          <p:nvPr/>
        </p:nvCxnSpPr>
        <p:spPr>
          <a:xfrm>
            <a:off x="2222564" y="2681555"/>
            <a:ext cx="0" cy="48079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C89F166-04EB-CB55-6461-8CFFA048E39F}"/>
              </a:ext>
            </a:extLst>
          </p:cNvPr>
          <p:cNvCxnSpPr>
            <a:stCxn id="11" idx="2"/>
            <a:endCxn id="13" idx="0"/>
          </p:cNvCxnSpPr>
          <p:nvPr/>
        </p:nvCxnSpPr>
        <p:spPr>
          <a:xfrm>
            <a:off x="2222564" y="4348430"/>
            <a:ext cx="0" cy="48079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ACDB9CFA-2065-424C-7039-A997F1B37C2B}"/>
              </a:ext>
            </a:extLst>
          </p:cNvPr>
          <p:cNvSpPr/>
          <p:nvPr/>
        </p:nvSpPr>
        <p:spPr>
          <a:xfrm>
            <a:off x="5203318" y="3663949"/>
            <a:ext cx="6150480" cy="2933700"/>
          </a:xfrm>
          <a:prstGeom prst="roundRect">
            <a:avLst/>
          </a:prstGeom>
          <a:solidFill>
            <a:schemeClr val="bg1"/>
          </a:solidFill>
          <a:ln>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2" name="TextBox 21">
            <a:extLst>
              <a:ext uri="{FF2B5EF4-FFF2-40B4-BE49-F238E27FC236}">
                <a16:creationId xmlns:a16="http://schemas.microsoft.com/office/drawing/2014/main" id="{2A1214F7-8C4F-6BDC-4C84-9036F4673EB3}"/>
              </a:ext>
            </a:extLst>
          </p:cNvPr>
          <p:cNvSpPr txBox="1"/>
          <p:nvPr/>
        </p:nvSpPr>
        <p:spPr>
          <a:xfrm>
            <a:off x="5203318" y="3149891"/>
            <a:ext cx="3740657" cy="369332"/>
          </a:xfrm>
          <a:prstGeom prst="rect">
            <a:avLst/>
          </a:prstGeom>
          <a:noFill/>
        </p:spPr>
        <p:txBody>
          <a:bodyPr wrap="square" rtlCol="0">
            <a:spAutoFit/>
          </a:bodyPr>
          <a:lstStyle/>
          <a:p>
            <a:r>
              <a:rPr lang="en-GB" b="1"/>
              <a:t>Run-to-Run Phase Repeatability</a:t>
            </a:r>
            <a:endParaRPr lang="en-NZ" b="1"/>
          </a:p>
        </p:txBody>
      </p:sp>
      <p:sp>
        <p:nvSpPr>
          <p:cNvPr id="23" name="TextBox 22">
            <a:extLst>
              <a:ext uri="{FF2B5EF4-FFF2-40B4-BE49-F238E27FC236}">
                <a16:creationId xmlns:a16="http://schemas.microsoft.com/office/drawing/2014/main" id="{E7236F11-DBD2-DFFF-9679-1AA0581B9250}"/>
              </a:ext>
            </a:extLst>
          </p:cNvPr>
          <p:cNvSpPr txBox="1"/>
          <p:nvPr/>
        </p:nvSpPr>
        <p:spPr>
          <a:xfrm>
            <a:off x="5898643" y="3748525"/>
            <a:ext cx="5238750" cy="369332"/>
          </a:xfrm>
          <a:prstGeom prst="rect">
            <a:avLst/>
          </a:prstGeom>
          <a:noFill/>
        </p:spPr>
        <p:txBody>
          <a:bodyPr wrap="square" rtlCol="0">
            <a:spAutoFit/>
          </a:bodyPr>
          <a:lstStyle/>
          <a:p>
            <a:r>
              <a:rPr lang="en-GB"/>
              <a:t>10 independent starts, NOISE → ANTENNA</a:t>
            </a:r>
            <a:endParaRPr lang="en-NZ"/>
          </a:p>
        </p:txBody>
      </p:sp>
      <p:sp>
        <p:nvSpPr>
          <p:cNvPr id="24" name="TextBox 23">
            <a:extLst>
              <a:ext uri="{FF2B5EF4-FFF2-40B4-BE49-F238E27FC236}">
                <a16:creationId xmlns:a16="http://schemas.microsoft.com/office/drawing/2014/main" id="{2134C5AC-49DC-C911-010E-27FDCB1737B5}"/>
              </a:ext>
            </a:extLst>
          </p:cNvPr>
          <p:cNvSpPr txBox="1"/>
          <p:nvPr/>
        </p:nvSpPr>
        <p:spPr>
          <a:xfrm>
            <a:off x="7665721" y="4219985"/>
            <a:ext cx="1381125" cy="461665"/>
          </a:xfrm>
          <a:prstGeom prst="rect">
            <a:avLst/>
          </a:prstGeom>
          <a:noFill/>
        </p:spPr>
        <p:txBody>
          <a:bodyPr wrap="square" rtlCol="0">
            <a:spAutoFit/>
          </a:bodyPr>
          <a:lstStyle/>
          <a:p>
            <a:r>
              <a:rPr lang="en-GB" sz="2400" b="1"/>
              <a:t>15.084°</a:t>
            </a:r>
            <a:endParaRPr lang="en-NZ" sz="2400" b="1"/>
          </a:p>
        </p:txBody>
      </p:sp>
      <p:sp>
        <p:nvSpPr>
          <p:cNvPr id="26" name="TextBox 25">
            <a:extLst>
              <a:ext uri="{FF2B5EF4-FFF2-40B4-BE49-F238E27FC236}">
                <a16:creationId xmlns:a16="http://schemas.microsoft.com/office/drawing/2014/main" id="{D4889E7F-CC66-F6E8-6AE8-237479998568}"/>
              </a:ext>
            </a:extLst>
          </p:cNvPr>
          <p:cNvSpPr txBox="1"/>
          <p:nvPr/>
        </p:nvSpPr>
        <p:spPr>
          <a:xfrm>
            <a:off x="6400229" y="4706524"/>
            <a:ext cx="3569207" cy="369332"/>
          </a:xfrm>
          <a:prstGeom prst="rect">
            <a:avLst/>
          </a:prstGeom>
          <a:noFill/>
        </p:spPr>
        <p:txBody>
          <a:bodyPr wrap="square" rtlCol="0">
            <a:spAutoFit/>
          </a:bodyPr>
          <a:lstStyle/>
          <a:p>
            <a:r>
              <a:rPr lang="en-GB"/>
              <a:t>Total residual phase offset spread</a:t>
            </a:r>
            <a:endParaRPr lang="en-NZ"/>
          </a:p>
        </p:txBody>
      </p:sp>
      <p:sp>
        <p:nvSpPr>
          <p:cNvPr id="27" name="TextBox 26">
            <a:extLst>
              <a:ext uri="{FF2B5EF4-FFF2-40B4-BE49-F238E27FC236}">
                <a16:creationId xmlns:a16="http://schemas.microsoft.com/office/drawing/2014/main" id="{14E37C1F-1FF4-81A9-3152-4FC6850F0064}"/>
              </a:ext>
            </a:extLst>
          </p:cNvPr>
          <p:cNvSpPr txBox="1"/>
          <p:nvPr/>
        </p:nvSpPr>
        <p:spPr>
          <a:xfrm>
            <a:off x="5526596" y="5253580"/>
            <a:ext cx="873633" cy="369332"/>
          </a:xfrm>
          <a:prstGeom prst="rect">
            <a:avLst/>
          </a:prstGeom>
          <a:noFill/>
        </p:spPr>
        <p:txBody>
          <a:bodyPr wrap="square" rtlCol="0">
            <a:spAutoFit/>
          </a:bodyPr>
          <a:lstStyle/>
          <a:p>
            <a:r>
              <a:rPr lang="en-GB"/>
              <a:t>-11.02</a:t>
            </a:r>
            <a:endParaRPr lang="en-NZ"/>
          </a:p>
        </p:txBody>
      </p:sp>
      <p:sp>
        <p:nvSpPr>
          <p:cNvPr id="29" name="TextBox 28">
            <a:extLst>
              <a:ext uri="{FF2B5EF4-FFF2-40B4-BE49-F238E27FC236}">
                <a16:creationId xmlns:a16="http://schemas.microsoft.com/office/drawing/2014/main" id="{FD2A1AF9-FA2A-F07E-D6A8-8C62472D1499}"/>
              </a:ext>
            </a:extLst>
          </p:cNvPr>
          <p:cNvSpPr txBox="1"/>
          <p:nvPr/>
        </p:nvSpPr>
        <p:spPr>
          <a:xfrm>
            <a:off x="10184132" y="5253580"/>
            <a:ext cx="873633" cy="369332"/>
          </a:xfrm>
          <a:prstGeom prst="rect">
            <a:avLst/>
          </a:prstGeom>
          <a:noFill/>
        </p:spPr>
        <p:txBody>
          <a:bodyPr wrap="square" rtlCol="0">
            <a:spAutoFit/>
          </a:bodyPr>
          <a:lstStyle/>
          <a:p>
            <a:r>
              <a:rPr lang="en-GB"/>
              <a:t>+4.07</a:t>
            </a:r>
            <a:endParaRPr lang="en-NZ"/>
          </a:p>
        </p:txBody>
      </p:sp>
      <p:cxnSp>
        <p:nvCxnSpPr>
          <p:cNvPr id="31" name="Straight Connector 30">
            <a:extLst>
              <a:ext uri="{FF2B5EF4-FFF2-40B4-BE49-F238E27FC236}">
                <a16:creationId xmlns:a16="http://schemas.microsoft.com/office/drawing/2014/main" id="{81FDA2D5-641F-F647-B2C2-49999D7C2466}"/>
              </a:ext>
            </a:extLst>
          </p:cNvPr>
          <p:cNvCxnSpPr/>
          <p:nvPr/>
        </p:nvCxnSpPr>
        <p:spPr>
          <a:xfrm>
            <a:off x="6400229" y="5438246"/>
            <a:ext cx="3696271" cy="0"/>
          </a:xfrm>
          <a:prstGeom prst="line">
            <a:avLst/>
          </a:prstGeom>
          <a:ln w="28575">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F0340546-C74D-F08A-3DA1-161FF3D98568}"/>
              </a:ext>
            </a:extLst>
          </p:cNvPr>
          <p:cNvSpPr txBox="1"/>
          <p:nvPr/>
        </p:nvSpPr>
        <p:spPr>
          <a:xfrm>
            <a:off x="6937439" y="5833282"/>
            <a:ext cx="2837688" cy="369332"/>
          </a:xfrm>
          <a:prstGeom prst="rect">
            <a:avLst/>
          </a:prstGeom>
          <a:noFill/>
        </p:spPr>
        <p:txBody>
          <a:bodyPr wrap="square" rtlCol="0">
            <a:spAutoFit/>
          </a:bodyPr>
          <a:lstStyle/>
          <a:p>
            <a:r>
              <a:rPr lang="en-GB"/>
              <a:t>Mean correlation: 0.9989</a:t>
            </a:r>
            <a:endParaRPr lang="en-NZ"/>
          </a:p>
        </p:txBody>
      </p:sp>
    </p:spTree>
    <p:extLst>
      <p:ext uri="{BB962C8B-B14F-4D97-AF65-F5344CB8AC3E}">
        <p14:creationId xmlns:p14="http://schemas.microsoft.com/office/powerpoint/2010/main" val="3896022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63D6E-8E9E-C9F8-3F7F-71A5E271A0FA}"/>
              </a:ext>
            </a:extLst>
          </p:cNvPr>
          <p:cNvSpPr>
            <a:spLocks noGrp="1"/>
          </p:cNvSpPr>
          <p:nvPr>
            <p:ph type="title"/>
          </p:nvPr>
        </p:nvSpPr>
        <p:spPr>
          <a:xfrm>
            <a:off x="435103" y="365125"/>
            <a:ext cx="11155680" cy="732157"/>
          </a:xfrm>
        </p:spPr>
        <p:txBody>
          <a:bodyPr/>
          <a:lstStyle/>
          <a:p>
            <a:pPr algn="ctr"/>
            <a:r>
              <a:rPr lang="en-GB"/>
              <a:t>Residual Phase Offset Investigation</a:t>
            </a:r>
            <a:endParaRPr lang="en-NZ"/>
          </a:p>
        </p:txBody>
      </p:sp>
      <p:cxnSp>
        <p:nvCxnSpPr>
          <p:cNvPr id="4" name="Straight Connector 3">
            <a:extLst>
              <a:ext uri="{FF2B5EF4-FFF2-40B4-BE49-F238E27FC236}">
                <a16:creationId xmlns:a16="http://schemas.microsoft.com/office/drawing/2014/main" id="{D1F08522-19D0-C423-8A6C-F1D734EBC030}"/>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9E4A03B8-E9C6-4DE9-4B81-C588D8E8F3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103" y="4077068"/>
            <a:ext cx="4746497" cy="2747975"/>
          </a:xfrm>
          <a:prstGeom prst="rect">
            <a:avLst/>
          </a:prstGeom>
        </p:spPr>
      </p:pic>
      <p:graphicFrame>
        <p:nvGraphicFramePr>
          <p:cNvPr id="6" name="Table 5">
            <a:extLst>
              <a:ext uri="{FF2B5EF4-FFF2-40B4-BE49-F238E27FC236}">
                <a16:creationId xmlns:a16="http://schemas.microsoft.com/office/drawing/2014/main" id="{39E88931-CF7B-233C-04C5-92338E0F4654}"/>
              </a:ext>
            </a:extLst>
          </p:cNvPr>
          <p:cNvGraphicFramePr>
            <a:graphicFrameLocks noGrp="1"/>
          </p:cNvGraphicFramePr>
          <p:nvPr>
            <p:extLst>
              <p:ext uri="{D42A27DB-BD31-4B8C-83A1-F6EECF244321}">
                <p14:modId xmlns:p14="http://schemas.microsoft.com/office/powerpoint/2010/main" val="2854153311"/>
              </p:ext>
            </p:extLst>
          </p:nvPr>
        </p:nvGraphicFramePr>
        <p:xfrm>
          <a:off x="805433" y="1166203"/>
          <a:ext cx="10581133" cy="2841945"/>
        </p:xfrm>
        <a:graphic>
          <a:graphicData uri="http://schemas.openxmlformats.org/drawingml/2006/table">
            <a:tbl>
              <a:tblPr firstRow="1" bandRow="1">
                <a:tableStyleId>{2D5ABB26-0587-4C30-8999-92F81FD0307C}</a:tableStyleId>
              </a:tblPr>
              <a:tblGrid>
                <a:gridCol w="4282078">
                  <a:extLst>
                    <a:ext uri="{9D8B030D-6E8A-4147-A177-3AD203B41FA5}">
                      <a16:colId xmlns:a16="http://schemas.microsoft.com/office/drawing/2014/main" val="756129279"/>
                    </a:ext>
                  </a:extLst>
                </a:gridCol>
                <a:gridCol w="2772011">
                  <a:extLst>
                    <a:ext uri="{9D8B030D-6E8A-4147-A177-3AD203B41FA5}">
                      <a16:colId xmlns:a16="http://schemas.microsoft.com/office/drawing/2014/main" val="2885539482"/>
                    </a:ext>
                  </a:extLst>
                </a:gridCol>
                <a:gridCol w="3527044">
                  <a:extLst>
                    <a:ext uri="{9D8B030D-6E8A-4147-A177-3AD203B41FA5}">
                      <a16:colId xmlns:a16="http://schemas.microsoft.com/office/drawing/2014/main" val="3622036296"/>
                    </a:ext>
                  </a:extLst>
                </a:gridCol>
              </a:tblGrid>
              <a:tr h="329222">
                <a:tc>
                  <a:txBody>
                    <a:bodyPr/>
                    <a:lstStyle/>
                    <a:p>
                      <a:r>
                        <a:rPr lang="en-GB" b="1"/>
                        <a:t>Experiment</a:t>
                      </a:r>
                      <a:endParaRPr lang="en-NZ"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a:t>Result</a:t>
                      </a:r>
                      <a:endParaRPr lang="en-NZ"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a:t>Finding</a:t>
                      </a:r>
                      <a:endParaRPr lang="en-NZ"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4220149"/>
                  </a:ext>
                </a:extLst>
              </a:tr>
              <a:tr h="858812">
                <a:tc>
                  <a:txBody>
                    <a:bodyPr/>
                    <a:lstStyle/>
                    <a:p>
                      <a:r>
                        <a:rPr lang="en-GB" b="1"/>
                        <a:t>1. Independent RF Source</a:t>
                      </a:r>
                    </a:p>
                    <a:p>
                      <a:r>
                        <a:rPr lang="en-NZ" sz="1400" b="0"/>
                        <a:t>Replaced slave TX with an external noise generator.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a:t>8.635°</a:t>
                      </a:r>
                    </a:p>
                    <a:p>
                      <a:r>
                        <a:rPr lang="en-GB" sz="1400"/>
                        <a:t>Phase offset spread across 5 starts</a:t>
                      </a:r>
                      <a:endParaRPr lang="en-NZ"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a:t>Variation persisted without the slave transmitter</a:t>
                      </a:r>
                      <a:endParaRPr lang="en-NZ"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45664449"/>
                  </a:ext>
                </a:extLst>
              </a:tr>
              <a:tr h="824893">
                <a:tc>
                  <a:txBody>
                    <a:bodyPr/>
                    <a:lstStyle/>
                    <a:p>
                      <a:r>
                        <a:rPr lang="en-GB" b="1"/>
                        <a:t>2. Master TX Shutdown</a:t>
                      </a:r>
                    </a:p>
                    <a:p>
                      <a:r>
                        <a:rPr lang="en-GB" sz="1400" b="0"/>
                        <a:t>Disabled master TX while in ANTENNA mode.</a:t>
                      </a:r>
                      <a:endParaRPr lang="en-NZ" sz="1400" b="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a:t>+0.2° to +0.3°</a:t>
                      </a:r>
                    </a:p>
                    <a:p>
                      <a:r>
                        <a:rPr lang="en-GB" sz="1400" b="0"/>
                        <a:t>Difference in phase after stopping TX</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a:t>A consistent small change – not enough to account for observed offsets</a:t>
                      </a:r>
                      <a:endParaRPr lang="en-NZ"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1956384"/>
                  </a:ext>
                </a:extLst>
              </a:tr>
              <a:tr h="695724">
                <a:tc>
                  <a:txBody>
                    <a:bodyPr/>
                    <a:lstStyle/>
                    <a:p>
                      <a:r>
                        <a:rPr lang="en-GB" b="1"/>
                        <a:t>3. Single SDR Dual-Channel </a:t>
                      </a:r>
                    </a:p>
                    <a:p>
                      <a:r>
                        <a:rPr lang="en-NZ" sz="1400" b="0" kern="1200">
                          <a:solidFill>
                            <a:schemeClr val="tx1"/>
                          </a:solidFill>
                          <a:latin typeface="+mn-lt"/>
                          <a:ea typeface="+mn-ea"/>
                          <a:cs typeface="+mn-cs"/>
                        </a:rPr>
                        <a:t>Connected both RF switch outputs to RX0 and RX1 of a single </a:t>
                      </a:r>
                      <a:r>
                        <a:rPr lang="en-NZ" sz="1400" b="0" kern="1200" err="1">
                          <a:solidFill>
                            <a:schemeClr val="tx1"/>
                          </a:solidFill>
                          <a:latin typeface="+mn-lt"/>
                          <a:ea typeface="+mn-ea"/>
                          <a:cs typeface="+mn-cs"/>
                        </a:rPr>
                        <a:t>bladeRF</a:t>
                      </a:r>
                      <a:r>
                        <a:rPr lang="en-NZ" sz="1400" b="0" kern="1200">
                          <a:solidFill>
                            <a:schemeClr val="tx1"/>
                          </a:solidFill>
                          <a:latin typeface="+mn-lt"/>
                          <a:ea typeface="+mn-ea"/>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a:t>0.177°</a:t>
                      </a:r>
                    </a:p>
                    <a:p>
                      <a:r>
                        <a:rPr lang="en-GB" sz="1400" b="0"/>
                        <a:t>Difference </a:t>
                      </a:r>
                      <a:endParaRPr lang="en-NZ" sz="1400" b="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a:t>The issue arises within the dual SDR setup.</a:t>
                      </a:r>
                      <a:endParaRPr lang="en-NZ"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5588322"/>
                  </a:ext>
                </a:extLst>
              </a:tr>
            </a:tbl>
          </a:graphicData>
        </a:graphic>
      </p:graphicFrame>
      <p:sp>
        <p:nvSpPr>
          <p:cNvPr id="7" name="TextBox 6">
            <a:extLst>
              <a:ext uri="{FF2B5EF4-FFF2-40B4-BE49-F238E27FC236}">
                <a16:creationId xmlns:a16="http://schemas.microsoft.com/office/drawing/2014/main" id="{583D8E31-32FB-B919-A98C-05B00E22C20F}"/>
              </a:ext>
            </a:extLst>
          </p:cNvPr>
          <p:cNvSpPr txBox="1"/>
          <p:nvPr/>
        </p:nvSpPr>
        <p:spPr>
          <a:xfrm>
            <a:off x="5667375" y="4529187"/>
            <a:ext cx="1571625" cy="369332"/>
          </a:xfrm>
          <a:prstGeom prst="rect">
            <a:avLst/>
          </a:prstGeom>
          <a:noFill/>
        </p:spPr>
        <p:txBody>
          <a:bodyPr wrap="square" rtlCol="0">
            <a:spAutoFit/>
          </a:bodyPr>
          <a:lstStyle/>
          <a:p>
            <a:r>
              <a:rPr lang="en-GB" b="1"/>
              <a:t>Conclusion:</a:t>
            </a:r>
            <a:endParaRPr lang="en-NZ" b="1"/>
          </a:p>
        </p:txBody>
      </p:sp>
      <p:sp>
        <p:nvSpPr>
          <p:cNvPr id="8" name="TextBox 7">
            <a:extLst>
              <a:ext uri="{FF2B5EF4-FFF2-40B4-BE49-F238E27FC236}">
                <a16:creationId xmlns:a16="http://schemas.microsoft.com/office/drawing/2014/main" id="{F532CCCC-9CC7-D7E3-82B2-1E88C38439E2}"/>
              </a:ext>
            </a:extLst>
          </p:cNvPr>
          <p:cNvSpPr txBox="1"/>
          <p:nvPr/>
        </p:nvSpPr>
        <p:spPr>
          <a:xfrm>
            <a:off x="5667375" y="5045466"/>
            <a:ext cx="5600700" cy="646331"/>
          </a:xfrm>
          <a:prstGeom prst="rect">
            <a:avLst/>
          </a:prstGeom>
          <a:noFill/>
        </p:spPr>
        <p:txBody>
          <a:bodyPr wrap="square" rtlCol="0">
            <a:spAutoFit/>
          </a:bodyPr>
          <a:lstStyle/>
          <a:p>
            <a:r>
              <a:rPr lang="en-GB"/>
              <a:t>The underlying cause of the run-to-run phase offset was not determined.</a:t>
            </a:r>
            <a:endParaRPr lang="en-NZ"/>
          </a:p>
        </p:txBody>
      </p:sp>
      <p:sp>
        <p:nvSpPr>
          <p:cNvPr id="9" name="Rectangle 8">
            <a:extLst>
              <a:ext uri="{FF2B5EF4-FFF2-40B4-BE49-F238E27FC236}">
                <a16:creationId xmlns:a16="http://schemas.microsoft.com/office/drawing/2014/main" id="{55523967-41E4-3491-9DFF-818ED6DEE944}"/>
              </a:ext>
            </a:extLst>
          </p:cNvPr>
          <p:cNvSpPr/>
          <p:nvPr/>
        </p:nvSpPr>
        <p:spPr>
          <a:xfrm>
            <a:off x="5486400" y="4264090"/>
            <a:ext cx="6029325" cy="2295329"/>
          </a:xfrm>
          <a:prstGeom prst="rect">
            <a:avLst/>
          </a:prstGeom>
          <a:noFill/>
          <a:ln>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1353210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22736-E5D2-9373-CCD0-2CF91F88A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99237-5FE8-E76D-264A-C3867E969DC0}"/>
              </a:ext>
            </a:extLst>
          </p:cNvPr>
          <p:cNvSpPr>
            <a:spLocks noGrp="1"/>
          </p:cNvSpPr>
          <p:nvPr>
            <p:ph type="title"/>
          </p:nvPr>
        </p:nvSpPr>
        <p:spPr>
          <a:xfrm>
            <a:off x="279655" y="263754"/>
            <a:ext cx="11155680" cy="723010"/>
          </a:xfrm>
        </p:spPr>
        <p:txBody>
          <a:bodyPr/>
          <a:lstStyle/>
          <a:p>
            <a:pPr algn="ctr"/>
            <a:r>
              <a:rPr lang="en-GB"/>
              <a:t>Angle of Arrival</a:t>
            </a:r>
            <a:endParaRPr lang="en-NZ"/>
          </a:p>
        </p:txBody>
      </p:sp>
      <p:sp>
        <p:nvSpPr>
          <p:cNvPr id="4" name="Rectangle: Rounded Corners 3">
            <a:extLst>
              <a:ext uri="{FF2B5EF4-FFF2-40B4-BE49-F238E27FC236}">
                <a16:creationId xmlns:a16="http://schemas.microsoft.com/office/drawing/2014/main" id="{D69058E2-B37C-1929-6E48-4674BAF37EA5}"/>
              </a:ext>
            </a:extLst>
          </p:cNvPr>
          <p:cNvSpPr/>
          <p:nvPr/>
        </p:nvSpPr>
        <p:spPr>
          <a:xfrm>
            <a:off x="279655" y="1264238"/>
            <a:ext cx="2563368" cy="1055414"/>
          </a:xfrm>
          <a:prstGeom prst="roundRect">
            <a:avLst/>
          </a:prstGeom>
          <a:solidFill>
            <a:schemeClr val="tx2">
              <a:lumMod val="10000"/>
              <a:lumOff val="90000"/>
            </a:schemeClr>
          </a:solidFill>
          <a:ln>
            <a:solidFill>
              <a:schemeClr val="tx2">
                <a:lumMod val="90000"/>
                <a:lumOff val="1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Calibration</a:t>
            </a:r>
            <a:endParaRPr lang="en-NZ" sz="2400">
              <a:solidFill>
                <a:schemeClr val="tx1"/>
              </a:solidFill>
            </a:endParaRPr>
          </a:p>
        </p:txBody>
      </p:sp>
      <p:sp>
        <p:nvSpPr>
          <p:cNvPr id="6" name="Rectangle: Rounded Corners 5">
            <a:extLst>
              <a:ext uri="{FF2B5EF4-FFF2-40B4-BE49-F238E27FC236}">
                <a16:creationId xmlns:a16="http://schemas.microsoft.com/office/drawing/2014/main" id="{32458F9F-4C97-54E5-2225-DC5955702E88}"/>
              </a:ext>
            </a:extLst>
          </p:cNvPr>
          <p:cNvSpPr/>
          <p:nvPr/>
        </p:nvSpPr>
        <p:spPr>
          <a:xfrm>
            <a:off x="3164589" y="1264238"/>
            <a:ext cx="2666998" cy="1055414"/>
          </a:xfrm>
          <a:prstGeom prst="roundRect">
            <a:avLst/>
          </a:prstGeom>
          <a:solidFill>
            <a:schemeClr val="tx2">
              <a:lumMod val="10000"/>
              <a:lumOff val="90000"/>
            </a:schemeClr>
          </a:solidFill>
          <a:ln>
            <a:solidFill>
              <a:schemeClr val="accent1">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Dual SDR Synchronisation</a:t>
            </a:r>
            <a:endParaRPr lang="en-NZ" sz="2400">
              <a:solidFill>
                <a:schemeClr val="tx1"/>
              </a:solidFill>
            </a:endParaRPr>
          </a:p>
        </p:txBody>
      </p:sp>
      <p:sp>
        <p:nvSpPr>
          <p:cNvPr id="8" name="Rectangle: Rounded Corners 7">
            <a:extLst>
              <a:ext uri="{FF2B5EF4-FFF2-40B4-BE49-F238E27FC236}">
                <a16:creationId xmlns:a16="http://schemas.microsoft.com/office/drawing/2014/main" id="{2A1EB0EF-C192-9DDC-BBF9-6B964046D3FC}"/>
              </a:ext>
            </a:extLst>
          </p:cNvPr>
          <p:cNvSpPr/>
          <p:nvPr/>
        </p:nvSpPr>
        <p:spPr>
          <a:xfrm>
            <a:off x="6153153" y="1264238"/>
            <a:ext cx="2666998" cy="1055414"/>
          </a:xfrm>
          <a:prstGeom prst="roundRect">
            <a:avLst/>
          </a:prstGeom>
          <a:solidFill>
            <a:schemeClr val="tx2">
              <a:lumMod val="10000"/>
              <a:lumOff val="90000"/>
            </a:schemeClr>
          </a:solidFill>
          <a:ln>
            <a:solidFill>
              <a:schemeClr val="accent1">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RF Switch Board</a:t>
            </a:r>
            <a:endParaRPr lang="en-NZ" sz="2400">
              <a:solidFill>
                <a:schemeClr val="tx1"/>
              </a:solidFill>
            </a:endParaRPr>
          </a:p>
        </p:txBody>
      </p:sp>
      <p:sp>
        <p:nvSpPr>
          <p:cNvPr id="10" name="Rectangle: Rounded Corners 9">
            <a:extLst>
              <a:ext uri="{FF2B5EF4-FFF2-40B4-BE49-F238E27FC236}">
                <a16:creationId xmlns:a16="http://schemas.microsoft.com/office/drawing/2014/main" id="{DB7F16BB-6EF6-01D3-885B-C193631F9BD0}"/>
              </a:ext>
            </a:extLst>
          </p:cNvPr>
          <p:cNvSpPr/>
          <p:nvPr/>
        </p:nvSpPr>
        <p:spPr>
          <a:xfrm>
            <a:off x="9141717" y="1264238"/>
            <a:ext cx="2666998" cy="1055414"/>
          </a:xfrm>
          <a:prstGeom prst="roundRect">
            <a:avLst/>
          </a:prstGeom>
          <a:solidFill>
            <a:schemeClr val="accent6">
              <a:lumMod val="40000"/>
              <a:lumOff val="60000"/>
            </a:schemeClr>
          </a:solidFill>
          <a:ln>
            <a:solidFill>
              <a:schemeClr val="accent3">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b="1">
                <a:solidFill>
                  <a:schemeClr val="tx1"/>
                </a:solidFill>
              </a:rPr>
              <a:t>Angle-of-Arrival (</a:t>
            </a:r>
            <a:r>
              <a:rPr lang="en-GB" sz="2400" b="1" err="1">
                <a:solidFill>
                  <a:schemeClr val="tx1"/>
                </a:solidFill>
              </a:rPr>
              <a:t>AoA</a:t>
            </a:r>
            <a:r>
              <a:rPr lang="en-GB" sz="2400" b="1">
                <a:solidFill>
                  <a:schemeClr val="tx1"/>
                </a:solidFill>
              </a:rPr>
              <a:t>)</a:t>
            </a:r>
            <a:endParaRPr lang="en-NZ" sz="2400" b="1">
              <a:solidFill>
                <a:schemeClr val="tx1"/>
              </a:solidFill>
            </a:endParaRPr>
          </a:p>
        </p:txBody>
      </p:sp>
      <p:cxnSp>
        <p:nvCxnSpPr>
          <p:cNvPr id="14" name="Straight Connector 13">
            <a:extLst>
              <a:ext uri="{FF2B5EF4-FFF2-40B4-BE49-F238E27FC236}">
                <a16:creationId xmlns:a16="http://schemas.microsoft.com/office/drawing/2014/main" id="{E9912FC3-29BE-3B67-655B-F25381E5BA51}"/>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CAD8145-5FDA-2654-0961-A8C2FEA486A2}"/>
              </a:ext>
            </a:extLst>
          </p:cNvPr>
          <p:cNvCxnSpPr>
            <a:stCxn id="4" idx="3"/>
            <a:endCxn id="6" idx="1"/>
          </p:cNvCxnSpPr>
          <p:nvPr/>
        </p:nvCxnSpPr>
        <p:spPr>
          <a:xfrm>
            <a:off x="2843023"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F1A15512-3558-99E7-955F-53FEA79C9824}"/>
              </a:ext>
            </a:extLst>
          </p:cNvPr>
          <p:cNvCxnSpPr>
            <a:cxnSpLocks/>
          </p:cNvCxnSpPr>
          <p:nvPr/>
        </p:nvCxnSpPr>
        <p:spPr>
          <a:xfrm>
            <a:off x="5831587" y="1766878"/>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424CB8DA-43B7-23B4-04DA-8A5C999021ED}"/>
              </a:ext>
            </a:extLst>
          </p:cNvPr>
          <p:cNvCxnSpPr>
            <a:cxnSpLocks/>
          </p:cNvCxnSpPr>
          <p:nvPr/>
        </p:nvCxnSpPr>
        <p:spPr>
          <a:xfrm>
            <a:off x="8820151" y="1791945"/>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sp>
        <p:nvSpPr>
          <p:cNvPr id="57" name="Rectangle 56">
            <a:extLst>
              <a:ext uri="{FF2B5EF4-FFF2-40B4-BE49-F238E27FC236}">
                <a16:creationId xmlns:a16="http://schemas.microsoft.com/office/drawing/2014/main" id="{0C39172D-C679-EAA3-397C-4A9976F78EC5}"/>
              </a:ext>
            </a:extLst>
          </p:cNvPr>
          <p:cNvSpPr/>
          <p:nvPr/>
        </p:nvSpPr>
        <p:spPr>
          <a:xfrm>
            <a:off x="279654" y="2486608"/>
            <a:ext cx="6014565" cy="4069638"/>
          </a:xfrm>
          <a:prstGeom prst="rect">
            <a:avLst/>
          </a:prstGeom>
          <a:noFill/>
          <a:ln w="28575">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grpSp>
        <p:nvGrpSpPr>
          <p:cNvPr id="56" name="Group 55">
            <a:extLst>
              <a:ext uri="{FF2B5EF4-FFF2-40B4-BE49-F238E27FC236}">
                <a16:creationId xmlns:a16="http://schemas.microsoft.com/office/drawing/2014/main" id="{DBDDD88E-3C14-D794-A762-7C5F1C1D6995}"/>
              </a:ext>
            </a:extLst>
          </p:cNvPr>
          <p:cNvGrpSpPr/>
          <p:nvPr/>
        </p:nvGrpSpPr>
        <p:grpSpPr>
          <a:xfrm rot="5400000">
            <a:off x="941292" y="4591728"/>
            <a:ext cx="1810433" cy="2105842"/>
            <a:chOff x="6961634" y="3324123"/>
            <a:chExt cx="1398107" cy="1607383"/>
          </a:xfrm>
        </p:grpSpPr>
        <p:pic>
          <p:nvPicPr>
            <p:cNvPr id="23" name="Picture 22">
              <a:extLst>
                <a:ext uri="{FF2B5EF4-FFF2-40B4-BE49-F238E27FC236}">
                  <a16:creationId xmlns:a16="http://schemas.microsoft.com/office/drawing/2014/main" id="{C43074F3-9664-F900-EDC9-0C24A52A5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634" y="3324123"/>
              <a:ext cx="1234308" cy="1607383"/>
            </a:xfrm>
            <a:prstGeom prst="rect">
              <a:avLst/>
            </a:prstGeom>
          </p:spPr>
        </p:pic>
        <p:sp>
          <p:nvSpPr>
            <p:cNvPr id="37" name="TextBox 36">
              <a:extLst>
                <a:ext uri="{FF2B5EF4-FFF2-40B4-BE49-F238E27FC236}">
                  <a16:creationId xmlns:a16="http://schemas.microsoft.com/office/drawing/2014/main" id="{E4F85ABF-1CBB-A390-7010-C65F43067043}"/>
                </a:ext>
              </a:extLst>
            </p:cNvPr>
            <p:cNvSpPr txBox="1"/>
            <p:nvPr/>
          </p:nvSpPr>
          <p:spPr>
            <a:xfrm rot="16200000">
              <a:off x="7558801" y="3930188"/>
              <a:ext cx="1274282" cy="327598"/>
            </a:xfrm>
            <a:prstGeom prst="rect">
              <a:avLst/>
            </a:prstGeom>
            <a:noFill/>
          </p:spPr>
          <p:txBody>
            <a:bodyPr wrap="square" rtlCol="0">
              <a:spAutoFit/>
            </a:bodyPr>
            <a:lstStyle/>
            <a:p>
              <a:r>
                <a:rPr lang="en-GB" sz="1600" b="1"/>
                <a:t>Master SDR</a:t>
              </a:r>
              <a:endParaRPr lang="en-NZ" sz="1600" b="1"/>
            </a:p>
          </p:txBody>
        </p:sp>
      </p:grpSp>
      <p:sp>
        <p:nvSpPr>
          <p:cNvPr id="67" name="TextBox 66">
            <a:extLst>
              <a:ext uri="{FF2B5EF4-FFF2-40B4-BE49-F238E27FC236}">
                <a16:creationId xmlns:a16="http://schemas.microsoft.com/office/drawing/2014/main" id="{7D96FAFF-E110-3AED-2998-A81359570EF2}"/>
              </a:ext>
            </a:extLst>
          </p:cNvPr>
          <p:cNvSpPr txBox="1"/>
          <p:nvPr/>
        </p:nvSpPr>
        <p:spPr>
          <a:xfrm>
            <a:off x="2812951" y="5453954"/>
            <a:ext cx="688460" cy="369332"/>
          </a:xfrm>
          <a:prstGeom prst="rect">
            <a:avLst/>
          </a:prstGeom>
          <a:noFill/>
        </p:spPr>
        <p:txBody>
          <a:bodyPr wrap="square" rtlCol="0">
            <a:spAutoFit/>
          </a:bodyPr>
          <a:lstStyle/>
          <a:p>
            <a:r>
              <a:rPr lang="en-GB"/>
              <a:t>RX0</a:t>
            </a:r>
            <a:endParaRPr lang="en-NZ"/>
          </a:p>
        </p:txBody>
      </p:sp>
      <p:sp>
        <p:nvSpPr>
          <p:cNvPr id="72" name="TextBox 71">
            <a:extLst>
              <a:ext uri="{FF2B5EF4-FFF2-40B4-BE49-F238E27FC236}">
                <a16:creationId xmlns:a16="http://schemas.microsoft.com/office/drawing/2014/main" id="{EA6AA1A1-6310-8D31-B54E-074E69D49C2C}"/>
              </a:ext>
            </a:extLst>
          </p:cNvPr>
          <p:cNvSpPr txBox="1"/>
          <p:nvPr/>
        </p:nvSpPr>
        <p:spPr>
          <a:xfrm>
            <a:off x="6467475" y="2633451"/>
            <a:ext cx="1517904" cy="369332"/>
          </a:xfrm>
          <a:prstGeom prst="rect">
            <a:avLst/>
          </a:prstGeom>
          <a:noFill/>
        </p:spPr>
        <p:txBody>
          <a:bodyPr wrap="square" rtlCol="0">
            <a:spAutoFit/>
          </a:bodyPr>
          <a:lstStyle/>
          <a:p>
            <a:r>
              <a:rPr lang="en-GB" b="1"/>
              <a:t>Purpose</a:t>
            </a:r>
            <a:endParaRPr lang="en-NZ" b="1"/>
          </a:p>
        </p:txBody>
      </p:sp>
      <p:cxnSp>
        <p:nvCxnSpPr>
          <p:cNvPr id="75" name="Straight Connector 74">
            <a:extLst>
              <a:ext uri="{FF2B5EF4-FFF2-40B4-BE49-F238E27FC236}">
                <a16:creationId xmlns:a16="http://schemas.microsoft.com/office/drawing/2014/main" id="{471A673A-31E9-9321-C62D-D0903C6D9673}"/>
              </a:ext>
            </a:extLst>
          </p:cNvPr>
          <p:cNvCxnSpPr>
            <a:cxnSpLocks/>
          </p:cNvCxnSpPr>
          <p:nvPr/>
        </p:nvCxnSpPr>
        <p:spPr>
          <a:xfrm>
            <a:off x="6467475" y="4053719"/>
            <a:ext cx="5419725" cy="0"/>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EF0528B8-1CA0-FE24-49F0-B3CB665A65DB}"/>
              </a:ext>
            </a:extLst>
          </p:cNvPr>
          <p:cNvSpPr txBox="1"/>
          <p:nvPr/>
        </p:nvSpPr>
        <p:spPr>
          <a:xfrm>
            <a:off x="6467475" y="4196658"/>
            <a:ext cx="2116073" cy="369332"/>
          </a:xfrm>
          <a:prstGeom prst="rect">
            <a:avLst/>
          </a:prstGeom>
          <a:noFill/>
        </p:spPr>
        <p:txBody>
          <a:bodyPr wrap="square" rtlCol="0">
            <a:spAutoFit/>
          </a:bodyPr>
          <a:lstStyle/>
          <a:p>
            <a:r>
              <a:rPr lang="en-GB" b="1"/>
              <a:t>Section Overview</a:t>
            </a:r>
            <a:endParaRPr lang="en-NZ" b="1"/>
          </a:p>
        </p:txBody>
      </p:sp>
      <p:sp>
        <p:nvSpPr>
          <p:cNvPr id="79" name="TextBox 78">
            <a:extLst>
              <a:ext uri="{FF2B5EF4-FFF2-40B4-BE49-F238E27FC236}">
                <a16:creationId xmlns:a16="http://schemas.microsoft.com/office/drawing/2014/main" id="{0A6272A5-AE76-C1E1-A01C-FAC2FAD6547E}"/>
              </a:ext>
            </a:extLst>
          </p:cNvPr>
          <p:cNvSpPr txBox="1"/>
          <p:nvPr/>
        </p:nvSpPr>
        <p:spPr>
          <a:xfrm>
            <a:off x="6483637" y="4581425"/>
            <a:ext cx="5339335" cy="1298882"/>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GB"/>
              <a:t>Phase difference </a:t>
            </a:r>
            <a:r>
              <a:rPr lang="en-GB" err="1"/>
              <a:t>AoA</a:t>
            </a:r>
            <a:r>
              <a:rPr lang="en-GB"/>
              <a:t> algorithm development</a:t>
            </a:r>
          </a:p>
          <a:p>
            <a:pPr marL="285750" indent="-285750">
              <a:lnSpc>
                <a:spcPct val="150000"/>
              </a:lnSpc>
              <a:buFont typeface="Courier New" panose="02070309020205020404" pitchFamily="49" charset="0"/>
              <a:buChar char="o"/>
            </a:pPr>
            <a:r>
              <a:rPr lang="en-GB"/>
              <a:t>Simulation and Monte Carlo</a:t>
            </a:r>
          </a:p>
          <a:p>
            <a:pPr marL="285750" indent="-285750">
              <a:lnSpc>
                <a:spcPct val="150000"/>
              </a:lnSpc>
              <a:buFont typeface="Courier New" panose="02070309020205020404" pitchFamily="49" charset="0"/>
              <a:buChar char="o"/>
            </a:pPr>
            <a:r>
              <a:rPr lang="en-GB"/>
              <a:t>Residual phase-offset effect</a:t>
            </a:r>
            <a:endParaRPr lang="en-NZ"/>
          </a:p>
        </p:txBody>
      </p:sp>
      <p:sp>
        <p:nvSpPr>
          <p:cNvPr id="81" name="TextBox 80">
            <a:extLst>
              <a:ext uri="{FF2B5EF4-FFF2-40B4-BE49-F238E27FC236}">
                <a16:creationId xmlns:a16="http://schemas.microsoft.com/office/drawing/2014/main" id="{7490C78E-A9D2-83C9-5F7E-150F041E673E}"/>
              </a:ext>
            </a:extLst>
          </p:cNvPr>
          <p:cNvSpPr txBox="1"/>
          <p:nvPr/>
        </p:nvSpPr>
        <p:spPr>
          <a:xfrm>
            <a:off x="294695" y="2513898"/>
            <a:ext cx="4662362" cy="369332"/>
          </a:xfrm>
          <a:prstGeom prst="rect">
            <a:avLst/>
          </a:prstGeom>
          <a:noFill/>
        </p:spPr>
        <p:txBody>
          <a:bodyPr wrap="square" rtlCol="0">
            <a:spAutoFit/>
          </a:bodyPr>
          <a:lstStyle/>
          <a:p>
            <a:r>
              <a:rPr lang="en-GB" b="1"/>
              <a:t>Recommended Hardware Configuration</a:t>
            </a:r>
            <a:endParaRPr lang="en-NZ" b="1"/>
          </a:p>
        </p:txBody>
      </p:sp>
      <p:pic>
        <p:nvPicPr>
          <p:cNvPr id="11" name="Picture 10">
            <a:extLst>
              <a:ext uri="{FF2B5EF4-FFF2-40B4-BE49-F238E27FC236}">
                <a16:creationId xmlns:a16="http://schemas.microsoft.com/office/drawing/2014/main" id="{14A7C82B-85EC-C40D-BA38-3D141F23EE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075263" y="2758410"/>
            <a:ext cx="1542492" cy="2105842"/>
          </a:xfrm>
          <a:prstGeom prst="rect">
            <a:avLst/>
          </a:prstGeom>
        </p:spPr>
      </p:pic>
      <p:sp>
        <p:nvSpPr>
          <p:cNvPr id="13" name="TextBox 12">
            <a:extLst>
              <a:ext uri="{FF2B5EF4-FFF2-40B4-BE49-F238E27FC236}">
                <a16:creationId xmlns:a16="http://schemas.microsoft.com/office/drawing/2014/main" id="{DE00BFAB-B428-A3B8-59C6-972C28CEBDFE}"/>
              </a:ext>
            </a:extLst>
          </p:cNvPr>
          <p:cNvSpPr txBox="1"/>
          <p:nvPr/>
        </p:nvSpPr>
        <p:spPr>
          <a:xfrm>
            <a:off x="1185670" y="4349701"/>
            <a:ext cx="1669444" cy="338554"/>
          </a:xfrm>
          <a:prstGeom prst="rect">
            <a:avLst/>
          </a:prstGeom>
          <a:noFill/>
        </p:spPr>
        <p:txBody>
          <a:bodyPr wrap="square" rtlCol="0">
            <a:spAutoFit/>
          </a:bodyPr>
          <a:lstStyle/>
          <a:p>
            <a:r>
              <a:rPr lang="en-GB" sz="1600" b="1"/>
              <a:t>Slave SDR</a:t>
            </a:r>
            <a:endParaRPr lang="en-NZ" sz="1600" b="1"/>
          </a:p>
        </p:txBody>
      </p:sp>
      <p:cxnSp>
        <p:nvCxnSpPr>
          <p:cNvPr id="16" name="Connector: Elbow 15">
            <a:extLst>
              <a:ext uri="{FF2B5EF4-FFF2-40B4-BE49-F238E27FC236}">
                <a16:creationId xmlns:a16="http://schemas.microsoft.com/office/drawing/2014/main" id="{1756863A-EB5F-D01D-C903-4CAFCF8FB87B}"/>
              </a:ext>
            </a:extLst>
          </p:cNvPr>
          <p:cNvCxnSpPr>
            <a:cxnSpLocks/>
          </p:cNvCxnSpPr>
          <p:nvPr/>
        </p:nvCxnSpPr>
        <p:spPr>
          <a:xfrm rot="16200000" flipV="1">
            <a:off x="170023" y="3324185"/>
            <a:ext cx="1938880" cy="1111550"/>
          </a:xfrm>
          <a:prstGeom prst="bentConnector3">
            <a:avLst>
              <a:gd name="adj1" fmla="val 6548"/>
            </a:avLst>
          </a:prstGeom>
          <a:ln w="28575">
            <a:solidFill>
              <a:srgbClr val="FFC000"/>
            </a:solidFill>
            <a:prstDash val="lgDash"/>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80EB04AD-4C35-D6BD-EB90-6065E20B39B9}"/>
              </a:ext>
            </a:extLst>
          </p:cNvPr>
          <p:cNvCxnSpPr>
            <a:cxnSpLocks/>
          </p:cNvCxnSpPr>
          <p:nvPr/>
        </p:nvCxnSpPr>
        <p:spPr>
          <a:xfrm>
            <a:off x="583687" y="2904139"/>
            <a:ext cx="1333054" cy="273900"/>
          </a:xfrm>
          <a:prstGeom prst="bentConnector3">
            <a:avLst>
              <a:gd name="adj1" fmla="val 100097"/>
            </a:avLst>
          </a:prstGeom>
          <a:ln w="28575">
            <a:solidFill>
              <a:srgbClr val="FFC000"/>
            </a:solidFill>
            <a:prstDash val="lgDash"/>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EC42A431-9400-11D5-D986-E05570E7EAAC}"/>
              </a:ext>
            </a:extLst>
          </p:cNvPr>
          <p:cNvCxnSpPr>
            <a:cxnSpLocks/>
          </p:cNvCxnSpPr>
          <p:nvPr/>
        </p:nvCxnSpPr>
        <p:spPr>
          <a:xfrm flipV="1">
            <a:off x="2843023" y="4542766"/>
            <a:ext cx="711257" cy="635409"/>
          </a:xfrm>
          <a:prstGeom prst="bentConnector3">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9E55F37E-DEB1-2059-B183-D301FE971F9C}"/>
              </a:ext>
            </a:extLst>
          </p:cNvPr>
          <p:cNvCxnSpPr>
            <a:cxnSpLocks/>
          </p:cNvCxnSpPr>
          <p:nvPr/>
        </p:nvCxnSpPr>
        <p:spPr>
          <a:xfrm rot="10800000" flipV="1">
            <a:off x="2812952" y="5161349"/>
            <a:ext cx="1022181" cy="270185"/>
          </a:xfrm>
          <a:prstGeom prst="bentConnector3">
            <a:avLst>
              <a:gd name="adj1" fmla="val -319"/>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BC30E501-DDDF-2037-3956-328DDEC84DF2}"/>
              </a:ext>
            </a:extLst>
          </p:cNvPr>
          <p:cNvSpPr txBox="1"/>
          <p:nvPr/>
        </p:nvSpPr>
        <p:spPr>
          <a:xfrm>
            <a:off x="2820359" y="3756016"/>
            <a:ext cx="688460" cy="369332"/>
          </a:xfrm>
          <a:prstGeom prst="rect">
            <a:avLst/>
          </a:prstGeom>
          <a:noFill/>
        </p:spPr>
        <p:txBody>
          <a:bodyPr wrap="square" rtlCol="0">
            <a:spAutoFit/>
          </a:bodyPr>
          <a:lstStyle/>
          <a:p>
            <a:r>
              <a:rPr lang="en-GB"/>
              <a:t>RX0</a:t>
            </a:r>
            <a:endParaRPr lang="en-NZ"/>
          </a:p>
        </p:txBody>
      </p:sp>
      <p:sp>
        <p:nvSpPr>
          <p:cNvPr id="62" name="TextBox 61">
            <a:extLst>
              <a:ext uri="{FF2B5EF4-FFF2-40B4-BE49-F238E27FC236}">
                <a16:creationId xmlns:a16="http://schemas.microsoft.com/office/drawing/2014/main" id="{1645FD46-D90A-2C0C-2CBC-C7866D97C702}"/>
              </a:ext>
            </a:extLst>
          </p:cNvPr>
          <p:cNvSpPr txBox="1"/>
          <p:nvPr/>
        </p:nvSpPr>
        <p:spPr>
          <a:xfrm>
            <a:off x="715286" y="2920657"/>
            <a:ext cx="942323" cy="369332"/>
          </a:xfrm>
          <a:prstGeom prst="rect">
            <a:avLst/>
          </a:prstGeom>
          <a:noFill/>
        </p:spPr>
        <p:txBody>
          <a:bodyPr wrap="square" rtlCol="0">
            <a:spAutoFit/>
          </a:bodyPr>
          <a:lstStyle/>
          <a:p>
            <a:r>
              <a:rPr lang="en-GB"/>
              <a:t>CLOCK</a:t>
            </a:r>
            <a:endParaRPr lang="en-NZ"/>
          </a:p>
        </p:txBody>
      </p:sp>
      <p:pic>
        <p:nvPicPr>
          <p:cNvPr id="5" name="Picture 4">
            <a:extLst>
              <a:ext uri="{FF2B5EF4-FFF2-40B4-BE49-F238E27FC236}">
                <a16:creationId xmlns:a16="http://schemas.microsoft.com/office/drawing/2014/main" id="{BCE43388-0956-6489-65E9-4978033B7C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8819" y="3811331"/>
            <a:ext cx="1448238" cy="1509319"/>
          </a:xfrm>
          <a:prstGeom prst="rect">
            <a:avLst/>
          </a:prstGeom>
        </p:spPr>
      </p:pic>
      <p:cxnSp>
        <p:nvCxnSpPr>
          <p:cNvPr id="45" name="Connector: Elbow 44">
            <a:extLst>
              <a:ext uri="{FF2B5EF4-FFF2-40B4-BE49-F238E27FC236}">
                <a16:creationId xmlns:a16="http://schemas.microsoft.com/office/drawing/2014/main" id="{D424E517-0B08-93DE-8540-CDB264113982}"/>
              </a:ext>
            </a:extLst>
          </p:cNvPr>
          <p:cNvCxnSpPr>
            <a:cxnSpLocks/>
          </p:cNvCxnSpPr>
          <p:nvPr/>
        </p:nvCxnSpPr>
        <p:spPr>
          <a:xfrm rot="10800000">
            <a:off x="2798055" y="3744279"/>
            <a:ext cx="1284517" cy="180833"/>
          </a:xfrm>
          <a:prstGeom prst="bentConnector3">
            <a:avLst>
              <a:gd name="adj1" fmla="val -424"/>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827AC086-AA45-F467-FF61-C9C7D8DE1F8D}"/>
              </a:ext>
            </a:extLst>
          </p:cNvPr>
          <p:cNvCxnSpPr>
            <a:cxnSpLocks/>
          </p:cNvCxnSpPr>
          <p:nvPr/>
        </p:nvCxnSpPr>
        <p:spPr>
          <a:xfrm rot="16200000" flipH="1">
            <a:off x="3769922" y="3400311"/>
            <a:ext cx="992346" cy="1"/>
          </a:xfrm>
          <a:prstGeom prst="bentConnector3">
            <a:avLst>
              <a:gd name="adj1" fmla="val 50000"/>
            </a:avLst>
          </a:prstGeom>
          <a:ln w="28575">
            <a:solidFill>
              <a:schemeClr val="accent5"/>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D188B377-E9A2-0CCC-0995-6C8CBE2D503F}"/>
              </a:ext>
            </a:extLst>
          </p:cNvPr>
          <p:cNvSpPr txBox="1"/>
          <p:nvPr/>
        </p:nvSpPr>
        <p:spPr>
          <a:xfrm>
            <a:off x="2581214" y="4737291"/>
            <a:ext cx="688460" cy="369332"/>
          </a:xfrm>
          <a:prstGeom prst="rect">
            <a:avLst/>
          </a:prstGeom>
          <a:noFill/>
        </p:spPr>
        <p:txBody>
          <a:bodyPr wrap="square" rtlCol="0">
            <a:spAutoFit/>
          </a:bodyPr>
          <a:lstStyle/>
          <a:p>
            <a:r>
              <a:rPr lang="en-GB"/>
              <a:t>TX0</a:t>
            </a:r>
            <a:endParaRPr lang="en-NZ"/>
          </a:p>
        </p:txBody>
      </p:sp>
      <p:cxnSp>
        <p:nvCxnSpPr>
          <p:cNvPr id="21" name="Straight Arrow Connector 20">
            <a:extLst>
              <a:ext uri="{FF2B5EF4-FFF2-40B4-BE49-F238E27FC236}">
                <a16:creationId xmlns:a16="http://schemas.microsoft.com/office/drawing/2014/main" id="{B97E2A60-B706-0343-1FD6-A73436F407A6}"/>
              </a:ext>
            </a:extLst>
          </p:cNvPr>
          <p:cNvCxnSpPr/>
          <p:nvPr/>
        </p:nvCxnSpPr>
        <p:spPr>
          <a:xfrm>
            <a:off x="4010025" y="5296442"/>
            <a:ext cx="0" cy="928146"/>
          </a:xfrm>
          <a:prstGeom prst="straightConnector1">
            <a:avLst/>
          </a:prstGeom>
          <a:ln w="28575">
            <a:solidFill>
              <a:schemeClr val="accent5"/>
            </a:solidFill>
            <a:prstDash val="sysDash"/>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B2BA3A4-E970-484E-D29B-8F73DE380BA3}"/>
              </a:ext>
            </a:extLst>
          </p:cNvPr>
          <p:cNvSpPr txBox="1"/>
          <p:nvPr/>
        </p:nvSpPr>
        <p:spPr>
          <a:xfrm>
            <a:off x="4232938" y="2793282"/>
            <a:ext cx="1096503" cy="369332"/>
          </a:xfrm>
          <a:prstGeom prst="rect">
            <a:avLst/>
          </a:prstGeom>
          <a:noFill/>
        </p:spPr>
        <p:txBody>
          <a:bodyPr wrap="square" rtlCol="0">
            <a:spAutoFit/>
          </a:bodyPr>
          <a:lstStyle/>
          <a:p>
            <a:r>
              <a:rPr lang="en-GB"/>
              <a:t>Antenna</a:t>
            </a:r>
            <a:endParaRPr lang="en-NZ"/>
          </a:p>
        </p:txBody>
      </p:sp>
      <p:sp>
        <p:nvSpPr>
          <p:cNvPr id="26" name="TextBox 25">
            <a:extLst>
              <a:ext uri="{FF2B5EF4-FFF2-40B4-BE49-F238E27FC236}">
                <a16:creationId xmlns:a16="http://schemas.microsoft.com/office/drawing/2014/main" id="{31F7B347-1CD0-6156-BA53-7C0BF1CA8BA4}"/>
              </a:ext>
            </a:extLst>
          </p:cNvPr>
          <p:cNvSpPr txBox="1"/>
          <p:nvPr/>
        </p:nvSpPr>
        <p:spPr>
          <a:xfrm>
            <a:off x="3534320" y="6186914"/>
            <a:ext cx="1096503" cy="369332"/>
          </a:xfrm>
          <a:prstGeom prst="rect">
            <a:avLst/>
          </a:prstGeom>
          <a:noFill/>
        </p:spPr>
        <p:txBody>
          <a:bodyPr wrap="square" rtlCol="0">
            <a:spAutoFit/>
          </a:bodyPr>
          <a:lstStyle/>
          <a:p>
            <a:r>
              <a:rPr lang="en-GB"/>
              <a:t>Antenna</a:t>
            </a:r>
            <a:endParaRPr lang="en-NZ"/>
          </a:p>
        </p:txBody>
      </p:sp>
      <p:sp>
        <p:nvSpPr>
          <p:cNvPr id="27" name="TextBox 26">
            <a:extLst>
              <a:ext uri="{FF2B5EF4-FFF2-40B4-BE49-F238E27FC236}">
                <a16:creationId xmlns:a16="http://schemas.microsoft.com/office/drawing/2014/main" id="{D3289A85-54AE-8ADD-3E86-EC62E3D649A6}"/>
              </a:ext>
            </a:extLst>
          </p:cNvPr>
          <p:cNvSpPr txBox="1"/>
          <p:nvPr/>
        </p:nvSpPr>
        <p:spPr>
          <a:xfrm>
            <a:off x="6504120" y="2971835"/>
            <a:ext cx="4889302" cy="883383"/>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GB"/>
              <a:t>Develop </a:t>
            </a:r>
            <a:r>
              <a:rPr lang="en-GB" err="1"/>
              <a:t>AoA</a:t>
            </a:r>
            <a:r>
              <a:rPr lang="en-GB"/>
              <a:t> estimation using relative phase</a:t>
            </a:r>
          </a:p>
          <a:p>
            <a:pPr marL="285750" indent="-285750">
              <a:lnSpc>
                <a:spcPct val="150000"/>
              </a:lnSpc>
              <a:buFont typeface="Courier New" panose="02070309020205020404" pitchFamily="49" charset="0"/>
              <a:buChar char="o"/>
            </a:pPr>
            <a:r>
              <a:rPr lang="en-GB"/>
              <a:t>Validate </a:t>
            </a:r>
            <a:r>
              <a:rPr lang="en-GB" err="1"/>
              <a:t>AoA</a:t>
            </a:r>
            <a:r>
              <a:rPr lang="en-GB"/>
              <a:t> estimation</a:t>
            </a:r>
            <a:endParaRPr lang="en-NZ"/>
          </a:p>
        </p:txBody>
      </p:sp>
    </p:spTree>
    <p:extLst>
      <p:ext uri="{BB962C8B-B14F-4D97-AF65-F5344CB8AC3E}">
        <p14:creationId xmlns:p14="http://schemas.microsoft.com/office/powerpoint/2010/main" val="2547924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5665A-CF1F-09EA-2594-66408DFBC2BB}"/>
              </a:ext>
            </a:extLst>
          </p:cNvPr>
          <p:cNvSpPr>
            <a:spLocks noGrp="1"/>
          </p:cNvSpPr>
          <p:nvPr>
            <p:ph type="title"/>
          </p:nvPr>
        </p:nvSpPr>
        <p:spPr>
          <a:xfrm>
            <a:off x="838200" y="365126"/>
            <a:ext cx="10515600" cy="810532"/>
          </a:xfrm>
        </p:spPr>
        <p:txBody>
          <a:bodyPr/>
          <a:lstStyle/>
          <a:p>
            <a:pPr algn="ctr"/>
            <a:r>
              <a:rPr lang="en-GB"/>
              <a:t>Angle-of-Arrival Estimation and Validation</a:t>
            </a:r>
            <a:endParaRPr lang="en-NZ"/>
          </a:p>
        </p:txBody>
      </p:sp>
      <p:cxnSp>
        <p:nvCxnSpPr>
          <p:cNvPr id="4" name="Straight Connector 3">
            <a:extLst>
              <a:ext uri="{FF2B5EF4-FFF2-40B4-BE49-F238E27FC236}">
                <a16:creationId xmlns:a16="http://schemas.microsoft.com/office/drawing/2014/main" id="{9B95BF29-1CEA-90A5-3755-06ADFC5BB715}"/>
              </a:ext>
            </a:extLst>
          </p:cNvPr>
          <p:cNvCxnSpPr>
            <a:cxnSpLocks/>
          </p:cNvCxnSpPr>
          <p:nvPr/>
        </p:nvCxnSpPr>
        <p:spPr>
          <a:xfrm>
            <a:off x="435103" y="1097282"/>
            <a:ext cx="1115568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B148063-6E0A-4C53-40DB-1F0F29841749}"/>
              </a:ext>
            </a:extLst>
          </p:cNvPr>
          <p:cNvSpPr txBox="1"/>
          <p:nvPr/>
        </p:nvSpPr>
        <p:spPr>
          <a:xfrm>
            <a:off x="360458" y="1238506"/>
            <a:ext cx="3269150" cy="369332"/>
          </a:xfrm>
          <a:prstGeom prst="rect">
            <a:avLst/>
          </a:prstGeom>
          <a:noFill/>
        </p:spPr>
        <p:txBody>
          <a:bodyPr wrap="square" rtlCol="0">
            <a:spAutoFit/>
          </a:bodyPr>
          <a:lstStyle/>
          <a:p>
            <a:r>
              <a:rPr lang="en-GB" b="1" err="1"/>
              <a:t>AoA</a:t>
            </a:r>
            <a:r>
              <a:rPr lang="en-GB" b="1"/>
              <a:t> Estimation Method</a:t>
            </a:r>
            <a:endParaRPr lang="en-NZ" b="1"/>
          </a:p>
        </p:txBody>
      </p:sp>
      <p:sp>
        <p:nvSpPr>
          <p:cNvPr id="7" name="TextBox 6">
            <a:extLst>
              <a:ext uri="{FF2B5EF4-FFF2-40B4-BE49-F238E27FC236}">
                <a16:creationId xmlns:a16="http://schemas.microsoft.com/office/drawing/2014/main" id="{EB170683-E850-2546-25AF-1B7E2D650DF4}"/>
              </a:ext>
            </a:extLst>
          </p:cNvPr>
          <p:cNvSpPr txBox="1"/>
          <p:nvPr/>
        </p:nvSpPr>
        <p:spPr>
          <a:xfrm>
            <a:off x="343575" y="1785801"/>
            <a:ext cx="2821281" cy="369332"/>
          </a:xfrm>
          <a:prstGeom prst="rect">
            <a:avLst/>
          </a:prstGeom>
          <a:noFill/>
        </p:spPr>
        <p:txBody>
          <a:bodyPr wrap="square" rtlCol="0">
            <a:spAutoFit/>
          </a:bodyPr>
          <a:lstStyle/>
          <a:p>
            <a:r>
              <a:rPr lang="en-GB"/>
              <a:t>1. Estimate relative phase</a:t>
            </a:r>
            <a:endParaRPr lang="en-NZ"/>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D51F108-778E-1791-2E43-22E23AD59276}"/>
                  </a:ext>
                </a:extLst>
              </p:cNvPr>
              <p:cNvSpPr txBox="1"/>
              <p:nvPr/>
            </p:nvSpPr>
            <p:spPr>
              <a:xfrm>
                <a:off x="526627" y="2211347"/>
                <a:ext cx="2638229" cy="984052"/>
              </a:xfrm>
              <a:prstGeom prst="rect">
                <a:avLst/>
              </a:prstGeom>
              <a:noFill/>
            </p:spPr>
            <p:txBody>
              <a:bodyPr wrap="square">
                <a:spAutoFit/>
              </a:bodyPr>
              <a:lstStyle/>
              <a:p>
                <a:pPr/>
                <a14:m>
                  <m:oMathPara xmlns:m="http://schemas.openxmlformats.org/officeDocument/2006/math">
                    <m:oMath>
                      <m:r>
                        <m:rPr>
                          <m:sty m:val="p"/>
                        </m:rPr>
                        <a:rPr lang="en-NZ" i="1" dirty="0" smtClean="0">
                          <a:latin typeface="Cambria Math" panose="02040503050406030204" pitchFamily="18" charset="0"/>
                        </a:rPr>
                        <m:t>Δ</m:t>
                      </m:r>
                      <m:r>
                        <a:rPr lang="en-NZ" i="1" dirty="0" smtClean="0">
                          <a:latin typeface="Cambria Math" panose="02040503050406030204" pitchFamily="18" charset="0"/>
                        </a:rPr>
                        <m:t>𝜙</m:t>
                      </m:r>
                      <m:r>
                        <a:rPr lang="en-NZ" i="1" dirty="0" smtClean="0">
                          <a:latin typeface="Cambria Math" panose="02040503050406030204" pitchFamily="18" charset="0"/>
                        </a:rPr>
                        <m:t>=</m:t>
                      </m:r>
                      <m:func>
                        <m:funcPr>
                          <m:ctrlPr>
                            <a:rPr lang="en-NZ" i="1" dirty="0" smtClean="0">
                              <a:latin typeface="Cambria Math" panose="02040503050406030204" pitchFamily="18" charset="0"/>
                            </a:rPr>
                          </m:ctrlPr>
                        </m:funcPr>
                        <m:fName>
                          <m:r>
                            <m:rPr>
                              <m:sty m:val="p"/>
                            </m:rPr>
                            <a:rPr lang="en-NZ" i="1" dirty="0" smtClean="0">
                              <a:latin typeface="Cambria Math" panose="02040503050406030204" pitchFamily="18" charset="0"/>
                            </a:rPr>
                            <m:t>arg</m:t>
                          </m:r>
                        </m:fName>
                        <m:e>
                          <m:d>
                            <m:dPr>
                              <m:ctrlPr>
                                <a:rPr lang="en-NZ" i="1" dirty="0" smtClean="0">
                                  <a:latin typeface="Cambria Math" panose="02040503050406030204" pitchFamily="18" charset="0"/>
                                </a:rPr>
                              </m:ctrlPr>
                            </m:dPr>
                            <m:e>
                              <m:nary>
                                <m:naryPr>
                                  <m:chr m:val="∑"/>
                                  <m:limLoc m:val="undOvr"/>
                                  <m:ctrlPr>
                                    <a:rPr lang="en-NZ" i="1" dirty="0" smtClean="0">
                                      <a:latin typeface="Cambria Math" panose="02040503050406030204" pitchFamily="18" charset="0"/>
                                    </a:rPr>
                                  </m:ctrlPr>
                                </m:naryPr>
                                <m:sub>
                                  <m:r>
                                    <a:rPr lang="en-NZ" i="1" dirty="0" smtClean="0">
                                      <a:latin typeface="Cambria Math" panose="02040503050406030204" pitchFamily="18" charset="0"/>
                                    </a:rPr>
                                    <m:t>𝑛</m:t>
                                  </m:r>
                                  <m:r>
                                    <a:rPr lang="en-NZ" i="1" dirty="0" smtClean="0">
                                      <a:latin typeface="Cambria Math" panose="02040503050406030204" pitchFamily="18" charset="0"/>
                                    </a:rPr>
                                    <m:t>=1</m:t>
                                  </m:r>
                                </m:sub>
                                <m:sup>
                                  <m:r>
                                    <a:rPr lang="en-NZ" i="1" dirty="0" smtClean="0">
                                      <a:latin typeface="Cambria Math" panose="02040503050406030204" pitchFamily="18" charset="0"/>
                                    </a:rPr>
                                    <m:t>𝑁</m:t>
                                  </m:r>
                                </m:sup>
                                <m:e>
                                  <m:sSubSup>
                                    <m:sSubSupPr>
                                      <m:ctrlPr>
                                        <a:rPr lang="en-NZ" i="1" dirty="0" smtClean="0">
                                          <a:latin typeface="Cambria Math" panose="02040503050406030204" pitchFamily="18" charset="0"/>
                                        </a:rPr>
                                      </m:ctrlPr>
                                    </m:sSubSupPr>
                                    <m:e>
                                      <m:r>
                                        <a:rPr lang="en-NZ" i="1" dirty="0" smtClean="0">
                                          <a:latin typeface="Cambria Math" panose="02040503050406030204" pitchFamily="18" charset="0"/>
                                        </a:rPr>
                                        <m:t>𝑥</m:t>
                                      </m:r>
                                    </m:e>
                                    <m:sub>
                                      <m:r>
                                        <a:rPr lang="en-NZ" i="1" dirty="0" smtClean="0">
                                          <a:latin typeface="Cambria Math" panose="02040503050406030204" pitchFamily="18" charset="0"/>
                                        </a:rPr>
                                        <m:t>𝑛</m:t>
                                      </m:r>
                                    </m:sub>
                                    <m:sup>
                                      <m:r>
                                        <a:rPr lang="en-NZ" i="1" dirty="0" smtClean="0">
                                          <a:latin typeface="Cambria Math" panose="02040503050406030204" pitchFamily="18" charset="0"/>
                                        </a:rPr>
                                        <m:t>∗</m:t>
                                      </m:r>
                                    </m:sup>
                                  </m:sSubSup>
                                </m:e>
                              </m:nary>
                              <m:sSub>
                                <m:sSubPr>
                                  <m:ctrlPr>
                                    <a:rPr lang="en-NZ" i="1" dirty="0" smtClean="0">
                                      <a:latin typeface="Cambria Math" panose="02040503050406030204" pitchFamily="18" charset="0"/>
                                    </a:rPr>
                                  </m:ctrlPr>
                                </m:sSubPr>
                                <m:e>
                                  <m:r>
                                    <a:rPr lang="en-NZ" i="1" dirty="0" smtClean="0">
                                      <a:latin typeface="Cambria Math" panose="02040503050406030204" pitchFamily="18" charset="0"/>
                                    </a:rPr>
                                    <m:t>𝑦</m:t>
                                  </m:r>
                                </m:e>
                                <m:sub>
                                  <m:r>
                                    <a:rPr lang="en-NZ" i="1" dirty="0" smtClean="0">
                                      <a:latin typeface="Cambria Math" panose="02040503050406030204" pitchFamily="18" charset="0"/>
                                    </a:rPr>
                                    <m:t>𝑛</m:t>
                                  </m:r>
                                </m:sub>
                              </m:sSub>
                            </m:e>
                          </m:d>
                        </m:e>
                      </m:func>
                    </m:oMath>
                  </m:oMathPara>
                </a14:m>
                <a:endParaRPr lang="en-NZ"/>
              </a:p>
            </p:txBody>
          </p:sp>
        </mc:Choice>
        <mc:Fallback xmlns="">
          <p:sp>
            <p:nvSpPr>
              <p:cNvPr id="10" name="TextBox 9">
                <a:extLst>
                  <a:ext uri="{FF2B5EF4-FFF2-40B4-BE49-F238E27FC236}">
                    <a16:creationId xmlns:a16="http://schemas.microsoft.com/office/drawing/2014/main" id="{7D51F108-778E-1791-2E43-22E23AD59276}"/>
                  </a:ext>
                </a:extLst>
              </p:cNvPr>
              <p:cNvSpPr txBox="1">
                <a:spLocks noRot="1" noChangeAspect="1" noMove="1" noResize="1" noEditPoints="1" noAdjustHandles="1" noChangeArrowheads="1" noChangeShapeType="1" noTextEdit="1"/>
              </p:cNvSpPr>
              <p:nvPr/>
            </p:nvSpPr>
            <p:spPr>
              <a:xfrm>
                <a:off x="526627" y="2211347"/>
                <a:ext cx="2638229" cy="98405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8AB9378-E3DD-AF08-B477-FF19193EC9F4}"/>
                  </a:ext>
                </a:extLst>
              </p:cNvPr>
              <p:cNvSpPr txBox="1"/>
              <p:nvPr/>
            </p:nvSpPr>
            <p:spPr>
              <a:xfrm>
                <a:off x="670698" y="3887847"/>
                <a:ext cx="2167034" cy="714683"/>
              </a:xfrm>
              <a:prstGeom prst="rect">
                <a:avLst/>
              </a:prstGeom>
              <a:noFill/>
            </p:spPr>
            <p:txBody>
              <a:bodyPr wrap="square">
                <a:spAutoFit/>
              </a:bodyPr>
              <a:lstStyle/>
              <a:p>
                <a:pPr/>
                <a14:m>
                  <m:oMathPara xmlns:m="http://schemas.openxmlformats.org/officeDocument/2006/math">
                    <m:oMath>
                      <m:r>
                        <a:rPr lang="en-NZ" i="1" dirty="0" smtClean="0">
                          <a:latin typeface="Cambria Math" panose="02040503050406030204" pitchFamily="18" charset="0"/>
                        </a:rPr>
                        <m:t>𝜃</m:t>
                      </m:r>
                      <m:r>
                        <a:rPr lang="en-NZ" i="0" dirty="0">
                          <a:latin typeface="Cambria Math" panose="02040503050406030204" pitchFamily="18" charset="0"/>
                        </a:rPr>
                        <m:t>=</m:t>
                      </m:r>
                      <m:func>
                        <m:funcPr>
                          <m:ctrlPr>
                            <a:rPr lang="en-NZ" i="1" dirty="0">
                              <a:latin typeface="Cambria Math" panose="02040503050406030204" pitchFamily="18" charset="0"/>
                            </a:rPr>
                          </m:ctrlPr>
                        </m:funcPr>
                        <m:fName>
                          <m:sSup>
                            <m:sSupPr>
                              <m:ctrlPr>
                                <a:rPr lang="en-NZ" i="0" dirty="0">
                                  <a:latin typeface="Cambria Math" panose="02040503050406030204" pitchFamily="18" charset="0"/>
                                </a:rPr>
                              </m:ctrlPr>
                            </m:sSupPr>
                            <m:e>
                              <m:r>
                                <m:rPr>
                                  <m:sty m:val="p"/>
                                </m:rPr>
                                <a:rPr lang="en-NZ" i="0" dirty="0">
                                  <a:latin typeface="Cambria Math" panose="02040503050406030204" pitchFamily="18" charset="0"/>
                                </a:rPr>
                                <m:t>sin</m:t>
                              </m:r>
                            </m:e>
                            <m:sup>
                              <m:r>
                                <a:rPr lang="en-NZ" i="0" dirty="0">
                                  <a:latin typeface="Cambria Math" panose="02040503050406030204" pitchFamily="18" charset="0"/>
                                </a:rPr>
                                <m:t>−1</m:t>
                              </m:r>
                            </m:sup>
                          </m:sSup>
                        </m:fName>
                        <m:e>
                          <m:d>
                            <m:dPr>
                              <m:ctrlPr>
                                <a:rPr lang="en-NZ" i="0" dirty="0">
                                  <a:latin typeface="Cambria Math" panose="02040503050406030204" pitchFamily="18" charset="0"/>
                                </a:rPr>
                              </m:ctrlPr>
                            </m:dPr>
                            <m:e>
                              <m:r>
                                <a:rPr lang="en-NZ" i="0" dirty="0">
                                  <a:latin typeface="Cambria Math" panose="02040503050406030204" pitchFamily="18" charset="0"/>
                                </a:rPr>
                                <m:t>−</m:t>
                              </m:r>
                              <m:f>
                                <m:fPr>
                                  <m:ctrlPr>
                                    <a:rPr lang="en-NZ" i="1" dirty="0">
                                      <a:latin typeface="Cambria Math" panose="02040503050406030204" pitchFamily="18" charset="0"/>
                                    </a:rPr>
                                  </m:ctrlPr>
                                </m:fPr>
                                <m:num>
                                  <m:r>
                                    <a:rPr lang="en-NZ" i="1" dirty="0">
                                      <a:latin typeface="Cambria Math" panose="02040503050406030204" pitchFamily="18" charset="0"/>
                                    </a:rPr>
                                    <m:t>𝜆</m:t>
                                  </m:r>
                                  <m:r>
                                    <m:rPr>
                                      <m:sty m:val="p"/>
                                    </m:rPr>
                                    <a:rPr lang="en-NZ" i="0" dirty="0">
                                      <a:latin typeface="Cambria Math" panose="02040503050406030204" pitchFamily="18" charset="0"/>
                                    </a:rPr>
                                    <m:t>Δ</m:t>
                                  </m:r>
                                  <m:r>
                                    <a:rPr lang="en-NZ" i="1" dirty="0">
                                      <a:latin typeface="Cambria Math" panose="02040503050406030204" pitchFamily="18" charset="0"/>
                                    </a:rPr>
                                    <m:t>𝜙</m:t>
                                  </m:r>
                                </m:num>
                                <m:den>
                                  <m:r>
                                    <a:rPr lang="en-NZ" i="0" dirty="0">
                                      <a:latin typeface="Cambria Math" panose="02040503050406030204" pitchFamily="18" charset="0"/>
                                    </a:rPr>
                                    <m:t>2</m:t>
                                  </m:r>
                                  <m:r>
                                    <a:rPr lang="en-NZ" i="1" dirty="0">
                                      <a:latin typeface="Cambria Math" panose="02040503050406030204" pitchFamily="18" charset="0"/>
                                    </a:rPr>
                                    <m:t>𝜋</m:t>
                                  </m:r>
                                  <m:r>
                                    <a:rPr lang="en-NZ" i="1" dirty="0">
                                      <a:latin typeface="Cambria Math" panose="02040503050406030204" pitchFamily="18" charset="0"/>
                                    </a:rPr>
                                    <m:t>𝑑</m:t>
                                  </m:r>
                                </m:den>
                              </m:f>
                            </m:e>
                          </m:d>
                        </m:e>
                      </m:func>
                    </m:oMath>
                  </m:oMathPara>
                </a14:m>
                <a:endParaRPr lang="en-NZ"/>
              </a:p>
            </p:txBody>
          </p:sp>
        </mc:Choice>
        <mc:Fallback xmlns="">
          <p:sp>
            <p:nvSpPr>
              <p:cNvPr id="12" name="TextBox 11">
                <a:extLst>
                  <a:ext uri="{FF2B5EF4-FFF2-40B4-BE49-F238E27FC236}">
                    <a16:creationId xmlns:a16="http://schemas.microsoft.com/office/drawing/2014/main" id="{58AB9378-E3DD-AF08-B477-FF19193EC9F4}"/>
                  </a:ext>
                </a:extLst>
              </p:cNvPr>
              <p:cNvSpPr txBox="1">
                <a:spLocks noRot="1" noChangeAspect="1" noMove="1" noResize="1" noEditPoints="1" noAdjustHandles="1" noChangeArrowheads="1" noChangeShapeType="1" noTextEdit="1"/>
              </p:cNvSpPr>
              <p:nvPr/>
            </p:nvSpPr>
            <p:spPr>
              <a:xfrm>
                <a:off x="670698" y="3887847"/>
                <a:ext cx="2167034" cy="714683"/>
              </a:xfrm>
              <a:prstGeom prst="rect">
                <a:avLst/>
              </a:prstGeom>
              <a:blipFill>
                <a:blip r:embed="rId4"/>
                <a:stretch>
                  <a:fillRect/>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D561B899-B9D1-CBF8-3546-29F446136C05}"/>
              </a:ext>
            </a:extLst>
          </p:cNvPr>
          <p:cNvCxnSpPr/>
          <p:nvPr/>
        </p:nvCxnSpPr>
        <p:spPr>
          <a:xfrm>
            <a:off x="435103" y="3312367"/>
            <a:ext cx="3362456"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6D5CB9C-B1C4-6626-4BC6-C751BD5B262A}"/>
              </a:ext>
            </a:extLst>
          </p:cNvPr>
          <p:cNvSpPr txBox="1"/>
          <p:nvPr/>
        </p:nvSpPr>
        <p:spPr>
          <a:xfrm>
            <a:off x="360458" y="3407620"/>
            <a:ext cx="3379338" cy="369332"/>
          </a:xfrm>
          <a:prstGeom prst="rect">
            <a:avLst/>
          </a:prstGeom>
          <a:noFill/>
        </p:spPr>
        <p:txBody>
          <a:bodyPr wrap="square" rtlCol="0">
            <a:spAutoFit/>
          </a:bodyPr>
          <a:lstStyle/>
          <a:p>
            <a:r>
              <a:rPr lang="en-GB"/>
              <a:t>2. Convert phase to arrival angle</a:t>
            </a:r>
            <a:endParaRPr lang="en-NZ"/>
          </a:p>
        </p:txBody>
      </p:sp>
      <p:sp>
        <p:nvSpPr>
          <p:cNvPr id="20" name="TextBox 19">
            <a:extLst>
              <a:ext uri="{FF2B5EF4-FFF2-40B4-BE49-F238E27FC236}">
                <a16:creationId xmlns:a16="http://schemas.microsoft.com/office/drawing/2014/main" id="{EEFF513E-ED67-C6D6-F388-F91DC1A57447}"/>
              </a:ext>
            </a:extLst>
          </p:cNvPr>
          <p:cNvSpPr txBox="1"/>
          <p:nvPr/>
        </p:nvSpPr>
        <p:spPr>
          <a:xfrm>
            <a:off x="343575" y="5007879"/>
            <a:ext cx="2718644" cy="369332"/>
          </a:xfrm>
          <a:prstGeom prst="rect">
            <a:avLst/>
          </a:prstGeom>
          <a:noFill/>
        </p:spPr>
        <p:txBody>
          <a:bodyPr wrap="square" rtlCol="0">
            <a:spAutoFit/>
          </a:bodyPr>
          <a:lstStyle/>
          <a:p>
            <a:r>
              <a:rPr lang="en-GB" b="1"/>
              <a:t>Sim Results in RMSE</a:t>
            </a:r>
            <a:endParaRPr lang="en-NZ" b="1"/>
          </a:p>
        </p:txBody>
      </p:sp>
      <p:sp>
        <p:nvSpPr>
          <p:cNvPr id="21" name="Rectangle: Rounded Corners 20">
            <a:extLst>
              <a:ext uri="{FF2B5EF4-FFF2-40B4-BE49-F238E27FC236}">
                <a16:creationId xmlns:a16="http://schemas.microsoft.com/office/drawing/2014/main" id="{685000D9-21F4-36CF-3114-C90E07981835}"/>
              </a:ext>
            </a:extLst>
          </p:cNvPr>
          <p:cNvSpPr/>
          <p:nvPr/>
        </p:nvSpPr>
        <p:spPr>
          <a:xfrm>
            <a:off x="2606355" y="5240703"/>
            <a:ext cx="2537927" cy="1306286"/>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3" name="Rectangle: Rounded Corners 22">
            <a:extLst>
              <a:ext uri="{FF2B5EF4-FFF2-40B4-BE49-F238E27FC236}">
                <a16:creationId xmlns:a16="http://schemas.microsoft.com/office/drawing/2014/main" id="{D6F86F68-3E08-E96C-33ED-757CE65CF68A}"/>
              </a:ext>
            </a:extLst>
          </p:cNvPr>
          <p:cNvSpPr/>
          <p:nvPr/>
        </p:nvSpPr>
        <p:spPr>
          <a:xfrm>
            <a:off x="5666794" y="5256604"/>
            <a:ext cx="2537926" cy="1306286"/>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5" name="TextBox 24">
            <a:extLst>
              <a:ext uri="{FF2B5EF4-FFF2-40B4-BE49-F238E27FC236}">
                <a16:creationId xmlns:a16="http://schemas.microsoft.com/office/drawing/2014/main" id="{BC27D901-FA78-B5D6-468B-4402478D44D9}"/>
              </a:ext>
            </a:extLst>
          </p:cNvPr>
          <p:cNvSpPr txBox="1"/>
          <p:nvPr/>
        </p:nvSpPr>
        <p:spPr>
          <a:xfrm>
            <a:off x="2758756" y="5380662"/>
            <a:ext cx="1323229" cy="461665"/>
          </a:xfrm>
          <a:prstGeom prst="rect">
            <a:avLst/>
          </a:prstGeom>
          <a:noFill/>
        </p:spPr>
        <p:txBody>
          <a:bodyPr wrap="square" rtlCol="0">
            <a:spAutoFit/>
          </a:bodyPr>
          <a:lstStyle/>
          <a:p>
            <a:r>
              <a:rPr lang="en-GB" sz="2400" b="1"/>
              <a:t>0.070°</a:t>
            </a:r>
            <a:endParaRPr lang="en-NZ" sz="2400" b="1"/>
          </a:p>
        </p:txBody>
      </p:sp>
      <p:cxnSp>
        <p:nvCxnSpPr>
          <p:cNvPr id="26" name="Straight Connector 25">
            <a:extLst>
              <a:ext uri="{FF2B5EF4-FFF2-40B4-BE49-F238E27FC236}">
                <a16:creationId xmlns:a16="http://schemas.microsoft.com/office/drawing/2014/main" id="{9E620FA3-3C71-4FE1-ABB9-AB4D2C7EEEC3}"/>
              </a:ext>
            </a:extLst>
          </p:cNvPr>
          <p:cNvCxnSpPr>
            <a:cxnSpLocks/>
          </p:cNvCxnSpPr>
          <p:nvPr/>
        </p:nvCxnSpPr>
        <p:spPr>
          <a:xfrm>
            <a:off x="435103" y="4976327"/>
            <a:ext cx="1074297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8BCE33C2-C277-FEC7-E143-32DB133F48A4}"/>
              </a:ext>
            </a:extLst>
          </p:cNvPr>
          <p:cNvSpPr/>
          <p:nvPr/>
        </p:nvSpPr>
        <p:spPr>
          <a:xfrm>
            <a:off x="8727232" y="5256604"/>
            <a:ext cx="2537926" cy="1306286"/>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1" name="TextBox 30">
            <a:extLst>
              <a:ext uri="{FF2B5EF4-FFF2-40B4-BE49-F238E27FC236}">
                <a16:creationId xmlns:a16="http://schemas.microsoft.com/office/drawing/2014/main" id="{524EE65D-F40C-4C3A-1A72-9CD79F5B3E4C}"/>
              </a:ext>
            </a:extLst>
          </p:cNvPr>
          <p:cNvSpPr txBox="1"/>
          <p:nvPr/>
        </p:nvSpPr>
        <p:spPr>
          <a:xfrm>
            <a:off x="5844935" y="5380662"/>
            <a:ext cx="1323229" cy="461665"/>
          </a:xfrm>
          <a:prstGeom prst="rect">
            <a:avLst/>
          </a:prstGeom>
          <a:noFill/>
        </p:spPr>
        <p:txBody>
          <a:bodyPr wrap="square" rtlCol="0">
            <a:spAutoFit/>
          </a:bodyPr>
          <a:lstStyle/>
          <a:p>
            <a:r>
              <a:rPr lang="en-GB" sz="2400" b="1"/>
              <a:t>1.477°</a:t>
            </a:r>
            <a:endParaRPr lang="en-NZ" sz="2400" b="1"/>
          </a:p>
        </p:txBody>
      </p:sp>
      <p:sp>
        <p:nvSpPr>
          <p:cNvPr id="33" name="TextBox 32">
            <a:extLst>
              <a:ext uri="{FF2B5EF4-FFF2-40B4-BE49-F238E27FC236}">
                <a16:creationId xmlns:a16="http://schemas.microsoft.com/office/drawing/2014/main" id="{C883910F-FB84-F69B-BEA9-6C1FEEE566A8}"/>
              </a:ext>
            </a:extLst>
          </p:cNvPr>
          <p:cNvSpPr txBox="1"/>
          <p:nvPr/>
        </p:nvSpPr>
        <p:spPr>
          <a:xfrm>
            <a:off x="8808953" y="5404240"/>
            <a:ext cx="1323229" cy="461665"/>
          </a:xfrm>
          <a:prstGeom prst="rect">
            <a:avLst/>
          </a:prstGeom>
          <a:noFill/>
        </p:spPr>
        <p:txBody>
          <a:bodyPr wrap="square" rtlCol="0">
            <a:spAutoFit/>
          </a:bodyPr>
          <a:lstStyle/>
          <a:p>
            <a:r>
              <a:rPr lang="en-GB" sz="2400" b="1"/>
              <a:t>0.145°</a:t>
            </a:r>
            <a:endParaRPr lang="en-NZ" sz="2400" b="1"/>
          </a:p>
        </p:txBody>
      </p:sp>
      <p:sp>
        <p:nvSpPr>
          <p:cNvPr id="34" name="TextBox 33">
            <a:extLst>
              <a:ext uri="{FF2B5EF4-FFF2-40B4-BE49-F238E27FC236}">
                <a16:creationId xmlns:a16="http://schemas.microsoft.com/office/drawing/2014/main" id="{75BAE535-D391-9F47-265E-7EB90665561C}"/>
              </a:ext>
            </a:extLst>
          </p:cNvPr>
          <p:cNvSpPr txBox="1"/>
          <p:nvPr/>
        </p:nvSpPr>
        <p:spPr>
          <a:xfrm>
            <a:off x="435103" y="5397535"/>
            <a:ext cx="1390591" cy="883383"/>
          </a:xfrm>
          <a:prstGeom prst="rect">
            <a:avLst/>
          </a:prstGeom>
          <a:noFill/>
        </p:spPr>
        <p:txBody>
          <a:bodyPr wrap="square" rtlCol="0">
            <a:spAutoFit/>
          </a:bodyPr>
          <a:lstStyle/>
          <a:p>
            <a:pPr>
              <a:lnSpc>
                <a:spcPct val="150000"/>
              </a:lnSpc>
            </a:pPr>
            <a:r>
              <a:rPr lang="en-GB"/>
              <a:t>Angle = 30°</a:t>
            </a:r>
          </a:p>
          <a:p>
            <a:pPr>
              <a:lnSpc>
                <a:spcPct val="150000"/>
              </a:lnSpc>
            </a:pPr>
            <a:r>
              <a:rPr lang="en-GB"/>
              <a:t>SNR = 10dB</a:t>
            </a:r>
            <a:endParaRPr lang="en-NZ"/>
          </a:p>
        </p:txBody>
      </p:sp>
      <p:sp>
        <p:nvSpPr>
          <p:cNvPr id="35" name="TextBox 34">
            <a:extLst>
              <a:ext uri="{FF2B5EF4-FFF2-40B4-BE49-F238E27FC236}">
                <a16:creationId xmlns:a16="http://schemas.microsoft.com/office/drawing/2014/main" id="{0DDA9091-07EE-22E1-97F9-5B6E1019128C}"/>
              </a:ext>
            </a:extLst>
          </p:cNvPr>
          <p:cNvSpPr txBox="1"/>
          <p:nvPr/>
        </p:nvSpPr>
        <p:spPr>
          <a:xfrm>
            <a:off x="2721432" y="5811516"/>
            <a:ext cx="2318021" cy="646331"/>
          </a:xfrm>
          <a:prstGeom prst="rect">
            <a:avLst/>
          </a:prstGeom>
          <a:noFill/>
        </p:spPr>
        <p:txBody>
          <a:bodyPr wrap="square" rtlCol="0">
            <a:spAutoFit/>
          </a:bodyPr>
          <a:lstStyle/>
          <a:p>
            <a:r>
              <a:rPr lang="en-GB"/>
              <a:t>Ideal conditions:</a:t>
            </a:r>
          </a:p>
          <a:p>
            <a:r>
              <a:rPr lang="en-GB" b="1"/>
              <a:t>No calibration error</a:t>
            </a:r>
            <a:endParaRPr lang="en-NZ" b="1"/>
          </a:p>
        </p:txBody>
      </p:sp>
      <p:sp>
        <p:nvSpPr>
          <p:cNvPr id="37" name="TextBox 36">
            <a:extLst>
              <a:ext uri="{FF2B5EF4-FFF2-40B4-BE49-F238E27FC236}">
                <a16:creationId xmlns:a16="http://schemas.microsoft.com/office/drawing/2014/main" id="{35BB097B-4A5C-5917-E67B-3820ACB9EBDE}"/>
              </a:ext>
            </a:extLst>
          </p:cNvPr>
          <p:cNvSpPr txBox="1"/>
          <p:nvPr/>
        </p:nvSpPr>
        <p:spPr>
          <a:xfrm>
            <a:off x="5806588" y="5811516"/>
            <a:ext cx="2537925" cy="646331"/>
          </a:xfrm>
          <a:prstGeom prst="rect">
            <a:avLst/>
          </a:prstGeom>
          <a:noFill/>
        </p:spPr>
        <p:txBody>
          <a:bodyPr wrap="square" rtlCol="0">
            <a:spAutoFit/>
          </a:bodyPr>
          <a:lstStyle/>
          <a:p>
            <a:r>
              <a:rPr lang="en-GB"/>
              <a:t>Uniform ±7.5° phase offset</a:t>
            </a:r>
          </a:p>
        </p:txBody>
      </p:sp>
      <p:sp>
        <p:nvSpPr>
          <p:cNvPr id="39" name="TextBox 38">
            <a:extLst>
              <a:ext uri="{FF2B5EF4-FFF2-40B4-BE49-F238E27FC236}">
                <a16:creationId xmlns:a16="http://schemas.microsoft.com/office/drawing/2014/main" id="{9556B0B2-61CE-E5CB-C1B8-4797D0A84910}"/>
              </a:ext>
            </a:extLst>
          </p:cNvPr>
          <p:cNvSpPr txBox="1"/>
          <p:nvPr/>
        </p:nvSpPr>
        <p:spPr>
          <a:xfrm>
            <a:off x="8727233" y="5811515"/>
            <a:ext cx="2537925" cy="646331"/>
          </a:xfrm>
          <a:prstGeom prst="rect">
            <a:avLst/>
          </a:prstGeom>
          <a:noFill/>
        </p:spPr>
        <p:txBody>
          <a:bodyPr wrap="square" rtlCol="0">
            <a:spAutoFit/>
          </a:bodyPr>
          <a:lstStyle/>
          <a:p>
            <a:r>
              <a:rPr lang="en-GB"/>
              <a:t>Uniform ±7.5° phase offset – Post calibrated</a:t>
            </a:r>
          </a:p>
        </p:txBody>
      </p:sp>
      <p:pic>
        <p:nvPicPr>
          <p:cNvPr id="8" name="Picture 7">
            <a:extLst>
              <a:ext uri="{FF2B5EF4-FFF2-40B4-BE49-F238E27FC236}">
                <a16:creationId xmlns:a16="http://schemas.microsoft.com/office/drawing/2014/main" id="{A1EB4A82-928B-0B2B-7AED-EC8D1D6249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1371" y="1167273"/>
            <a:ext cx="6383787" cy="3735236"/>
          </a:xfrm>
          <a:prstGeom prst="rect">
            <a:avLst/>
          </a:prstGeom>
        </p:spPr>
      </p:pic>
    </p:spTree>
    <p:extLst>
      <p:ext uri="{BB962C8B-B14F-4D97-AF65-F5344CB8AC3E}">
        <p14:creationId xmlns:p14="http://schemas.microsoft.com/office/powerpoint/2010/main" val="1697947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9ED22-447F-9BAE-7483-3FACD9E55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44C32-926A-C4E1-6F1F-418C6F631149}"/>
              </a:ext>
            </a:extLst>
          </p:cNvPr>
          <p:cNvSpPr>
            <a:spLocks noGrp="1"/>
          </p:cNvSpPr>
          <p:nvPr>
            <p:ph type="title"/>
          </p:nvPr>
        </p:nvSpPr>
        <p:spPr>
          <a:xfrm>
            <a:off x="435864" y="264542"/>
            <a:ext cx="11155680" cy="1116202"/>
          </a:xfrm>
        </p:spPr>
        <p:txBody>
          <a:bodyPr/>
          <a:lstStyle/>
          <a:p>
            <a:pPr algn="ctr"/>
            <a:r>
              <a:rPr lang="en-GB"/>
              <a:t>Full Pipeline Integration</a:t>
            </a:r>
            <a:endParaRPr lang="en-NZ"/>
          </a:p>
        </p:txBody>
      </p:sp>
      <p:sp>
        <p:nvSpPr>
          <p:cNvPr id="4" name="Rectangle: Rounded Corners 3">
            <a:extLst>
              <a:ext uri="{FF2B5EF4-FFF2-40B4-BE49-F238E27FC236}">
                <a16:creationId xmlns:a16="http://schemas.microsoft.com/office/drawing/2014/main" id="{6AE180D6-FC80-2D34-6019-85108640CAB4}"/>
              </a:ext>
            </a:extLst>
          </p:cNvPr>
          <p:cNvSpPr/>
          <p:nvPr/>
        </p:nvSpPr>
        <p:spPr>
          <a:xfrm>
            <a:off x="344424" y="2615184"/>
            <a:ext cx="2563368" cy="2423160"/>
          </a:xfrm>
          <a:prstGeom prst="roundRect">
            <a:avLst/>
          </a:prstGeom>
          <a:solidFill>
            <a:schemeClr val="tx2">
              <a:lumMod val="10000"/>
              <a:lumOff val="90000"/>
            </a:schemeClr>
          </a:solidFill>
          <a:ln>
            <a:solidFill>
              <a:schemeClr val="tx2">
                <a:lumMod val="90000"/>
                <a:lumOff val="1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Calibration</a:t>
            </a:r>
            <a:endParaRPr lang="en-NZ" sz="2400">
              <a:solidFill>
                <a:schemeClr val="tx1"/>
              </a:solidFill>
            </a:endParaRPr>
          </a:p>
        </p:txBody>
      </p:sp>
      <p:sp>
        <p:nvSpPr>
          <p:cNvPr id="6" name="Rectangle: Rounded Corners 5">
            <a:extLst>
              <a:ext uri="{FF2B5EF4-FFF2-40B4-BE49-F238E27FC236}">
                <a16:creationId xmlns:a16="http://schemas.microsoft.com/office/drawing/2014/main" id="{EB982162-E41A-7377-D50D-9A4F25AE784E}"/>
              </a:ext>
            </a:extLst>
          </p:cNvPr>
          <p:cNvSpPr/>
          <p:nvPr/>
        </p:nvSpPr>
        <p:spPr>
          <a:xfrm>
            <a:off x="3229358" y="2615184"/>
            <a:ext cx="2666998" cy="2423160"/>
          </a:xfrm>
          <a:prstGeom prst="roundRect">
            <a:avLst/>
          </a:prstGeom>
          <a:solidFill>
            <a:schemeClr val="tx2">
              <a:lumMod val="10000"/>
              <a:lumOff val="90000"/>
            </a:schemeClr>
          </a:solidFill>
          <a:ln>
            <a:solidFill>
              <a:schemeClr val="tx2">
                <a:lumMod val="90000"/>
                <a:lumOff val="1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300">
                <a:solidFill>
                  <a:schemeClr val="tx1"/>
                </a:solidFill>
              </a:rPr>
              <a:t>Dual SDR Synchronisation</a:t>
            </a:r>
            <a:endParaRPr lang="en-NZ" sz="2300">
              <a:solidFill>
                <a:schemeClr val="tx1"/>
              </a:solidFill>
            </a:endParaRPr>
          </a:p>
        </p:txBody>
      </p:sp>
      <p:sp>
        <p:nvSpPr>
          <p:cNvPr id="8" name="Rectangle: Rounded Corners 7">
            <a:extLst>
              <a:ext uri="{FF2B5EF4-FFF2-40B4-BE49-F238E27FC236}">
                <a16:creationId xmlns:a16="http://schemas.microsoft.com/office/drawing/2014/main" id="{F7560477-87F6-A795-2621-4C79DE0E05CF}"/>
              </a:ext>
            </a:extLst>
          </p:cNvPr>
          <p:cNvSpPr/>
          <p:nvPr/>
        </p:nvSpPr>
        <p:spPr>
          <a:xfrm>
            <a:off x="6217922" y="2615184"/>
            <a:ext cx="2666998" cy="2423160"/>
          </a:xfrm>
          <a:prstGeom prst="roundRect">
            <a:avLst/>
          </a:prstGeom>
          <a:solidFill>
            <a:schemeClr val="tx2">
              <a:lumMod val="10000"/>
              <a:lumOff val="9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RF Switch Board</a:t>
            </a:r>
            <a:endParaRPr lang="en-NZ" sz="2400">
              <a:solidFill>
                <a:schemeClr val="tx1"/>
              </a:solidFill>
            </a:endParaRPr>
          </a:p>
        </p:txBody>
      </p:sp>
      <p:sp>
        <p:nvSpPr>
          <p:cNvPr id="10" name="Rectangle: Rounded Corners 9">
            <a:extLst>
              <a:ext uri="{FF2B5EF4-FFF2-40B4-BE49-F238E27FC236}">
                <a16:creationId xmlns:a16="http://schemas.microsoft.com/office/drawing/2014/main" id="{9AB5AFDD-0040-E016-F425-E00B3F7B1620}"/>
              </a:ext>
            </a:extLst>
          </p:cNvPr>
          <p:cNvSpPr/>
          <p:nvPr/>
        </p:nvSpPr>
        <p:spPr>
          <a:xfrm>
            <a:off x="9206486" y="2615184"/>
            <a:ext cx="2666998" cy="2423160"/>
          </a:xfrm>
          <a:prstGeom prst="roundRect">
            <a:avLst/>
          </a:prstGeom>
          <a:solidFill>
            <a:schemeClr val="tx2">
              <a:lumMod val="10000"/>
              <a:lumOff val="90000"/>
            </a:schemeClr>
          </a:solidFill>
          <a:ln>
            <a:solidFill>
              <a:schemeClr val="accent1">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GB" sz="2400">
                <a:solidFill>
                  <a:schemeClr val="tx1"/>
                </a:solidFill>
              </a:rPr>
              <a:t>Angle-of-Arrival (</a:t>
            </a:r>
            <a:r>
              <a:rPr lang="en-GB" sz="2400" err="1">
                <a:solidFill>
                  <a:schemeClr val="tx1"/>
                </a:solidFill>
              </a:rPr>
              <a:t>AoA</a:t>
            </a:r>
            <a:r>
              <a:rPr lang="en-GB" sz="2400">
                <a:solidFill>
                  <a:schemeClr val="tx1"/>
                </a:solidFill>
              </a:rPr>
              <a:t>)</a:t>
            </a:r>
            <a:endParaRPr lang="en-NZ" sz="2400">
              <a:solidFill>
                <a:schemeClr val="tx1"/>
              </a:solidFill>
            </a:endParaRPr>
          </a:p>
        </p:txBody>
      </p:sp>
      <p:cxnSp>
        <p:nvCxnSpPr>
          <p:cNvPr id="14" name="Straight Connector 13">
            <a:extLst>
              <a:ext uri="{FF2B5EF4-FFF2-40B4-BE49-F238E27FC236}">
                <a16:creationId xmlns:a16="http://schemas.microsoft.com/office/drawing/2014/main" id="{3D2A5112-74A9-13D7-3E1E-E7157D41C6DA}"/>
              </a:ext>
            </a:extLst>
          </p:cNvPr>
          <p:cNvCxnSpPr>
            <a:cxnSpLocks/>
          </p:cNvCxnSpPr>
          <p:nvPr/>
        </p:nvCxnSpPr>
        <p:spPr>
          <a:xfrm>
            <a:off x="518160" y="1380744"/>
            <a:ext cx="111556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4F9DBC3-E18F-C356-2ACD-E11B149F84FB}"/>
              </a:ext>
            </a:extLst>
          </p:cNvPr>
          <p:cNvCxnSpPr>
            <a:stCxn id="4" idx="3"/>
            <a:endCxn id="6" idx="1"/>
          </p:cNvCxnSpPr>
          <p:nvPr/>
        </p:nvCxnSpPr>
        <p:spPr>
          <a:xfrm>
            <a:off x="2907792" y="3826764"/>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A789307-41A7-FF82-AD58-E5AB407F7FAF}"/>
              </a:ext>
            </a:extLst>
          </p:cNvPr>
          <p:cNvCxnSpPr/>
          <p:nvPr/>
        </p:nvCxnSpPr>
        <p:spPr>
          <a:xfrm>
            <a:off x="5882640" y="3826764"/>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8367323-FAD2-328A-CA9D-32CA416EEEF2}"/>
              </a:ext>
            </a:extLst>
          </p:cNvPr>
          <p:cNvCxnSpPr/>
          <p:nvPr/>
        </p:nvCxnSpPr>
        <p:spPr>
          <a:xfrm>
            <a:off x="8884920" y="3810000"/>
            <a:ext cx="321566" cy="0"/>
          </a:xfrm>
          <a:prstGeom prst="straightConnector1">
            <a:avLst/>
          </a:prstGeom>
          <a:ln w="38100">
            <a:solidFill>
              <a:schemeClr val="tx2">
                <a:lumMod val="90000"/>
                <a:lumOff val="10000"/>
              </a:schemeClr>
            </a:solidFill>
            <a:tailEnd type="triangle"/>
          </a:ln>
        </p:spPr>
        <p:style>
          <a:lnRef idx="2">
            <a:schemeClr val="dk1"/>
          </a:lnRef>
          <a:fillRef idx="0">
            <a:schemeClr val="dk1"/>
          </a:fillRef>
          <a:effectRef idx="1">
            <a:schemeClr val="dk1"/>
          </a:effectRef>
          <a:fontRef idx="minor">
            <a:schemeClr val="tx1"/>
          </a:fontRef>
        </p:style>
      </p:cxnSp>
      <p:sp>
        <p:nvSpPr>
          <p:cNvPr id="3" name="Rectangle 2">
            <a:extLst>
              <a:ext uri="{FF2B5EF4-FFF2-40B4-BE49-F238E27FC236}">
                <a16:creationId xmlns:a16="http://schemas.microsoft.com/office/drawing/2014/main" id="{6169EFC1-8E91-39A2-E93F-65F706B2DAB7}"/>
              </a:ext>
            </a:extLst>
          </p:cNvPr>
          <p:cNvSpPr/>
          <p:nvPr/>
        </p:nvSpPr>
        <p:spPr>
          <a:xfrm>
            <a:off x="256032" y="2194562"/>
            <a:ext cx="11713464" cy="3282693"/>
          </a:xfrm>
          <a:prstGeom prst="rect">
            <a:avLst/>
          </a:prstGeom>
          <a:noFill/>
          <a:ln w="28575">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732552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AC822-F92A-33E3-906A-EE39324B1643}"/>
              </a:ext>
            </a:extLst>
          </p:cNvPr>
          <p:cNvSpPr>
            <a:spLocks noGrp="1"/>
          </p:cNvSpPr>
          <p:nvPr>
            <p:ph type="title"/>
          </p:nvPr>
        </p:nvSpPr>
        <p:spPr>
          <a:xfrm>
            <a:off x="838200" y="365126"/>
            <a:ext cx="10515600" cy="875846"/>
          </a:xfrm>
        </p:spPr>
        <p:txBody>
          <a:bodyPr/>
          <a:lstStyle/>
          <a:p>
            <a:pPr algn="ctr"/>
            <a:r>
              <a:rPr lang="en-GB"/>
              <a:t>Complete Pipeline Integration and Validation</a:t>
            </a:r>
            <a:endParaRPr lang="en-NZ"/>
          </a:p>
        </p:txBody>
      </p:sp>
      <p:cxnSp>
        <p:nvCxnSpPr>
          <p:cNvPr id="4" name="Straight Connector 3">
            <a:extLst>
              <a:ext uri="{FF2B5EF4-FFF2-40B4-BE49-F238E27FC236}">
                <a16:creationId xmlns:a16="http://schemas.microsoft.com/office/drawing/2014/main" id="{E8F227D1-4881-45A3-90ED-8816EA9BC695}"/>
              </a:ext>
            </a:extLst>
          </p:cNvPr>
          <p:cNvCxnSpPr>
            <a:cxnSpLocks/>
          </p:cNvCxnSpPr>
          <p:nvPr/>
        </p:nvCxnSpPr>
        <p:spPr>
          <a:xfrm>
            <a:off x="518160" y="1240972"/>
            <a:ext cx="1115568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98400003-1166-813E-08C7-4C59CEA94CB2}"/>
              </a:ext>
            </a:extLst>
          </p:cNvPr>
          <p:cNvSpPr/>
          <p:nvPr/>
        </p:nvSpPr>
        <p:spPr>
          <a:xfrm>
            <a:off x="518160" y="1495481"/>
            <a:ext cx="3727268" cy="931568"/>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1. NOISE-Mode Calibration</a:t>
            </a:r>
          </a:p>
          <a:p>
            <a:pPr algn="ctr"/>
            <a:r>
              <a:rPr lang="en-GB" sz="1600">
                <a:solidFill>
                  <a:schemeClr val="tx1"/>
                </a:solidFill>
              </a:rPr>
              <a:t>Estimate and validate receiver offsets</a:t>
            </a:r>
            <a:endParaRPr lang="en-NZ" sz="1600">
              <a:solidFill>
                <a:schemeClr val="tx1"/>
              </a:solidFill>
            </a:endParaRPr>
          </a:p>
        </p:txBody>
      </p:sp>
      <p:sp>
        <p:nvSpPr>
          <p:cNvPr id="8" name="Rectangle: Rounded Corners 7">
            <a:extLst>
              <a:ext uri="{FF2B5EF4-FFF2-40B4-BE49-F238E27FC236}">
                <a16:creationId xmlns:a16="http://schemas.microsoft.com/office/drawing/2014/main" id="{4A562A0B-AFE0-4071-0832-92CF6521F58C}"/>
              </a:ext>
            </a:extLst>
          </p:cNvPr>
          <p:cNvSpPr/>
          <p:nvPr/>
        </p:nvSpPr>
        <p:spPr>
          <a:xfrm>
            <a:off x="518160" y="2784197"/>
            <a:ext cx="3727267" cy="93156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2. RF Path Switching</a:t>
            </a:r>
          </a:p>
          <a:p>
            <a:pPr algn="ctr"/>
            <a:r>
              <a:rPr lang="en-GB" sz="1600">
                <a:solidFill>
                  <a:schemeClr val="tx1"/>
                </a:solidFill>
              </a:rPr>
              <a:t>Disable NOISE TX, switch to ANTENNA</a:t>
            </a:r>
            <a:endParaRPr lang="en-NZ" sz="1600">
              <a:solidFill>
                <a:schemeClr val="tx1"/>
              </a:solidFill>
            </a:endParaRPr>
          </a:p>
        </p:txBody>
      </p:sp>
      <p:sp>
        <p:nvSpPr>
          <p:cNvPr id="10" name="Rectangle: Rounded Corners 9">
            <a:extLst>
              <a:ext uri="{FF2B5EF4-FFF2-40B4-BE49-F238E27FC236}">
                <a16:creationId xmlns:a16="http://schemas.microsoft.com/office/drawing/2014/main" id="{94B6382B-982F-AD2C-A265-D4707C652D19}"/>
              </a:ext>
            </a:extLst>
          </p:cNvPr>
          <p:cNvSpPr/>
          <p:nvPr/>
        </p:nvSpPr>
        <p:spPr>
          <a:xfrm>
            <a:off x="518158" y="4172752"/>
            <a:ext cx="3727267" cy="931566"/>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3. Continuous IQ Correction</a:t>
            </a:r>
          </a:p>
          <a:p>
            <a:pPr algn="ctr"/>
            <a:r>
              <a:rPr lang="en-GB" sz="1600">
                <a:solidFill>
                  <a:schemeClr val="tx1"/>
                </a:solidFill>
              </a:rPr>
              <a:t>Apply saved calibration</a:t>
            </a:r>
            <a:endParaRPr lang="en-NZ" sz="1600">
              <a:solidFill>
                <a:schemeClr val="tx1"/>
              </a:solidFill>
            </a:endParaRPr>
          </a:p>
        </p:txBody>
      </p:sp>
      <p:sp>
        <p:nvSpPr>
          <p:cNvPr id="12" name="Rectangle: Rounded Corners 11">
            <a:extLst>
              <a:ext uri="{FF2B5EF4-FFF2-40B4-BE49-F238E27FC236}">
                <a16:creationId xmlns:a16="http://schemas.microsoft.com/office/drawing/2014/main" id="{90C5B6AD-90BF-CCF8-EB80-CEA36FD29377}"/>
              </a:ext>
            </a:extLst>
          </p:cNvPr>
          <p:cNvSpPr/>
          <p:nvPr/>
        </p:nvSpPr>
        <p:spPr>
          <a:xfrm>
            <a:off x="518158" y="5561308"/>
            <a:ext cx="3727267" cy="931566"/>
          </a:xfrm>
          <a:prstGeom prst="roundRect">
            <a:avLst/>
          </a:prstGeom>
          <a:solidFill>
            <a:schemeClr val="accent6">
              <a:lumMod val="40000"/>
              <a:lumOff val="6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chemeClr val="tx1"/>
                </a:solidFill>
              </a:rPr>
              <a:t>4. </a:t>
            </a:r>
            <a:r>
              <a:rPr lang="en-GB" sz="2000" b="1" err="1">
                <a:solidFill>
                  <a:schemeClr val="tx1"/>
                </a:solidFill>
              </a:rPr>
              <a:t>AoA</a:t>
            </a:r>
            <a:r>
              <a:rPr lang="en-GB" sz="2000" b="1">
                <a:solidFill>
                  <a:schemeClr val="tx1"/>
                </a:solidFill>
              </a:rPr>
              <a:t> Estimation</a:t>
            </a:r>
          </a:p>
          <a:p>
            <a:pPr algn="ctr"/>
            <a:r>
              <a:rPr lang="en-GB" sz="1600">
                <a:solidFill>
                  <a:schemeClr val="tx1"/>
                </a:solidFill>
              </a:rPr>
              <a:t>Calculate phase difference/angle per window</a:t>
            </a:r>
            <a:endParaRPr lang="en-NZ" sz="1600">
              <a:solidFill>
                <a:schemeClr val="tx1"/>
              </a:solidFill>
            </a:endParaRPr>
          </a:p>
        </p:txBody>
      </p:sp>
      <p:pic>
        <p:nvPicPr>
          <p:cNvPr id="13" name="Picture 12">
            <a:extLst>
              <a:ext uri="{FF2B5EF4-FFF2-40B4-BE49-F238E27FC236}">
                <a16:creationId xmlns:a16="http://schemas.microsoft.com/office/drawing/2014/main" id="{00D1A000-66CC-22F7-D821-23D446C78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1500" y="1321841"/>
            <a:ext cx="6931712" cy="3578372"/>
          </a:xfrm>
          <a:prstGeom prst="rect">
            <a:avLst/>
          </a:prstGeom>
        </p:spPr>
      </p:pic>
      <p:sp>
        <p:nvSpPr>
          <p:cNvPr id="14" name="Rectangle: Rounded Corners 13">
            <a:extLst>
              <a:ext uri="{FF2B5EF4-FFF2-40B4-BE49-F238E27FC236}">
                <a16:creationId xmlns:a16="http://schemas.microsoft.com/office/drawing/2014/main" id="{99AC7A22-233E-9C4D-C16D-409C86819ADF}"/>
              </a:ext>
            </a:extLst>
          </p:cNvPr>
          <p:cNvSpPr/>
          <p:nvPr/>
        </p:nvSpPr>
        <p:spPr>
          <a:xfrm>
            <a:off x="4580086" y="5244773"/>
            <a:ext cx="1667225" cy="931565"/>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6" name="Rectangle: Rounded Corners 15">
            <a:extLst>
              <a:ext uri="{FF2B5EF4-FFF2-40B4-BE49-F238E27FC236}">
                <a16:creationId xmlns:a16="http://schemas.microsoft.com/office/drawing/2014/main" id="{E4BA1CC4-FD39-D83C-30EF-ABC8C2D512F2}"/>
              </a:ext>
            </a:extLst>
          </p:cNvPr>
          <p:cNvSpPr/>
          <p:nvPr/>
        </p:nvSpPr>
        <p:spPr>
          <a:xfrm>
            <a:off x="6490841" y="5244776"/>
            <a:ext cx="1667225" cy="931565"/>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8" name="Rectangle: Rounded Corners 17">
            <a:extLst>
              <a:ext uri="{FF2B5EF4-FFF2-40B4-BE49-F238E27FC236}">
                <a16:creationId xmlns:a16="http://schemas.microsoft.com/office/drawing/2014/main" id="{7D524DF4-455B-AC1F-C26B-DD42B5A37708}"/>
              </a:ext>
            </a:extLst>
          </p:cNvPr>
          <p:cNvSpPr/>
          <p:nvPr/>
        </p:nvSpPr>
        <p:spPr>
          <a:xfrm>
            <a:off x="8379357" y="5244774"/>
            <a:ext cx="1667225" cy="931565"/>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0" name="Rectangle: Rounded Corners 19">
            <a:extLst>
              <a:ext uri="{FF2B5EF4-FFF2-40B4-BE49-F238E27FC236}">
                <a16:creationId xmlns:a16="http://schemas.microsoft.com/office/drawing/2014/main" id="{F1FA5DAD-3743-D21B-8C77-4EA3F670D0BA}"/>
              </a:ext>
            </a:extLst>
          </p:cNvPr>
          <p:cNvSpPr/>
          <p:nvPr/>
        </p:nvSpPr>
        <p:spPr>
          <a:xfrm>
            <a:off x="10267873" y="5244773"/>
            <a:ext cx="1667225" cy="931563"/>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3" name="TextBox 22">
            <a:extLst>
              <a:ext uri="{FF2B5EF4-FFF2-40B4-BE49-F238E27FC236}">
                <a16:creationId xmlns:a16="http://schemas.microsoft.com/office/drawing/2014/main" id="{2A3EA742-52CB-79AE-11B5-A6A54B032F60}"/>
              </a:ext>
            </a:extLst>
          </p:cNvPr>
          <p:cNvSpPr txBox="1"/>
          <p:nvPr/>
        </p:nvSpPr>
        <p:spPr>
          <a:xfrm>
            <a:off x="4922365" y="5305322"/>
            <a:ext cx="1117802" cy="461665"/>
          </a:xfrm>
          <a:prstGeom prst="rect">
            <a:avLst/>
          </a:prstGeom>
          <a:noFill/>
        </p:spPr>
        <p:txBody>
          <a:bodyPr wrap="square" rtlCol="0">
            <a:spAutoFit/>
          </a:bodyPr>
          <a:lstStyle/>
          <a:p>
            <a:r>
              <a:rPr lang="en-GB" sz="2400" b="1"/>
              <a:t>18,000</a:t>
            </a:r>
            <a:endParaRPr lang="en-NZ" b="1"/>
          </a:p>
        </p:txBody>
      </p:sp>
      <p:sp>
        <p:nvSpPr>
          <p:cNvPr id="25" name="TextBox 24">
            <a:extLst>
              <a:ext uri="{FF2B5EF4-FFF2-40B4-BE49-F238E27FC236}">
                <a16:creationId xmlns:a16="http://schemas.microsoft.com/office/drawing/2014/main" id="{1B6ED914-6B2F-EF3E-08A3-D30B5AACDEA2}"/>
              </a:ext>
            </a:extLst>
          </p:cNvPr>
          <p:cNvSpPr txBox="1"/>
          <p:nvPr/>
        </p:nvSpPr>
        <p:spPr>
          <a:xfrm>
            <a:off x="6787788" y="5285198"/>
            <a:ext cx="1117802" cy="461665"/>
          </a:xfrm>
          <a:prstGeom prst="rect">
            <a:avLst/>
          </a:prstGeom>
          <a:noFill/>
        </p:spPr>
        <p:txBody>
          <a:bodyPr wrap="square" rtlCol="0">
            <a:spAutoFit/>
          </a:bodyPr>
          <a:lstStyle/>
          <a:p>
            <a:r>
              <a:rPr lang="en-GB" sz="2400" b="1"/>
              <a:t>0.9740</a:t>
            </a:r>
            <a:endParaRPr lang="en-NZ" b="1"/>
          </a:p>
        </p:txBody>
      </p:sp>
      <p:sp>
        <p:nvSpPr>
          <p:cNvPr id="27" name="TextBox 26">
            <a:extLst>
              <a:ext uri="{FF2B5EF4-FFF2-40B4-BE49-F238E27FC236}">
                <a16:creationId xmlns:a16="http://schemas.microsoft.com/office/drawing/2014/main" id="{7C755E4E-358A-D855-C5CA-4BF922000DE6}"/>
              </a:ext>
            </a:extLst>
          </p:cNvPr>
          <p:cNvSpPr txBox="1"/>
          <p:nvPr/>
        </p:nvSpPr>
        <p:spPr>
          <a:xfrm>
            <a:off x="8644422" y="5285197"/>
            <a:ext cx="1270516" cy="461665"/>
          </a:xfrm>
          <a:prstGeom prst="rect">
            <a:avLst/>
          </a:prstGeom>
          <a:noFill/>
        </p:spPr>
        <p:txBody>
          <a:bodyPr wrap="square" rtlCol="0">
            <a:spAutoFit/>
          </a:bodyPr>
          <a:lstStyle/>
          <a:p>
            <a:r>
              <a:rPr lang="en-GB" sz="2400" b="1"/>
              <a:t>0.6775°</a:t>
            </a:r>
            <a:endParaRPr lang="en-NZ" b="1"/>
          </a:p>
        </p:txBody>
      </p:sp>
      <p:sp>
        <p:nvSpPr>
          <p:cNvPr id="29" name="TextBox 28">
            <a:extLst>
              <a:ext uri="{FF2B5EF4-FFF2-40B4-BE49-F238E27FC236}">
                <a16:creationId xmlns:a16="http://schemas.microsoft.com/office/drawing/2014/main" id="{1B27AAA6-91CD-A02A-3B06-610627E0E682}"/>
              </a:ext>
            </a:extLst>
          </p:cNvPr>
          <p:cNvSpPr txBox="1"/>
          <p:nvPr/>
        </p:nvSpPr>
        <p:spPr>
          <a:xfrm>
            <a:off x="10497444" y="5285198"/>
            <a:ext cx="1324011" cy="461665"/>
          </a:xfrm>
          <a:prstGeom prst="rect">
            <a:avLst/>
          </a:prstGeom>
          <a:noFill/>
        </p:spPr>
        <p:txBody>
          <a:bodyPr wrap="square" rtlCol="0">
            <a:spAutoFit/>
          </a:bodyPr>
          <a:lstStyle/>
          <a:p>
            <a:r>
              <a:rPr lang="en-GB" sz="2400" b="1"/>
              <a:t>0.0381°</a:t>
            </a:r>
            <a:endParaRPr lang="en-NZ" b="1"/>
          </a:p>
        </p:txBody>
      </p:sp>
      <p:sp>
        <p:nvSpPr>
          <p:cNvPr id="30" name="TextBox 29">
            <a:extLst>
              <a:ext uri="{FF2B5EF4-FFF2-40B4-BE49-F238E27FC236}">
                <a16:creationId xmlns:a16="http://schemas.microsoft.com/office/drawing/2014/main" id="{503484F6-A4E8-2855-01B3-6E713A875B0A}"/>
              </a:ext>
            </a:extLst>
          </p:cNvPr>
          <p:cNvSpPr txBox="1"/>
          <p:nvPr/>
        </p:nvSpPr>
        <p:spPr>
          <a:xfrm>
            <a:off x="4734512" y="5710551"/>
            <a:ext cx="1512799" cy="338554"/>
          </a:xfrm>
          <a:prstGeom prst="rect">
            <a:avLst/>
          </a:prstGeom>
          <a:noFill/>
        </p:spPr>
        <p:txBody>
          <a:bodyPr wrap="square" rtlCol="0">
            <a:spAutoFit/>
          </a:bodyPr>
          <a:lstStyle/>
          <a:p>
            <a:r>
              <a:rPr lang="en-GB" sz="1600"/>
              <a:t>Valid Windows</a:t>
            </a:r>
            <a:endParaRPr lang="en-NZ" sz="1600"/>
          </a:p>
        </p:txBody>
      </p:sp>
      <p:sp>
        <p:nvSpPr>
          <p:cNvPr id="32" name="TextBox 31">
            <a:extLst>
              <a:ext uri="{FF2B5EF4-FFF2-40B4-BE49-F238E27FC236}">
                <a16:creationId xmlns:a16="http://schemas.microsoft.com/office/drawing/2014/main" id="{F9A494FB-C2EE-3258-BEC5-8EC5C73F0A60}"/>
              </a:ext>
            </a:extLst>
          </p:cNvPr>
          <p:cNvSpPr txBox="1"/>
          <p:nvPr/>
        </p:nvSpPr>
        <p:spPr>
          <a:xfrm>
            <a:off x="6468602" y="5688537"/>
            <a:ext cx="1756175" cy="338554"/>
          </a:xfrm>
          <a:prstGeom prst="rect">
            <a:avLst/>
          </a:prstGeom>
          <a:noFill/>
        </p:spPr>
        <p:txBody>
          <a:bodyPr wrap="square" rtlCol="0">
            <a:spAutoFit/>
          </a:bodyPr>
          <a:lstStyle/>
          <a:p>
            <a:r>
              <a:rPr lang="en-GB" sz="1600"/>
              <a:t>Mean Correlation</a:t>
            </a:r>
            <a:endParaRPr lang="en-NZ" sz="1600"/>
          </a:p>
        </p:txBody>
      </p:sp>
      <p:sp>
        <p:nvSpPr>
          <p:cNvPr id="34" name="TextBox 33">
            <a:extLst>
              <a:ext uri="{FF2B5EF4-FFF2-40B4-BE49-F238E27FC236}">
                <a16:creationId xmlns:a16="http://schemas.microsoft.com/office/drawing/2014/main" id="{6B32818E-E6DE-DB91-66D4-5DCE104AD65C}"/>
              </a:ext>
            </a:extLst>
          </p:cNvPr>
          <p:cNvSpPr txBox="1"/>
          <p:nvPr/>
        </p:nvSpPr>
        <p:spPr>
          <a:xfrm>
            <a:off x="8644422" y="5688537"/>
            <a:ext cx="1270517" cy="338554"/>
          </a:xfrm>
          <a:prstGeom prst="rect">
            <a:avLst/>
          </a:prstGeom>
          <a:noFill/>
        </p:spPr>
        <p:txBody>
          <a:bodyPr wrap="square" rtlCol="0">
            <a:spAutoFit/>
          </a:bodyPr>
          <a:lstStyle/>
          <a:p>
            <a:r>
              <a:rPr lang="en-GB" sz="1600"/>
              <a:t>Mean </a:t>
            </a:r>
            <a:r>
              <a:rPr lang="en-GB" sz="1600" err="1"/>
              <a:t>AoA</a:t>
            </a:r>
            <a:r>
              <a:rPr lang="en-GB" sz="1600"/>
              <a:t>*</a:t>
            </a:r>
            <a:endParaRPr lang="en-NZ" sz="1600"/>
          </a:p>
        </p:txBody>
      </p:sp>
      <p:sp>
        <p:nvSpPr>
          <p:cNvPr id="36" name="TextBox 35">
            <a:extLst>
              <a:ext uri="{FF2B5EF4-FFF2-40B4-BE49-F238E27FC236}">
                <a16:creationId xmlns:a16="http://schemas.microsoft.com/office/drawing/2014/main" id="{3B9E6BE4-A055-36E4-6B3D-31DC83346248}"/>
              </a:ext>
            </a:extLst>
          </p:cNvPr>
          <p:cNvSpPr txBox="1"/>
          <p:nvPr/>
        </p:nvSpPr>
        <p:spPr>
          <a:xfrm>
            <a:off x="10219665" y="5688537"/>
            <a:ext cx="1879571" cy="338554"/>
          </a:xfrm>
          <a:prstGeom prst="rect">
            <a:avLst/>
          </a:prstGeom>
          <a:noFill/>
        </p:spPr>
        <p:txBody>
          <a:bodyPr wrap="square" rtlCol="0">
            <a:spAutoFit/>
          </a:bodyPr>
          <a:lstStyle/>
          <a:p>
            <a:r>
              <a:rPr lang="en-GB" sz="1600" err="1"/>
              <a:t>AoA</a:t>
            </a:r>
            <a:r>
              <a:rPr lang="en-GB" sz="1600"/>
              <a:t> Standard Dev</a:t>
            </a:r>
            <a:endParaRPr lang="en-NZ" sz="1600"/>
          </a:p>
        </p:txBody>
      </p:sp>
      <p:cxnSp>
        <p:nvCxnSpPr>
          <p:cNvPr id="5" name="Straight Arrow Connector 4">
            <a:extLst>
              <a:ext uri="{FF2B5EF4-FFF2-40B4-BE49-F238E27FC236}">
                <a16:creationId xmlns:a16="http://schemas.microsoft.com/office/drawing/2014/main" id="{078D4E15-A346-88F4-68E5-5396F6FA93BF}"/>
              </a:ext>
            </a:extLst>
          </p:cNvPr>
          <p:cNvCxnSpPr>
            <a:stCxn id="6" idx="2"/>
            <a:endCxn id="8" idx="0"/>
          </p:cNvCxnSpPr>
          <p:nvPr/>
        </p:nvCxnSpPr>
        <p:spPr>
          <a:xfrm>
            <a:off x="2381794" y="2427049"/>
            <a:ext cx="0" cy="3571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D61E510-752B-50A5-8F66-506502D5957A}"/>
              </a:ext>
            </a:extLst>
          </p:cNvPr>
          <p:cNvCxnSpPr>
            <a:stCxn id="8" idx="2"/>
            <a:endCxn id="10" idx="0"/>
          </p:cNvCxnSpPr>
          <p:nvPr/>
        </p:nvCxnSpPr>
        <p:spPr>
          <a:xfrm flipH="1">
            <a:off x="2381792" y="3715763"/>
            <a:ext cx="2" cy="4569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C157A82-744F-819B-4FB6-BB90B2D5EBA5}"/>
              </a:ext>
            </a:extLst>
          </p:cNvPr>
          <p:cNvCxnSpPr>
            <a:stCxn id="10" idx="2"/>
            <a:endCxn id="12" idx="0"/>
          </p:cNvCxnSpPr>
          <p:nvPr/>
        </p:nvCxnSpPr>
        <p:spPr>
          <a:xfrm>
            <a:off x="2381792" y="5104318"/>
            <a:ext cx="0" cy="4569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684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7F7E1-BB06-F80A-E5F0-2B28523C4EA4}"/>
              </a:ext>
            </a:extLst>
          </p:cNvPr>
          <p:cNvSpPr>
            <a:spLocks noGrp="1"/>
          </p:cNvSpPr>
          <p:nvPr>
            <p:ph type="title"/>
          </p:nvPr>
        </p:nvSpPr>
        <p:spPr>
          <a:xfrm>
            <a:off x="518160" y="365125"/>
            <a:ext cx="11155680" cy="819863"/>
          </a:xfrm>
        </p:spPr>
        <p:txBody>
          <a:bodyPr/>
          <a:lstStyle/>
          <a:p>
            <a:pPr algn="ctr"/>
            <a:r>
              <a:rPr lang="en-GB"/>
              <a:t>Conclusion and Project Outcomes</a:t>
            </a:r>
            <a:endParaRPr lang="en-NZ"/>
          </a:p>
        </p:txBody>
      </p:sp>
      <p:cxnSp>
        <p:nvCxnSpPr>
          <p:cNvPr id="4" name="Straight Connector 3">
            <a:extLst>
              <a:ext uri="{FF2B5EF4-FFF2-40B4-BE49-F238E27FC236}">
                <a16:creationId xmlns:a16="http://schemas.microsoft.com/office/drawing/2014/main" id="{10FE7EB8-1368-3E29-EBFE-93FCB6093DE5}"/>
              </a:ext>
            </a:extLst>
          </p:cNvPr>
          <p:cNvCxnSpPr>
            <a:cxnSpLocks/>
          </p:cNvCxnSpPr>
          <p:nvPr/>
        </p:nvCxnSpPr>
        <p:spPr>
          <a:xfrm>
            <a:off x="518160" y="1287438"/>
            <a:ext cx="1115568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D3B51E0-CADB-59FC-31BE-45B72E45FFA9}"/>
              </a:ext>
            </a:extLst>
          </p:cNvPr>
          <p:cNvSpPr txBox="1"/>
          <p:nvPr/>
        </p:nvSpPr>
        <p:spPr>
          <a:xfrm>
            <a:off x="711842" y="1516326"/>
            <a:ext cx="2957804" cy="369332"/>
          </a:xfrm>
          <a:prstGeom prst="rect">
            <a:avLst/>
          </a:prstGeom>
          <a:noFill/>
        </p:spPr>
        <p:txBody>
          <a:bodyPr wrap="square" rtlCol="0">
            <a:spAutoFit/>
          </a:bodyPr>
          <a:lstStyle/>
          <a:p>
            <a:r>
              <a:rPr lang="en-GB" b="1"/>
              <a:t>1. Calibration</a:t>
            </a:r>
            <a:endParaRPr lang="en-NZ" b="1"/>
          </a:p>
        </p:txBody>
      </p:sp>
      <p:sp>
        <p:nvSpPr>
          <p:cNvPr id="7" name="TextBox 6">
            <a:extLst>
              <a:ext uri="{FF2B5EF4-FFF2-40B4-BE49-F238E27FC236}">
                <a16:creationId xmlns:a16="http://schemas.microsoft.com/office/drawing/2014/main" id="{D5A1A030-7822-7A57-1C68-9A7D3A751509}"/>
              </a:ext>
            </a:extLst>
          </p:cNvPr>
          <p:cNvSpPr txBox="1"/>
          <p:nvPr/>
        </p:nvSpPr>
        <p:spPr>
          <a:xfrm>
            <a:off x="711842" y="2499539"/>
            <a:ext cx="2957804" cy="369332"/>
          </a:xfrm>
          <a:prstGeom prst="rect">
            <a:avLst/>
          </a:prstGeom>
          <a:noFill/>
        </p:spPr>
        <p:txBody>
          <a:bodyPr wrap="square" rtlCol="0">
            <a:spAutoFit/>
          </a:bodyPr>
          <a:lstStyle/>
          <a:p>
            <a:r>
              <a:rPr lang="en-GB" b="1"/>
              <a:t>2. Synchronisation</a:t>
            </a:r>
            <a:endParaRPr lang="en-NZ" b="1"/>
          </a:p>
        </p:txBody>
      </p:sp>
      <p:sp>
        <p:nvSpPr>
          <p:cNvPr id="9" name="TextBox 8">
            <a:extLst>
              <a:ext uri="{FF2B5EF4-FFF2-40B4-BE49-F238E27FC236}">
                <a16:creationId xmlns:a16="http://schemas.microsoft.com/office/drawing/2014/main" id="{3BCBDEFA-CF96-DBED-9C3C-F83041A86005}"/>
              </a:ext>
            </a:extLst>
          </p:cNvPr>
          <p:cNvSpPr txBox="1"/>
          <p:nvPr/>
        </p:nvSpPr>
        <p:spPr>
          <a:xfrm>
            <a:off x="711842" y="3487242"/>
            <a:ext cx="2957804" cy="369332"/>
          </a:xfrm>
          <a:prstGeom prst="rect">
            <a:avLst/>
          </a:prstGeom>
          <a:noFill/>
        </p:spPr>
        <p:txBody>
          <a:bodyPr wrap="square" rtlCol="0">
            <a:spAutoFit/>
          </a:bodyPr>
          <a:lstStyle/>
          <a:p>
            <a:r>
              <a:rPr lang="en-GB" b="1"/>
              <a:t>3. RF Switching</a:t>
            </a:r>
            <a:endParaRPr lang="en-NZ" b="1"/>
          </a:p>
        </p:txBody>
      </p:sp>
      <p:sp>
        <p:nvSpPr>
          <p:cNvPr id="11" name="TextBox 10">
            <a:extLst>
              <a:ext uri="{FF2B5EF4-FFF2-40B4-BE49-F238E27FC236}">
                <a16:creationId xmlns:a16="http://schemas.microsoft.com/office/drawing/2014/main" id="{8D517516-205B-40C3-AC39-A86E2BAAAED5}"/>
              </a:ext>
            </a:extLst>
          </p:cNvPr>
          <p:cNvSpPr txBox="1"/>
          <p:nvPr/>
        </p:nvSpPr>
        <p:spPr>
          <a:xfrm>
            <a:off x="711842" y="4468811"/>
            <a:ext cx="3237722" cy="369332"/>
          </a:xfrm>
          <a:prstGeom prst="rect">
            <a:avLst/>
          </a:prstGeom>
          <a:noFill/>
        </p:spPr>
        <p:txBody>
          <a:bodyPr wrap="square" rtlCol="0">
            <a:spAutoFit/>
          </a:bodyPr>
          <a:lstStyle/>
          <a:p>
            <a:r>
              <a:rPr lang="en-GB" b="1"/>
              <a:t>4. Angle of Arrival Estimation</a:t>
            </a:r>
            <a:endParaRPr lang="en-NZ" b="1"/>
          </a:p>
        </p:txBody>
      </p:sp>
      <p:sp>
        <p:nvSpPr>
          <p:cNvPr id="12" name="TextBox 11">
            <a:extLst>
              <a:ext uri="{FF2B5EF4-FFF2-40B4-BE49-F238E27FC236}">
                <a16:creationId xmlns:a16="http://schemas.microsoft.com/office/drawing/2014/main" id="{72FD324F-7181-74BA-778F-A03BA8F01DDE}"/>
              </a:ext>
            </a:extLst>
          </p:cNvPr>
          <p:cNvSpPr txBox="1"/>
          <p:nvPr/>
        </p:nvSpPr>
        <p:spPr>
          <a:xfrm>
            <a:off x="945107" y="1876655"/>
            <a:ext cx="6923314" cy="369332"/>
          </a:xfrm>
          <a:prstGeom prst="rect">
            <a:avLst/>
          </a:prstGeom>
          <a:noFill/>
        </p:spPr>
        <p:txBody>
          <a:bodyPr wrap="square" rtlCol="0">
            <a:spAutoFit/>
          </a:bodyPr>
          <a:lstStyle/>
          <a:p>
            <a:r>
              <a:rPr lang="en-GB"/>
              <a:t>Developed and validated timing, amplitude and phase correction.</a:t>
            </a:r>
            <a:endParaRPr lang="en-NZ"/>
          </a:p>
        </p:txBody>
      </p:sp>
      <p:sp>
        <p:nvSpPr>
          <p:cNvPr id="14" name="TextBox 13">
            <a:extLst>
              <a:ext uri="{FF2B5EF4-FFF2-40B4-BE49-F238E27FC236}">
                <a16:creationId xmlns:a16="http://schemas.microsoft.com/office/drawing/2014/main" id="{8EADC5B3-4826-1634-FFDB-05250747D394}"/>
              </a:ext>
            </a:extLst>
          </p:cNvPr>
          <p:cNvSpPr txBox="1"/>
          <p:nvPr/>
        </p:nvSpPr>
        <p:spPr>
          <a:xfrm>
            <a:off x="945107" y="2852056"/>
            <a:ext cx="6923314" cy="369332"/>
          </a:xfrm>
          <a:prstGeom prst="rect">
            <a:avLst/>
          </a:prstGeom>
          <a:noFill/>
        </p:spPr>
        <p:txBody>
          <a:bodyPr wrap="square" rtlCol="0">
            <a:spAutoFit/>
          </a:bodyPr>
          <a:lstStyle/>
          <a:p>
            <a:r>
              <a:rPr lang="en-GB"/>
              <a:t>Achieved continuous, calibrated data reception.</a:t>
            </a:r>
            <a:endParaRPr lang="en-NZ"/>
          </a:p>
        </p:txBody>
      </p:sp>
      <p:sp>
        <p:nvSpPr>
          <p:cNvPr id="16" name="TextBox 15">
            <a:extLst>
              <a:ext uri="{FF2B5EF4-FFF2-40B4-BE49-F238E27FC236}">
                <a16:creationId xmlns:a16="http://schemas.microsoft.com/office/drawing/2014/main" id="{3F5404D0-A7A5-7E60-D958-94E6B42047B3}"/>
              </a:ext>
            </a:extLst>
          </p:cNvPr>
          <p:cNvSpPr txBox="1"/>
          <p:nvPr/>
        </p:nvSpPr>
        <p:spPr>
          <a:xfrm>
            <a:off x="945107" y="3829392"/>
            <a:ext cx="7132942" cy="369332"/>
          </a:xfrm>
          <a:prstGeom prst="rect">
            <a:avLst/>
          </a:prstGeom>
          <a:noFill/>
        </p:spPr>
        <p:txBody>
          <a:bodyPr wrap="square" rtlCol="0">
            <a:spAutoFit/>
          </a:bodyPr>
          <a:lstStyle/>
          <a:p>
            <a:r>
              <a:rPr lang="en-NZ"/>
              <a:t>Integrated and validated RF switching between NOISE and ANTENNA.</a:t>
            </a:r>
          </a:p>
        </p:txBody>
      </p:sp>
      <p:sp>
        <p:nvSpPr>
          <p:cNvPr id="18" name="TextBox 17">
            <a:extLst>
              <a:ext uri="{FF2B5EF4-FFF2-40B4-BE49-F238E27FC236}">
                <a16:creationId xmlns:a16="http://schemas.microsoft.com/office/drawing/2014/main" id="{8A333DF1-CED1-2970-BF3A-E29E6970C991}"/>
              </a:ext>
            </a:extLst>
          </p:cNvPr>
          <p:cNvSpPr txBox="1"/>
          <p:nvPr/>
        </p:nvSpPr>
        <p:spPr>
          <a:xfrm>
            <a:off x="945107" y="4847316"/>
            <a:ext cx="7132942" cy="369332"/>
          </a:xfrm>
          <a:prstGeom prst="rect">
            <a:avLst/>
          </a:prstGeom>
          <a:noFill/>
        </p:spPr>
        <p:txBody>
          <a:bodyPr wrap="square" rtlCol="0">
            <a:spAutoFit/>
          </a:bodyPr>
          <a:lstStyle/>
          <a:p>
            <a:r>
              <a:rPr lang="en-NZ"/>
              <a:t>Validated in </a:t>
            </a:r>
            <a:r>
              <a:rPr lang="en-NZ" b="1"/>
              <a:t>simulation</a:t>
            </a:r>
            <a:r>
              <a:rPr lang="en-NZ"/>
              <a:t>, demonstrated complete pipeline.</a:t>
            </a:r>
          </a:p>
        </p:txBody>
      </p:sp>
      <p:sp>
        <p:nvSpPr>
          <p:cNvPr id="19" name="Rectangle: Rounded Corners 18">
            <a:extLst>
              <a:ext uri="{FF2B5EF4-FFF2-40B4-BE49-F238E27FC236}">
                <a16:creationId xmlns:a16="http://schemas.microsoft.com/office/drawing/2014/main" id="{04DF038F-427D-2059-570D-4BE1EBC36E1D}"/>
              </a:ext>
            </a:extLst>
          </p:cNvPr>
          <p:cNvSpPr/>
          <p:nvPr/>
        </p:nvSpPr>
        <p:spPr>
          <a:xfrm>
            <a:off x="518160" y="1462388"/>
            <a:ext cx="11155680" cy="88232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3" name="Rectangle: Rounded Corners 22">
            <a:extLst>
              <a:ext uri="{FF2B5EF4-FFF2-40B4-BE49-F238E27FC236}">
                <a16:creationId xmlns:a16="http://schemas.microsoft.com/office/drawing/2014/main" id="{19515E73-F5B3-82A1-E58E-33E25884612F}"/>
              </a:ext>
            </a:extLst>
          </p:cNvPr>
          <p:cNvSpPr/>
          <p:nvPr/>
        </p:nvSpPr>
        <p:spPr>
          <a:xfrm>
            <a:off x="518160" y="2451846"/>
            <a:ext cx="11155680" cy="88232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5" name="Rectangle: Rounded Corners 24">
            <a:extLst>
              <a:ext uri="{FF2B5EF4-FFF2-40B4-BE49-F238E27FC236}">
                <a16:creationId xmlns:a16="http://schemas.microsoft.com/office/drawing/2014/main" id="{57CA56D2-EC5F-6B64-362A-6E1FC84DAD9F}"/>
              </a:ext>
            </a:extLst>
          </p:cNvPr>
          <p:cNvSpPr/>
          <p:nvPr/>
        </p:nvSpPr>
        <p:spPr>
          <a:xfrm>
            <a:off x="518160" y="3429000"/>
            <a:ext cx="11155680" cy="88232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v</a:t>
            </a:r>
            <a:endParaRPr lang="en-NZ"/>
          </a:p>
        </p:txBody>
      </p:sp>
      <p:sp>
        <p:nvSpPr>
          <p:cNvPr id="27" name="Rectangle: Rounded Corners 26">
            <a:extLst>
              <a:ext uri="{FF2B5EF4-FFF2-40B4-BE49-F238E27FC236}">
                <a16:creationId xmlns:a16="http://schemas.microsoft.com/office/drawing/2014/main" id="{A54FE755-DA5A-00F8-E5B2-C85546CE2FAD}"/>
              </a:ext>
            </a:extLst>
          </p:cNvPr>
          <p:cNvSpPr/>
          <p:nvPr/>
        </p:nvSpPr>
        <p:spPr>
          <a:xfrm>
            <a:off x="518160" y="4406154"/>
            <a:ext cx="11155680" cy="882327"/>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9" name="TextBox 28">
            <a:extLst>
              <a:ext uri="{FF2B5EF4-FFF2-40B4-BE49-F238E27FC236}">
                <a16:creationId xmlns:a16="http://schemas.microsoft.com/office/drawing/2014/main" id="{99164160-5A1F-6B1D-22B3-C58834CFC0EB}"/>
              </a:ext>
            </a:extLst>
          </p:cNvPr>
          <p:cNvSpPr txBox="1"/>
          <p:nvPr/>
        </p:nvSpPr>
        <p:spPr>
          <a:xfrm>
            <a:off x="518160" y="5395612"/>
            <a:ext cx="3237722" cy="369332"/>
          </a:xfrm>
          <a:prstGeom prst="rect">
            <a:avLst/>
          </a:prstGeom>
          <a:noFill/>
        </p:spPr>
        <p:txBody>
          <a:bodyPr wrap="square" rtlCol="0">
            <a:spAutoFit/>
          </a:bodyPr>
          <a:lstStyle/>
          <a:p>
            <a:r>
              <a:rPr lang="en-GB" b="1"/>
              <a:t>Remaining Work:</a:t>
            </a:r>
            <a:endParaRPr lang="en-NZ" b="1"/>
          </a:p>
        </p:txBody>
      </p:sp>
      <p:pic>
        <p:nvPicPr>
          <p:cNvPr id="31" name="Graphic 30" descr="Checkmark with solid fill">
            <a:extLst>
              <a:ext uri="{FF2B5EF4-FFF2-40B4-BE49-F238E27FC236}">
                <a16:creationId xmlns:a16="http://schemas.microsoft.com/office/drawing/2014/main" id="{EDADE4E1-031A-2200-23E6-9B8E7A8A53E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36722" y="1589385"/>
            <a:ext cx="543436" cy="543436"/>
          </a:xfrm>
          <a:prstGeom prst="rect">
            <a:avLst/>
          </a:prstGeom>
        </p:spPr>
      </p:pic>
      <p:pic>
        <p:nvPicPr>
          <p:cNvPr id="33" name="Graphic 32" descr="Checkmark with solid fill">
            <a:extLst>
              <a:ext uri="{FF2B5EF4-FFF2-40B4-BE49-F238E27FC236}">
                <a16:creationId xmlns:a16="http://schemas.microsoft.com/office/drawing/2014/main" id="{7837F42D-565A-2537-347F-4AEB3F2170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75175" y="2621291"/>
            <a:ext cx="543436" cy="543436"/>
          </a:xfrm>
          <a:prstGeom prst="rect">
            <a:avLst/>
          </a:prstGeom>
        </p:spPr>
      </p:pic>
      <p:pic>
        <p:nvPicPr>
          <p:cNvPr id="35" name="Graphic 34" descr="Checkmark with solid fill">
            <a:extLst>
              <a:ext uri="{FF2B5EF4-FFF2-40B4-BE49-F238E27FC236}">
                <a16:creationId xmlns:a16="http://schemas.microsoft.com/office/drawing/2014/main" id="{FF898A2F-7125-81F5-EA24-27C66DCAAF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75175" y="3637406"/>
            <a:ext cx="543436" cy="543436"/>
          </a:xfrm>
          <a:prstGeom prst="rect">
            <a:avLst/>
          </a:prstGeom>
        </p:spPr>
      </p:pic>
      <p:pic>
        <p:nvPicPr>
          <p:cNvPr id="37" name="Graphic 36" descr="Checkmark with solid fill">
            <a:extLst>
              <a:ext uri="{FF2B5EF4-FFF2-40B4-BE49-F238E27FC236}">
                <a16:creationId xmlns:a16="http://schemas.microsoft.com/office/drawing/2014/main" id="{3BD0424B-1BB1-1A63-4989-40AE6AFE38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36722" y="4653477"/>
            <a:ext cx="543436" cy="543436"/>
          </a:xfrm>
          <a:prstGeom prst="rect">
            <a:avLst/>
          </a:prstGeom>
        </p:spPr>
      </p:pic>
      <p:sp>
        <p:nvSpPr>
          <p:cNvPr id="39" name="TextBox 38">
            <a:extLst>
              <a:ext uri="{FF2B5EF4-FFF2-40B4-BE49-F238E27FC236}">
                <a16:creationId xmlns:a16="http://schemas.microsoft.com/office/drawing/2014/main" id="{3733D33F-13C7-5A0F-E6AD-396BE75A084B}"/>
              </a:ext>
            </a:extLst>
          </p:cNvPr>
          <p:cNvSpPr txBox="1"/>
          <p:nvPr/>
        </p:nvSpPr>
        <p:spPr>
          <a:xfrm>
            <a:off x="945107" y="5872075"/>
            <a:ext cx="11026069" cy="400110"/>
          </a:xfrm>
          <a:prstGeom prst="rect">
            <a:avLst/>
          </a:prstGeom>
          <a:noFill/>
        </p:spPr>
        <p:txBody>
          <a:bodyPr wrap="square" rtlCol="0">
            <a:spAutoFit/>
          </a:bodyPr>
          <a:lstStyle/>
          <a:p>
            <a:r>
              <a:rPr lang="en-NZ" sz="2000"/>
              <a:t>Identify and correct the unknown phase offset, validate </a:t>
            </a:r>
            <a:r>
              <a:rPr lang="en-NZ" sz="2000" err="1"/>
              <a:t>AoA</a:t>
            </a:r>
            <a:r>
              <a:rPr lang="en-NZ" sz="2000"/>
              <a:t> accuracy using physical hardware.</a:t>
            </a:r>
          </a:p>
        </p:txBody>
      </p:sp>
    </p:spTree>
    <p:extLst>
      <p:ext uri="{BB962C8B-B14F-4D97-AF65-F5344CB8AC3E}">
        <p14:creationId xmlns:p14="http://schemas.microsoft.com/office/powerpoint/2010/main" val="1727215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d00e16c-9a7d-45d5-b4d7-e56b1836778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9242F7B04E24F4794CD1ABA0B2E035E" ma:contentTypeVersion="14" ma:contentTypeDescription="Create a new document." ma:contentTypeScope="" ma:versionID="6a3f90fe19ff53a4195b88b90e655fcf">
  <xsd:schema xmlns:xsd="http://www.w3.org/2001/XMLSchema" xmlns:xs="http://www.w3.org/2001/XMLSchema" xmlns:p="http://schemas.microsoft.com/office/2006/metadata/properties" xmlns:ns3="4d00e16c-9a7d-45d5-b4d7-e56b1836778c" xmlns:ns4="3e623a9a-330e-405e-b289-54ef45efd138" targetNamespace="http://schemas.microsoft.com/office/2006/metadata/properties" ma:root="true" ma:fieldsID="00fd8c37ea1f14b210e5d1ebc01a4b3b" ns3:_="" ns4:_="">
    <xsd:import namespace="4d00e16c-9a7d-45d5-b4d7-e56b1836778c"/>
    <xsd:import namespace="3e623a9a-330e-405e-b289-54ef45efd138"/>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00e16c-9a7d-45d5-b4d7-e56b183677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e623a9a-330e-405e-b289-54ef45efd138"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A1DF83-C7C0-4FBB-876C-5E42030E066D}">
  <ds:schemaRefs>
    <ds:schemaRef ds:uri="4d00e16c-9a7d-45d5-b4d7-e56b1836778c"/>
    <ds:schemaRef ds:uri="http://schemas.microsoft.com/office/2006/documentManagement/types"/>
    <ds:schemaRef ds:uri="3e623a9a-330e-405e-b289-54ef45efd138"/>
    <ds:schemaRef ds:uri="http://schemas.openxmlformats.org/package/2006/metadata/core-properties"/>
    <ds:schemaRef ds:uri="http://purl.org/dc/elements/1.1/"/>
    <ds:schemaRef ds:uri="http://purl.org/dc/dcmitype/"/>
    <ds:schemaRef ds:uri="http://schemas.microsoft.com/office/infopath/2007/PartnerControl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FE5707FB-F7B1-44DB-B52E-F36F7CE05B1F}">
  <ds:schemaRefs>
    <ds:schemaRef ds:uri="http://schemas.microsoft.com/sharepoint/v3/contenttype/forms"/>
  </ds:schemaRefs>
</ds:datastoreItem>
</file>

<file path=customXml/itemProps3.xml><?xml version="1.0" encoding="utf-8"?>
<ds:datastoreItem xmlns:ds="http://schemas.openxmlformats.org/officeDocument/2006/customXml" ds:itemID="{9F071965-57B5-432B-9F72-0D8ACAA8D6DB}">
  <ds:schemaRefs>
    <ds:schemaRef ds:uri="3e623a9a-330e-405e-b289-54ef45efd138"/>
    <ds:schemaRef ds:uri="4d00e16c-9a7d-45d5-b4d7-e56b1836778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dc781727-710e-4855-bc4c-690266a1b551}" enabled="0" method="" siteId="{dc781727-710e-4855-bc4c-690266a1b551}" removed="1"/>
</clbl:labelList>
</file>

<file path=docProps/app.xml><?xml version="1.0" encoding="utf-8"?>
<Properties xmlns="http://schemas.openxmlformats.org/officeDocument/2006/extended-properties" xmlns:vt="http://schemas.openxmlformats.org/officeDocument/2006/docPropsVTypes">
  <TotalTime>0</TotalTime>
  <Words>1332</Words>
  <Application>Microsoft Macintosh PowerPoint</Application>
  <PresentationFormat>Widescreen</PresentationFormat>
  <Paragraphs>257</Paragraphs>
  <Slides>16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Cambria Math</vt:lpstr>
      <vt:lpstr>Courier New</vt:lpstr>
      <vt:lpstr>Office Theme</vt:lpstr>
      <vt:lpstr>PowerPoint Presentation</vt:lpstr>
      <vt:lpstr>PowerPoint Presentation</vt:lpstr>
      <vt:lpstr>PowerPoint Presentation</vt:lpstr>
      <vt:lpstr>Initial Offset Calibration</vt:lpstr>
      <vt:lpstr>Initial Calibration Development</vt:lpstr>
      <vt:lpstr>SDR Synchronisation</vt:lpstr>
      <vt:lpstr>SDR Synchronisation</vt:lpstr>
      <vt:lpstr>Improving Calibration Reliability</vt:lpstr>
      <vt:lpstr>RF Switch Board Integration</vt:lpstr>
      <vt:lpstr>RF Switch Board Integration &amp; Validation</vt:lpstr>
      <vt:lpstr>Residual Phase Offset Investigation</vt:lpstr>
      <vt:lpstr>Angle of Arrival</vt:lpstr>
      <vt:lpstr>Angle-of-Arrival Estimation and Validation</vt:lpstr>
      <vt:lpstr>Full Pipeline Integration</vt:lpstr>
      <vt:lpstr>Complete Pipeline Integration and Validation</vt:lpstr>
      <vt:lpstr>Conclusion and Project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Chanelle Duffy</dc:creator>
  <cp:lastModifiedBy>Chanelle Duffy</cp:lastModifiedBy>
  <cp:revision>2</cp:revision>
  <dcterms:created xsi:type="dcterms:W3CDTF">2026-10-21T07:59:39Z</dcterms:created>
  <dcterms:modified xsi:type="dcterms:W3CDTF">2026-10-29T10:20:05Z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0x010100E9242F7B04E24F4794CD1ABA0B2E035E</vt:lpwstr>
  </property>
</Properties>
</file>